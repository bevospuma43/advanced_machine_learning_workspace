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1" r:id="rId8"/>
    <p:sldId id="259" r:id="rId9"/>
    <p:sldId id="263" r:id="rId10"/>
    <p:sldId id="262" r:id="rId11"/>
    <p:sldId id="264" r:id="rId12"/>
    <p:sldId id="268" r:id="rId13"/>
    <p:sldId id="265" r:id="rId14"/>
    <p:sldId id="269" r:id="rId15"/>
    <p:sldId id="266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9" r:id="rId24"/>
    <p:sldId id="272" r:id="rId25"/>
    <p:sldId id="281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21AAEE8-0456-472E-8BE6-DDBE8C476E12}">
          <p14:sldIdLst>
            <p14:sldId id="256"/>
            <p14:sldId id="257"/>
            <p14:sldId id="258"/>
            <p14:sldId id="261"/>
            <p14:sldId id="259"/>
            <p14:sldId id="263"/>
            <p14:sldId id="262"/>
          </p14:sldIdLst>
        </p14:section>
        <p14:section name="SVM" id="{9D8F4400-50E2-4837-909A-81B76CD298B4}">
          <p14:sldIdLst>
            <p14:sldId id="264"/>
            <p14:sldId id="268"/>
          </p14:sldIdLst>
        </p14:section>
        <p14:section name="XGBoost" id="{DF6517D9-E9A7-4161-8207-998C240FFD7E}">
          <p14:sldIdLst>
            <p14:sldId id="265"/>
            <p14:sldId id="269"/>
          </p14:sldIdLst>
        </p14:section>
        <p14:section name="MLP" id="{A37B08CD-E3C8-4FB8-855C-6859C7CF3426}">
          <p14:sldIdLst>
            <p14:sldId id="266"/>
            <p14:sldId id="270"/>
          </p14:sldIdLst>
        </p14:section>
        <p14:section name="CNN Spatial Head" id="{1A45718F-FD4F-4BAF-9339-C131E05533F9}">
          <p14:sldIdLst>
            <p14:sldId id="271"/>
            <p14:sldId id="273"/>
            <p14:sldId id="274"/>
            <p14:sldId id="275"/>
            <p14:sldId id="276"/>
            <p14:sldId id="277"/>
            <p14:sldId id="279"/>
            <p14:sldId id="272"/>
            <p14:sldId id="281"/>
          </p14:sldIdLst>
        </p14:section>
        <p14:section name="ConvNeXt" id="{476A3404-0BF9-46E8-BD3B-D4339C79DA8C}">
          <p14:sldIdLst>
            <p14:sldId id="280"/>
            <p14:sldId id="282"/>
            <p14:sldId id="283"/>
            <p14:sldId id="284"/>
          </p14:sldIdLst>
        </p14:section>
        <p14:section name="Ensemble" id="{A69FB400-DC80-42D8-9A58-241831F5291D}">
          <p14:sldIdLst>
            <p14:sldId id="285"/>
          </p14:sldIdLst>
        </p14:section>
        <p14:section name="Ensemble vs ConvNeXt" id="{D8DEDA24-EC8A-4D56-BF8E-DCF4088C2A32}">
          <p14:sldIdLst>
            <p14:sldId id="286"/>
            <p14:sldId id="287"/>
          </p14:sldIdLst>
        </p14:section>
        <p14:section name="Backup" id="{0F66BC82-2DA3-48DD-BF10-AE4D9E486989}">
          <p14:sldIdLst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7C7C"/>
    <a:srgbClr val="FFC000"/>
    <a:srgbClr val="9DC3E6"/>
    <a:srgbClr val="ACCCE9"/>
    <a:srgbClr val="4D4D4D"/>
    <a:srgbClr val="292929"/>
    <a:srgbClr val="000000"/>
    <a:srgbClr val="FF3300"/>
    <a:srgbClr val="FF00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BA1548-CC91-C7D6-1D93-ACF928C09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25B470-42F7-4A9B-BC01-0A3567C33FE8}" type="datetimeFigureOut">
              <a:rPr lang="it-IT"/>
              <a:pPr>
                <a:defRPr/>
              </a:pPr>
              <a:t>01/10/2026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64BA10-48B9-40DF-5538-8D210475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E49477-6235-6F5A-DE55-3D49B6240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72730E-048F-406C-96E4-74442C64A16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52852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D12075-3773-CB56-EDEA-AB1D3FB2E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71F2D0-C1CB-4281-9228-49755C87122A}" type="datetimeFigureOut">
              <a:rPr lang="it-IT"/>
              <a:pPr>
                <a:defRPr/>
              </a:pPr>
              <a:t>01/10/2026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73875A-7966-5E4E-9DE8-60CE5643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0FEF837-7F90-ED5C-F788-1146106D2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ECC9EF-A905-4DA3-8646-2A3166ED313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76164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692A24-1EBD-5E1C-639F-C6CC42A06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0EC43-ED41-45F1-865B-9141A64B66B1}" type="datetimeFigureOut">
              <a:rPr lang="it-IT"/>
              <a:pPr>
                <a:defRPr/>
              </a:pPr>
              <a:t>01/10/2026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B629AD8-BFA7-1B11-2CD2-80299053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83C18A-01F8-BFE1-3597-273BF0B5E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07B4FD-343E-43D2-AB12-3C3927B2A0E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43799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3">
            <a:extLst>
              <a:ext uri="{FF2B5EF4-FFF2-40B4-BE49-F238E27FC236}">
                <a16:creationId xmlns:a16="http://schemas.microsoft.com/office/drawing/2014/main" id="{D2EC167B-ABF4-DA5D-B633-ED2A9EF0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9F5EBD-A3D9-4B17-A0F9-697BC2796081}" type="datetimeFigureOut">
              <a:rPr lang="it-IT"/>
              <a:pPr>
                <a:defRPr/>
              </a:pPr>
              <a:t>01/10/2026</a:t>
            </a:fld>
            <a:endParaRPr lang="it-IT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78CB5543-846A-E0CE-DEAD-27CEF03C0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C7D59C4E-A70A-FABA-006D-1166CD9D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9A1D1-3972-4E39-8328-4D808C2549A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99410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3">
            <a:extLst>
              <a:ext uri="{FF2B5EF4-FFF2-40B4-BE49-F238E27FC236}">
                <a16:creationId xmlns:a16="http://schemas.microsoft.com/office/drawing/2014/main" id="{47EC7B5C-A97F-14FA-2304-22579FF92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CAD13D-1695-4694-B801-E37F3BC8993A}" type="datetimeFigureOut">
              <a:rPr lang="it-IT"/>
              <a:pPr>
                <a:defRPr/>
              </a:pPr>
              <a:t>01/10/2026</a:t>
            </a:fld>
            <a:endParaRPr lang="it-IT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167AEB60-7EC8-1865-7366-C9AC4A923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Segnaposto numero diapositiva 5">
            <a:extLst>
              <a:ext uri="{FF2B5EF4-FFF2-40B4-BE49-F238E27FC236}">
                <a16:creationId xmlns:a16="http://schemas.microsoft.com/office/drawing/2014/main" id="{4862B484-CA90-5539-C16D-247560A5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19D22-5999-4C4A-AB60-BB353D4BDAE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121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3">
            <a:extLst>
              <a:ext uri="{FF2B5EF4-FFF2-40B4-BE49-F238E27FC236}">
                <a16:creationId xmlns:a16="http://schemas.microsoft.com/office/drawing/2014/main" id="{79523202-A519-8D1D-7C66-73F2987A9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EDC6CE-8E2D-4E79-A194-42801179937C}" type="datetimeFigureOut">
              <a:rPr lang="it-IT"/>
              <a:pPr>
                <a:defRPr/>
              </a:pPr>
              <a:t>01/10/2026</a:t>
            </a:fld>
            <a:endParaRPr lang="it-IT"/>
          </a:p>
        </p:txBody>
      </p:sp>
      <p:sp>
        <p:nvSpPr>
          <p:cNvPr id="4" name="Segnaposto piè di pagina 4">
            <a:extLst>
              <a:ext uri="{FF2B5EF4-FFF2-40B4-BE49-F238E27FC236}">
                <a16:creationId xmlns:a16="http://schemas.microsoft.com/office/drawing/2014/main" id="{23CA481F-AFC6-461B-4A15-A70E624F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5">
            <a:extLst>
              <a:ext uri="{FF2B5EF4-FFF2-40B4-BE49-F238E27FC236}">
                <a16:creationId xmlns:a16="http://schemas.microsoft.com/office/drawing/2014/main" id="{99EEAC89-2720-4AFC-76AC-09B106613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D23FD-E7D6-42B3-8CF0-ECDF996F394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01357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CE52912D-1CA2-8322-09AD-0605ACC4F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2003A-0332-42BB-B77C-D9377237C588}" type="datetimeFigureOut">
              <a:rPr lang="it-IT"/>
              <a:pPr>
                <a:defRPr/>
              </a:pPr>
              <a:t>01/10/2026</a:t>
            </a:fld>
            <a:endParaRPr lang="it-IT"/>
          </a:p>
        </p:txBody>
      </p:sp>
      <p:sp>
        <p:nvSpPr>
          <p:cNvPr id="3" name="Segnaposto piè di pagina 4">
            <a:extLst>
              <a:ext uri="{FF2B5EF4-FFF2-40B4-BE49-F238E27FC236}">
                <a16:creationId xmlns:a16="http://schemas.microsoft.com/office/drawing/2014/main" id="{D6ECFB08-B129-0854-8A54-41BC89CE6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2C60C58D-9434-FFFF-1DC9-BE771F70C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4512B-A9BF-4A6E-B212-C4DF4DF9665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46185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3">
            <a:extLst>
              <a:ext uri="{FF2B5EF4-FFF2-40B4-BE49-F238E27FC236}">
                <a16:creationId xmlns:a16="http://schemas.microsoft.com/office/drawing/2014/main" id="{2AFEA13A-B8C6-2CBD-EC29-596BEFBE4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DF8A4F-5319-4D3F-9443-5825CFCFB70D}" type="datetimeFigureOut">
              <a:rPr lang="it-IT"/>
              <a:pPr>
                <a:defRPr/>
              </a:pPr>
              <a:t>01/10/2026</a:t>
            </a:fld>
            <a:endParaRPr lang="it-IT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86C0B5B7-CEF8-6A1A-F118-04B23BCB5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3E009AAC-DCA5-BF85-389B-84985356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40D76-A349-4BB0-A083-A404F0C6B03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29067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3">
            <a:extLst>
              <a:ext uri="{FF2B5EF4-FFF2-40B4-BE49-F238E27FC236}">
                <a16:creationId xmlns:a16="http://schemas.microsoft.com/office/drawing/2014/main" id="{47F3B21E-6B12-171F-1E34-728A82CC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2A53B-9DA8-4BC6-8A11-E2F0625A4E03}" type="datetimeFigureOut">
              <a:rPr lang="it-IT"/>
              <a:pPr>
                <a:defRPr/>
              </a:pPr>
              <a:t>01/10/2026</a:t>
            </a:fld>
            <a:endParaRPr lang="it-IT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CEB463D6-7C67-8E78-D1BC-860E6E43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8BC1FF88-63B7-5953-75F1-FD43E8402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19609-7BEC-4426-8E9B-3957556C9D0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81984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54C6FD9-7C5B-E0BB-83F1-9426C48E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DD1A0B-C2EB-40B9-8910-DA33E50DA23D}" type="datetimeFigureOut">
              <a:rPr lang="it-IT"/>
              <a:pPr>
                <a:defRPr/>
              </a:pPr>
              <a:t>01/10/2026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BA7AAD0-BA8E-B5D3-5E7E-604B8433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A91EC5-2C06-F42D-584E-BAED7458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6A32E-B481-4D55-AC0F-0AE31B3B30C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136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B609C1-0745-1F82-A64A-283B6C9B6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EBD8E4-9B4D-47A2-8EE2-77E8A483F3B1}" type="datetimeFigureOut">
              <a:rPr lang="it-IT"/>
              <a:pPr>
                <a:defRPr/>
              </a:pPr>
              <a:t>01/10/2026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62E74-7078-CCD8-D258-C6E30CDC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9DA4F8-E10A-7994-B217-9B123ABA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04DE5-0B1B-4512-B1CB-027C0310BFC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6239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egnaposto titolo 1">
            <a:extLst>
              <a:ext uri="{FF2B5EF4-FFF2-40B4-BE49-F238E27FC236}">
                <a16:creationId xmlns:a16="http://schemas.microsoft.com/office/drawing/2014/main" id="{814A9293-4573-F966-BA13-8B2D1609A24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</a:t>
            </a:r>
          </a:p>
        </p:txBody>
      </p:sp>
      <p:sp>
        <p:nvSpPr>
          <p:cNvPr id="1027" name="Segnaposto testo 2">
            <a:extLst>
              <a:ext uri="{FF2B5EF4-FFF2-40B4-BE49-F238E27FC236}">
                <a16:creationId xmlns:a16="http://schemas.microsoft.com/office/drawing/2014/main" id="{778CA9D0-10A3-4561-6838-FC73193076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A27F04D-17DD-7069-A06F-D6F80A42F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AFE9B4C-DB46-4158-A4DA-AE03306D7EC9}" type="datetimeFigureOut">
              <a:rPr lang="it-IT"/>
              <a:pPr>
                <a:defRPr/>
              </a:pPr>
              <a:t>01/10/2026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41CD81F-CC56-AD15-CE4E-BA3A5C8CE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097308-E3C5-AE1F-5F54-4E4DA0C3B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7489E87-C07B-4278-A4E9-C045322F383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magine 1">
            <a:extLst>
              <a:ext uri="{FF2B5EF4-FFF2-40B4-BE49-F238E27FC236}">
                <a16:creationId xmlns:a16="http://schemas.microsoft.com/office/drawing/2014/main" id="{DF2A8690-EA80-F777-08D3-28DE88920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05025"/>
            <a:ext cx="12192000" cy="474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Immagine 4">
            <a:extLst>
              <a:ext uri="{FF2B5EF4-FFF2-40B4-BE49-F238E27FC236}">
                <a16:creationId xmlns:a16="http://schemas.microsoft.com/office/drawing/2014/main" id="{17201DE2-5C86-5DD2-F1B4-77BDBF723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63" y="676275"/>
            <a:ext cx="1870075" cy="192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DE92726E-7442-B32C-CE91-1ECD8B12435F}"/>
              </a:ext>
            </a:extLst>
          </p:cNvPr>
          <p:cNvCxnSpPr/>
          <p:nvPr/>
        </p:nvCxnSpPr>
        <p:spPr>
          <a:xfrm>
            <a:off x="2663825" y="479425"/>
            <a:ext cx="4763" cy="23749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CasellaDiTesto 11">
            <a:extLst>
              <a:ext uri="{FF2B5EF4-FFF2-40B4-BE49-F238E27FC236}">
                <a16:creationId xmlns:a16="http://schemas.microsoft.com/office/drawing/2014/main" id="{480F42D9-388B-855F-F023-FF3B6F945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0" y="773113"/>
            <a:ext cx="708183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it-IT" altLang="it-IT" sz="4800" dirty="0"/>
              <a:t>Advanced Machine Learning project</a:t>
            </a:r>
          </a:p>
        </p:txBody>
      </p:sp>
      <p:sp>
        <p:nvSpPr>
          <p:cNvPr id="2054" name="CasellaDiTesto 12">
            <a:extLst>
              <a:ext uri="{FF2B5EF4-FFF2-40B4-BE49-F238E27FC236}">
                <a16:creationId xmlns:a16="http://schemas.microsoft.com/office/drawing/2014/main" id="{264D97E3-FF82-CAB1-45C5-414059037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449" y="2790825"/>
            <a:ext cx="642619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it-IT" sz="2400" b="1" dirty="0">
                <a:solidFill>
                  <a:srgbClr val="990000"/>
                </a:solidFill>
                <a:latin typeface="Optima" pitchFamily="34" charset="0"/>
              </a:rPr>
              <a:t>Real vs Synthetic image classification from Stable Diffusion feature maps</a:t>
            </a:r>
            <a:endParaRPr lang="it-IT" altLang="it-IT" sz="1800" dirty="0"/>
          </a:p>
        </p:txBody>
      </p:sp>
      <p:sp>
        <p:nvSpPr>
          <p:cNvPr id="2055" name="CasellaDiTesto 13">
            <a:extLst>
              <a:ext uri="{FF2B5EF4-FFF2-40B4-BE49-F238E27FC236}">
                <a16:creationId xmlns:a16="http://schemas.microsoft.com/office/drawing/2014/main" id="{3EAF669C-D379-C33E-5404-88D601D18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449" y="3750428"/>
            <a:ext cx="8097838" cy="319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rgbClr val="800000"/>
              </a:buClr>
              <a:buSzPct val="80000"/>
              <a:buNone/>
            </a:pPr>
            <a:r>
              <a:rPr lang="en-GB" altLang="it-IT" sz="1800" dirty="0">
                <a:latin typeface="Optima" pitchFamily="34" charset="0"/>
              </a:rPr>
              <a:t>A comparison of tabular,  spatial and ensemble learning approaches</a:t>
            </a:r>
            <a:endParaRPr lang="it-IT" altLang="it-IT" sz="2000" dirty="0"/>
          </a:p>
        </p:txBody>
      </p:sp>
      <p:sp>
        <p:nvSpPr>
          <p:cNvPr id="3" name="CasellaDiTesto 13">
            <a:extLst>
              <a:ext uri="{FF2B5EF4-FFF2-40B4-BE49-F238E27FC236}">
                <a16:creationId xmlns:a16="http://schemas.microsoft.com/office/drawing/2014/main" id="{8174B18D-6C5B-F9E4-4CCF-3584FCA86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0" y="4317821"/>
            <a:ext cx="8097838" cy="319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>
                <a:srgbClr val="800000"/>
              </a:buClr>
              <a:buSzPct val="80000"/>
              <a:buNone/>
            </a:pPr>
            <a:r>
              <a:rPr lang="en-GB" altLang="it-IT" sz="1800" dirty="0">
                <a:latin typeface="Optima" pitchFamily="34" charset="0"/>
              </a:rPr>
              <a:t>Burroni Leonardo</a:t>
            </a:r>
            <a:endParaRPr lang="it-IT" altLang="it-IT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60156DC7-5213-8FF6-BCF2-2EB8E10E5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Project Goal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09DEB735-02E6-FCE7-2C9D-59359772C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24307"/>
          </a:xfrm>
        </p:spPr>
        <p:txBody>
          <a:bodyPr/>
          <a:lstStyle/>
          <a:p>
            <a:pPr marL="0" indent="0" algn="just">
              <a:buNone/>
            </a:pPr>
            <a:r>
              <a:rPr lang="it-IT" dirty="0" err="1"/>
              <a:t>This</a:t>
            </a:r>
            <a:r>
              <a:rPr lang="it-IT" dirty="0"/>
              <a:t> project </a:t>
            </a:r>
            <a:r>
              <a:rPr lang="it-IT" dirty="0" err="1"/>
              <a:t>investigates</a:t>
            </a:r>
            <a:r>
              <a:rPr lang="it-IT" dirty="0"/>
              <a:t> </a:t>
            </a:r>
            <a:r>
              <a:rPr lang="it-IT" dirty="0" err="1"/>
              <a:t>binary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 of </a:t>
            </a:r>
            <a:r>
              <a:rPr lang="it-IT" b="1" dirty="0" err="1"/>
              <a:t>precomputed</a:t>
            </a:r>
            <a:r>
              <a:rPr lang="it-IT" b="1" dirty="0"/>
              <a:t> </a:t>
            </a:r>
            <a:r>
              <a:rPr lang="it-IT" b="1" dirty="0" err="1"/>
              <a:t>spatial</a:t>
            </a:r>
            <a:r>
              <a:rPr lang="it-IT" b="1" dirty="0"/>
              <a:t> feature </a:t>
            </a:r>
            <a:r>
              <a:rPr lang="it-IT" b="1" dirty="0" err="1"/>
              <a:t>maps</a:t>
            </a:r>
            <a:r>
              <a:rPr lang="it-IT" dirty="0"/>
              <a:t> </a:t>
            </a:r>
            <a:r>
              <a:rPr lang="it-IT" dirty="0" err="1"/>
              <a:t>extracted</a:t>
            </a:r>
            <a:r>
              <a:rPr lang="it-IT" dirty="0"/>
              <a:t> from </a:t>
            </a:r>
            <a:r>
              <a:rPr lang="it-IT" dirty="0" err="1"/>
              <a:t>real</a:t>
            </a:r>
            <a:r>
              <a:rPr lang="it-IT" dirty="0"/>
              <a:t> and AI-</a:t>
            </a:r>
            <a:r>
              <a:rPr lang="it-IT" dirty="0" err="1"/>
              <a:t>generated</a:t>
            </a:r>
            <a:r>
              <a:rPr lang="it-IT" dirty="0"/>
              <a:t> images. 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The task </a:t>
            </a:r>
            <a:r>
              <a:rPr lang="it-IT" dirty="0" err="1"/>
              <a:t>is</a:t>
            </a:r>
            <a:r>
              <a:rPr lang="it-IT" dirty="0"/>
              <a:t> to </a:t>
            </a:r>
            <a:r>
              <a:rPr lang="it-IT" dirty="0" err="1"/>
              <a:t>distinguish</a:t>
            </a:r>
            <a:r>
              <a:rPr lang="it-IT" dirty="0"/>
              <a:t> </a:t>
            </a:r>
            <a:r>
              <a:rPr lang="it-IT" b="1" dirty="0" err="1"/>
              <a:t>real</a:t>
            </a:r>
            <a:r>
              <a:rPr lang="it-IT" dirty="0"/>
              <a:t> </a:t>
            </a:r>
            <a:r>
              <a:rPr lang="it-IT" dirty="0" err="1"/>
              <a:t>examples</a:t>
            </a:r>
            <a:r>
              <a:rPr lang="it-IT" dirty="0"/>
              <a:t> from </a:t>
            </a:r>
            <a:r>
              <a:rPr lang="it-IT" b="1" dirty="0" err="1"/>
              <a:t>synthetic</a:t>
            </a:r>
            <a:r>
              <a:rPr lang="it-IT" dirty="0"/>
              <a:t> </a:t>
            </a:r>
            <a:r>
              <a:rPr lang="it-IT" dirty="0" err="1"/>
              <a:t>examples</a:t>
            </a:r>
            <a:r>
              <a:rPr lang="it-IT" dirty="0"/>
              <a:t> </a:t>
            </a:r>
            <a:r>
              <a:rPr lang="it-IT" dirty="0" err="1"/>
              <a:t>while</a:t>
            </a:r>
            <a:r>
              <a:rPr lang="it-IT" dirty="0"/>
              <a:t> keeping data </a:t>
            </a:r>
            <a:r>
              <a:rPr lang="it-IT" dirty="0" err="1"/>
              <a:t>handling</a:t>
            </a:r>
            <a:r>
              <a:rPr lang="it-IT" dirty="0"/>
              <a:t>, model </a:t>
            </a:r>
            <a:r>
              <a:rPr lang="it-IT" dirty="0" err="1"/>
              <a:t>selection</a:t>
            </a:r>
            <a:r>
              <a:rPr lang="it-IT" dirty="0"/>
              <a:t>, and </a:t>
            </a:r>
            <a:r>
              <a:rPr lang="it-IT" dirty="0" err="1"/>
              <a:t>evaluation</a:t>
            </a:r>
            <a:r>
              <a:rPr lang="it-IT" dirty="0"/>
              <a:t> </a:t>
            </a:r>
            <a:r>
              <a:rPr lang="it-IT" dirty="0" err="1"/>
              <a:t>reproducible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5221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7D20D9-2BD5-3FA1-9A42-1FF6E244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Dataset (1)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20BF1F67-E8CC-5106-DDD2-65B5445FC5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95399"/>
              </p:ext>
            </p:extLst>
          </p:nvPr>
        </p:nvGraphicFramePr>
        <p:xfrm>
          <a:off x="838200" y="2415540"/>
          <a:ext cx="10515600" cy="20269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143776780"/>
                    </a:ext>
                  </a:extLst>
                </a:gridCol>
                <a:gridCol w="825260">
                  <a:extLst>
                    <a:ext uri="{9D8B030D-6E8A-4147-A177-3AD203B41FA5}">
                      <a16:colId xmlns:a16="http://schemas.microsoft.com/office/drawing/2014/main" val="3658456672"/>
                    </a:ext>
                  </a:extLst>
                </a:gridCol>
                <a:gridCol w="1570008">
                  <a:extLst>
                    <a:ext uri="{9D8B030D-6E8A-4147-A177-3AD203B41FA5}">
                      <a16:colId xmlns:a16="http://schemas.microsoft.com/office/drawing/2014/main" val="2177240000"/>
                    </a:ext>
                  </a:extLst>
                </a:gridCol>
                <a:gridCol w="1293962">
                  <a:extLst>
                    <a:ext uri="{9D8B030D-6E8A-4147-A177-3AD203B41FA5}">
                      <a16:colId xmlns:a16="http://schemas.microsoft.com/office/drawing/2014/main" val="2602731921"/>
                    </a:ext>
                  </a:extLst>
                </a:gridCol>
                <a:gridCol w="2820838">
                  <a:extLst>
                    <a:ext uri="{9D8B030D-6E8A-4147-A177-3AD203B41FA5}">
                      <a16:colId xmlns:a16="http://schemas.microsoft.com/office/drawing/2014/main" val="2686294604"/>
                    </a:ext>
                  </a:extLst>
                </a:gridCol>
                <a:gridCol w="2252932">
                  <a:extLst>
                    <a:ext uri="{9D8B030D-6E8A-4147-A177-3AD203B41FA5}">
                      <a16:colId xmlns:a16="http://schemas.microsoft.com/office/drawing/2014/main" val="21957812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Source File</a:t>
                      </a:r>
                      <a:r>
                        <a:rPr lang="it-IT" baseline="30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Semantic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Tensor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shape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Origin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297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features_0.npy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1,654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(1654, 1280, 16, 16)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Pascal VOC and COCO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911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Features_1.npy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Fake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2,383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(2383, 1280, 16, 16)</a:t>
                      </a:r>
                    </a:p>
                    <a:p>
                      <a:pPr algn="ctr"/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DALL-E 3, Stable </a:t>
                      </a:r>
                      <a:r>
                        <a:rPr lang="it-IT" dirty="0" err="1"/>
                        <a:t>Diffusion</a:t>
                      </a:r>
                      <a:r>
                        <a:rPr lang="it-IT" dirty="0"/>
                        <a:t> 1.4 and </a:t>
                      </a:r>
                      <a:r>
                        <a:rPr lang="it-IT" dirty="0" err="1"/>
                        <a:t>Midjourney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2255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b="1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4037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Per sample: (1280, 16, 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614911"/>
                  </a:ext>
                </a:extLst>
              </a:tr>
            </a:tbl>
          </a:graphicData>
        </a:graphic>
      </p:graphicFrame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C37C27FE-0728-F89A-D132-DFDC60748590}"/>
              </a:ext>
            </a:extLst>
          </p:cNvPr>
          <p:cNvSpPr txBox="1">
            <a:spLocks/>
          </p:cNvSpPr>
          <p:nvPr/>
        </p:nvSpPr>
        <p:spPr bwMode="auto">
          <a:xfrm>
            <a:off x="838200" y="6078805"/>
            <a:ext cx="10515600" cy="310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t-IT" sz="1200" baseline="30000" dirty="0"/>
              <a:t>1</a:t>
            </a:r>
            <a:r>
              <a:rPr lang="it-IT" sz="1200" dirty="0"/>
              <a:t>Dataset from Bonechi, Andreini, and </a:t>
            </a:r>
            <a:r>
              <a:rPr lang="it-IT" sz="1200" dirty="0" err="1"/>
              <a:t>Toniella</a:t>
            </a:r>
            <a:r>
              <a:rPr lang="it-IT" sz="1200" dirty="0"/>
              <a:t> Corradini, “</a:t>
            </a:r>
            <a:r>
              <a:rPr lang="it-IT" sz="1200" dirty="0" err="1"/>
              <a:t>Comparing</a:t>
            </a:r>
            <a:r>
              <a:rPr lang="it-IT" sz="1200" dirty="0"/>
              <a:t> Real and </a:t>
            </a:r>
            <a:r>
              <a:rPr lang="it-IT" sz="1200" dirty="0" err="1"/>
              <a:t>Synthetic</a:t>
            </a:r>
            <a:r>
              <a:rPr lang="it-IT" sz="1200" dirty="0"/>
              <a:t> Image </a:t>
            </a:r>
            <a:r>
              <a:rPr lang="it-IT" sz="1200" dirty="0" err="1"/>
              <a:t>Representations</a:t>
            </a:r>
            <a:r>
              <a:rPr lang="it-IT" sz="1200" dirty="0"/>
              <a:t> in Stable </a:t>
            </a:r>
            <a:r>
              <a:rPr lang="it-IT" sz="1200" dirty="0" err="1"/>
              <a:t>Diffusion</a:t>
            </a:r>
            <a:r>
              <a:rPr lang="it-IT" sz="1200" dirty="0"/>
              <a:t> Models.”</a:t>
            </a:r>
          </a:p>
        </p:txBody>
      </p:sp>
    </p:spTree>
    <p:extLst>
      <p:ext uri="{BB962C8B-B14F-4D97-AF65-F5344CB8AC3E}">
        <p14:creationId xmlns:p14="http://schemas.microsoft.com/office/powerpoint/2010/main" val="2610722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9243CD-3EDB-1394-947A-F394EE6A8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Dataset (2)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7D6939-7C2E-F90A-1059-A81E2977A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3337"/>
            <a:ext cx="6923315" cy="1054593"/>
          </a:xfrm>
        </p:spPr>
        <p:txBody>
          <a:bodyPr/>
          <a:lstStyle/>
          <a:p>
            <a:pPr marL="0" indent="0">
              <a:buNone/>
            </a:pPr>
            <a:r>
              <a:rPr lang="it-IT" sz="2000" b="1" dirty="0" err="1"/>
              <a:t>Stratified</a:t>
            </a:r>
            <a:r>
              <a:rPr lang="it-IT" sz="2000" b="1" dirty="0"/>
              <a:t> split</a:t>
            </a:r>
            <a:r>
              <a:rPr lang="it-IT" sz="2000" dirty="0"/>
              <a:t>: the </a:t>
            </a:r>
            <a:r>
              <a:rPr lang="it-IT" sz="2000" dirty="0" err="1"/>
              <a:t>splits</a:t>
            </a:r>
            <a:r>
              <a:rPr lang="it-IT" sz="2000" dirty="0"/>
              <a:t> </a:t>
            </a:r>
            <a:r>
              <a:rPr lang="it-IT" sz="2000" dirty="0" err="1"/>
              <a:t>were</a:t>
            </a:r>
            <a:r>
              <a:rPr lang="it-IT" sz="2000" dirty="0"/>
              <a:t> made by keeping the </a:t>
            </a:r>
            <a:r>
              <a:rPr lang="it-IT" sz="2000" dirty="0" err="1"/>
              <a:t>imbalance</a:t>
            </a:r>
            <a:r>
              <a:rPr lang="it-IT" sz="2000" dirty="0"/>
              <a:t> ratio of the dataset.</a:t>
            </a:r>
          </a:p>
          <a:p>
            <a:pPr marL="0" indent="0">
              <a:buNone/>
            </a:pPr>
            <a:r>
              <a:rPr lang="it-IT" sz="2000" b="1" dirty="0" err="1"/>
              <a:t>Balanced</a:t>
            </a:r>
            <a:r>
              <a:rPr lang="it-IT" sz="2000" b="1" dirty="0"/>
              <a:t> </a:t>
            </a:r>
            <a:r>
              <a:rPr lang="it-IT" sz="2000" b="1" dirty="0" err="1"/>
              <a:t>Accuracy</a:t>
            </a:r>
            <a:r>
              <a:rPr lang="it-IT" sz="2000" b="1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used</a:t>
            </a:r>
            <a:r>
              <a:rPr lang="it-IT" sz="2000" dirty="0"/>
              <a:t> </a:t>
            </a:r>
            <a:r>
              <a:rPr lang="it-IT" sz="2000" dirty="0" err="1"/>
              <a:t>as</a:t>
            </a:r>
            <a:r>
              <a:rPr lang="it-IT" sz="2000" dirty="0"/>
              <a:t> the </a:t>
            </a:r>
            <a:r>
              <a:rPr lang="it-IT" sz="2000" dirty="0" err="1"/>
              <a:t>main</a:t>
            </a:r>
            <a:r>
              <a:rPr lang="it-IT" sz="2000" dirty="0"/>
              <a:t> </a:t>
            </a:r>
            <a:r>
              <a:rPr lang="it-IT" sz="2000" dirty="0" err="1"/>
              <a:t>evaluation</a:t>
            </a:r>
            <a:r>
              <a:rPr lang="it-IT" sz="2000" dirty="0"/>
              <a:t> </a:t>
            </a:r>
            <a:r>
              <a:rPr lang="it-IT" sz="2000" dirty="0" err="1"/>
              <a:t>metric</a:t>
            </a:r>
            <a:r>
              <a:rPr lang="it-IT" sz="2000" dirty="0"/>
              <a:t>.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E7EE458A-91D1-E7AD-EFE5-203CEA5C2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203159"/>
              </p:ext>
            </p:extLst>
          </p:nvPr>
        </p:nvGraphicFramePr>
        <p:xfrm>
          <a:off x="838199" y="1690688"/>
          <a:ext cx="6923316" cy="7416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307772">
                  <a:extLst>
                    <a:ext uri="{9D8B030D-6E8A-4147-A177-3AD203B41FA5}">
                      <a16:colId xmlns:a16="http://schemas.microsoft.com/office/drawing/2014/main" val="3086044868"/>
                    </a:ext>
                  </a:extLst>
                </a:gridCol>
                <a:gridCol w="2307772">
                  <a:extLst>
                    <a:ext uri="{9D8B030D-6E8A-4147-A177-3AD203B41FA5}">
                      <a16:colId xmlns:a16="http://schemas.microsoft.com/office/drawing/2014/main" val="3452043619"/>
                    </a:ext>
                  </a:extLst>
                </a:gridCol>
                <a:gridCol w="2307772">
                  <a:extLst>
                    <a:ext uri="{9D8B030D-6E8A-4147-A177-3AD203B41FA5}">
                      <a16:colId xmlns:a16="http://schemas.microsoft.com/office/drawing/2014/main" val="1242307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Train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Validation</a:t>
                      </a:r>
                      <a:r>
                        <a:rPr lang="it-IT" dirty="0"/>
                        <a:t>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Test split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587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2,825 samples (70 %)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606 samples (15 %)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606 samples (15 %)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005418"/>
                  </a:ext>
                </a:extLst>
              </a:tr>
            </a:tbl>
          </a:graphicData>
        </a:graphic>
      </p:graphicFrame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E53BC14-0707-2104-C9C1-779C50A7E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78911" y="956851"/>
            <a:ext cx="3562023" cy="2009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BF7E317-D4FC-2F67-433D-C83E8B59B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534" y="3757930"/>
            <a:ext cx="3276776" cy="2720919"/>
          </a:xfrm>
          <a:prstGeom prst="rect">
            <a:avLst/>
          </a:prstGeom>
        </p:spPr>
      </p:pic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4BFB33DB-77C8-33F6-4317-122A85B372C3}"/>
              </a:ext>
            </a:extLst>
          </p:cNvPr>
          <p:cNvSpPr txBox="1">
            <a:spLocks/>
          </p:cNvSpPr>
          <p:nvPr/>
        </p:nvSpPr>
        <p:spPr bwMode="auto">
          <a:xfrm>
            <a:off x="838199" y="4285225"/>
            <a:ext cx="6923315" cy="2270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000" dirty="0"/>
              <a:t>An </a:t>
            </a:r>
            <a:r>
              <a:rPr lang="it-IT" sz="2000" dirty="0" err="1"/>
              <a:t>almost</a:t>
            </a:r>
            <a:r>
              <a:rPr lang="it-IT" sz="2000" dirty="0"/>
              <a:t> clear </a:t>
            </a:r>
            <a:r>
              <a:rPr lang="it-IT" sz="2000" b="1" dirty="0" err="1"/>
              <a:t>separation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visible</a:t>
            </a:r>
            <a:r>
              <a:rPr lang="it-IT" sz="2000" dirty="0"/>
              <a:t> by </a:t>
            </a:r>
            <a:r>
              <a:rPr lang="it-IT" sz="2000" dirty="0" err="1"/>
              <a:t>plotting</a:t>
            </a:r>
            <a:r>
              <a:rPr lang="it-IT" sz="2000" dirty="0"/>
              <a:t> a PCA </a:t>
            </a:r>
            <a:r>
              <a:rPr lang="it-IT" sz="2000" dirty="0" err="1"/>
              <a:t>representation</a:t>
            </a:r>
            <a:r>
              <a:rPr lang="it-IT" sz="2000" dirty="0"/>
              <a:t> of the </a:t>
            </a:r>
            <a:r>
              <a:rPr lang="it-IT" sz="2000" dirty="0" err="1"/>
              <a:t>train</a:t>
            </a:r>
            <a:r>
              <a:rPr lang="it-IT" sz="2000" dirty="0"/>
              <a:t> split.</a:t>
            </a:r>
          </a:p>
          <a:p>
            <a:pPr marL="0" indent="0">
              <a:buNone/>
            </a:pPr>
            <a:r>
              <a:rPr lang="it-IT" sz="2000" dirty="0"/>
              <a:t>A </a:t>
            </a:r>
            <a:r>
              <a:rPr lang="it-IT" sz="2000" dirty="0" err="1"/>
              <a:t>diagnostic</a:t>
            </a:r>
            <a:r>
              <a:rPr lang="it-IT" sz="2000" dirty="0"/>
              <a:t> </a:t>
            </a:r>
            <a:r>
              <a:rPr lang="it-IT" sz="2000" dirty="0" err="1"/>
              <a:t>logistic</a:t>
            </a:r>
            <a:r>
              <a:rPr lang="it-IT" sz="2000" dirty="0"/>
              <a:t> </a:t>
            </a:r>
            <a:r>
              <a:rPr lang="it-IT" sz="2000" dirty="0" err="1"/>
              <a:t>regression</a:t>
            </a:r>
            <a:r>
              <a:rPr lang="it-IT" sz="2000" dirty="0"/>
              <a:t> </a:t>
            </a:r>
            <a:r>
              <a:rPr lang="it-IT" sz="2000" dirty="0" err="1"/>
              <a:t>using</a:t>
            </a:r>
            <a:r>
              <a:rPr lang="it-IT" sz="2000" dirty="0"/>
              <a:t> </a:t>
            </a:r>
            <a:r>
              <a:rPr lang="it-IT" sz="2000" dirty="0" err="1"/>
              <a:t>only</a:t>
            </a:r>
            <a:r>
              <a:rPr lang="it-IT" sz="2000" dirty="0"/>
              <a:t> global </a:t>
            </a:r>
            <a:r>
              <a:rPr lang="it-IT" sz="2000" dirty="0" err="1"/>
              <a:t>mean</a:t>
            </a:r>
            <a:r>
              <a:rPr lang="it-IT" sz="2000" dirty="0"/>
              <a:t>, standard </a:t>
            </a:r>
            <a:r>
              <a:rPr lang="it-IT" sz="2000" dirty="0" err="1"/>
              <a:t>deviation</a:t>
            </a:r>
            <a:r>
              <a:rPr lang="it-IT" sz="2000" dirty="0"/>
              <a:t>, minimum, and maximum </a:t>
            </a:r>
            <a:r>
              <a:rPr lang="it-IT" sz="2000" dirty="0" err="1"/>
              <a:t>reaches</a:t>
            </a:r>
            <a:r>
              <a:rPr lang="it-IT" sz="2000" dirty="0"/>
              <a:t>:</a:t>
            </a:r>
          </a:p>
          <a:p>
            <a:r>
              <a:rPr lang="it-IT" sz="2000" dirty="0"/>
              <a:t>  - </a:t>
            </a:r>
            <a:r>
              <a:rPr lang="it-IT" sz="2000" dirty="0" err="1"/>
              <a:t>Validation</a:t>
            </a:r>
            <a:r>
              <a:rPr lang="it-IT" sz="2000" dirty="0"/>
              <a:t> </a:t>
            </a:r>
            <a:r>
              <a:rPr lang="it-IT" sz="2000" dirty="0" err="1"/>
              <a:t>balanced</a:t>
            </a:r>
            <a:r>
              <a:rPr lang="it-IT" sz="2000" dirty="0"/>
              <a:t> </a:t>
            </a:r>
            <a:r>
              <a:rPr lang="it-IT" sz="2000" dirty="0" err="1"/>
              <a:t>accuracy</a:t>
            </a:r>
            <a:r>
              <a:rPr lang="it-IT" sz="2000" dirty="0"/>
              <a:t>: </a:t>
            </a:r>
            <a:r>
              <a:rPr lang="it-IT" sz="2000" b="1" dirty="0"/>
              <a:t>0.7332</a:t>
            </a:r>
            <a:r>
              <a:rPr lang="it-IT" sz="2000" dirty="0"/>
              <a:t>.</a:t>
            </a:r>
          </a:p>
          <a:p>
            <a:r>
              <a:rPr lang="it-IT" sz="2000" dirty="0"/>
              <a:t>  - </a:t>
            </a:r>
            <a:r>
              <a:rPr lang="it-IT" sz="2000" dirty="0" err="1"/>
              <a:t>Validation</a:t>
            </a:r>
            <a:r>
              <a:rPr lang="it-IT" sz="2000" dirty="0"/>
              <a:t> ROC-AUC: </a:t>
            </a:r>
            <a:r>
              <a:rPr lang="it-IT" sz="2000" b="1" dirty="0"/>
              <a:t>0.8019</a:t>
            </a:r>
            <a:r>
              <a:rPr lang="it-IT" sz="200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it-IT" sz="2000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53BD9FD-D06C-5804-0E12-A242487B7A80}"/>
              </a:ext>
            </a:extLst>
          </p:cNvPr>
          <p:cNvCxnSpPr>
            <a:cxnSpLocks/>
          </p:cNvCxnSpPr>
          <p:nvPr/>
        </p:nvCxnSpPr>
        <p:spPr>
          <a:xfrm>
            <a:off x="923026" y="3994997"/>
            <a:ext cx="68384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102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FDFD2F-EAC6-1493-5E98-47492AB7E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Experimental</a:t>
            </a:r>
            <a:r>
              <a:rPr lang="it-IT" dirty="0"/>
              <a:t> </a:t>
            </a:r>
            <a:r>
              <a:rPr lang="it-IT" dirty="0" err="1"/>
              <a:t>protocol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B9EFD3-90C1-2B4D-FBF0-53A4F1F64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7769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it-IT" sz="2400" dirty="0"/>
              <a:t>A </a:t>
            </a:r>
            <a:r>
              <a:rPr lang="it-IT" sz="2400" b="1" dirty="0"/>
              <a:t>single </a:t>
            </a:r>
            <a:r>
              <a:rPr lang="it-IT" sz="2400" b="1" dirty="0" err="1"/>
              <a:t>stratified</a:t>
            </a:r>
            <a:r>
              <a:rPr lang="it-IT" sz="2400" b="1" dirty="0"/>
              <a:t> split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shared</a:t>
            </a:r>
            <a:r>
              <a:rPr lang="it-IT" sz="2400" dirty="0"/>
              <a:t> </a:t>
            </a:r>
            <a:r>
              <a:rPr lang="it-IT" sz="2400" dirty="0" err="1"/>
              <a:t>across</a:t>
            </a:r>
            <a:r>
              <a:rPr lang="it-IT" sz="2400" dirty="0"/>
              <a:t> notebooks: 70% training, 15% </a:t>
            </a:r>
            <a:r>
              <a:rPr lang="it-IT" sz="2400" dirty="0" err="1"/>
              <a:t>validation</a:t>
            </a:r>
            <a:r>
              <a:rPr lang="it-IT" sz="2400" dirty="0"/>
              <a:t>, and 15% test, with </a:t>
            </a:r>
            <a:r>
              <a:rPr lang="it-IT" sz="2400" dirty="0" err="1"/>
              <a:t>seed</a:t>
            </a:r>
            <a:r>
              <a:rPr lang="it-IT" sz="2400" dirty="0"/>
              <a:t> 42.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400" dirty="0"/>
              <a:t>Training data alone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used</a:t>
            </a:r>
            <a:r>
              <a:rPr lang="it-IT" sz="2400" dirty="0"/>
              <a:t> to </a:t>
            </a:r>
            <a:r>
              <a:rPr lang="it-IT" sz="2400" dirty="0" err="1"/>
              <a:t>fit</a:t>
            </a:r>
            <a:r>
              <a:rPr lang="it-IT" sz="2400" dirty="0"/>
              <a:t> </a:t>
            </a:r>
            <a:r>
              <a:rPr lang="it-IT" sz="2400" dirty="0" err="1"/>
              <a:t>learned</a:t>
            </a:r>
            <a:r>
              <a:rPr lang="it-IT" sz="2400" dirty="0"/>
              <a:t> </a:t>
            </a:r>
            <a:r>
              <a:rPr lang="it-IT" sz="2400" dirty="0" err="1"/>
              <a:t>preprocessing</a:t>
            </a:r>
            <a:r>
              <a:rPr lang="it-IT" sz="2400" dirty="0"/>
              <a:t> </a:t>
            </a:r>
            <a:r>
              <a:rPr lang="it-IT" sz="2400" dirty="0" err="1"/>
              <a:t>components</a:t>
            </a:r>
            <a:r>
              <a:rPr lang="it-IT" sz="2400" dirty="0"/>
              <a:t>, </a:t>
            </a:r>
            <a:r>
              <a:rPr lang="it-IT" sz="2400" dirty="0" err="1"/>
              <a:t>including</a:t>
            </a:r>
            <a:r>
              <a:rPr lang="it-IT" sz="2400" dirty="0"/>
              <a:t> </a:t>
            </a:r>
            <a:r>
              <a:rPr lang="it-IT" sz="2400" dirty="0" err="1"/>
              <a:t>scalers</a:t>
            </a:r>
            <a:r>
              <a:rPr lang="it-IT" sz="2400" dirty="0"/>
              <a:t> and </a:t>
            </a:r>
            <a:r>
              <a:rPr lang="it-IT" sz="2400" dirty="0" err="1"/>
              <a:t>spatial</a:t>
            </a:r>
            <a:r>
              <a:rPr lang="it-IT" sz="2400" dirty="0"/>
              <a:t> </a:t>
            </a:r>
            <a:r>
              <a:rPr lang="it-IT" sz="2400" dirty="0" err="1"/>
              <a:t>normalization</a:t>
            </a:r>
            <a:r>
              <a:rPr lang="it-IT" sz="2400" dirty="0"/>
              <a:t> </a:t>
            </a:r>
            <a:r>
              <a:rPr lang="it-IT" sz="2400" dirty="0" err="1"/>
              <a:t>statistics</a:t>
            </a:r>
            <a:r>
              <a:rPr lang="it-IT" sz="24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400" dirty="0" err="1"/>
              <a:t>Validation</a:t>
            </a:r>
            <a:r>
              <a:rPr lang="it-IT" sz="2400" dirty="0"/>
              <a:t> </a:t>
            </a:r>
            <a:r>
              <a:rPr lang="it-IT" sz="2400" b="1" dirty="0" err="1"/>
              <a:t>balanced</a:t>
            </a:r>
            <a:r>
              <a:rPr lang="it-IT" sz="2400" b="1" dirty="0"/>
              <a:t> accuracy</a:t>
            </a:r>
            <a:r>
              <a:rPr lang="it-IT" sz="2400" baseline="30000" dirty="0"/>
              <a:t>2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the </a:t>
            </a:r>
            <a:r>
              <a:rPr lang="it-IT" sz="2400" dirty="0" err="1"/>
              <a:t>primary</a:t>
            </a:r>
            <a:r>
              <a:rPr lang="it-IT" sz="2400" dirty="0"/>
              <a:t> </a:t>
            </a:r>
            <a:r>
              <a:rPr lang="it-IT" sz="2400" dirty="0" err="1"/>
              <a:t>criterion</a:t>
            </a:r>
            <a:r>
              <a:rPr lang="it-IT" sz="2400" dirty="0"/>
              <a:t> for </a:t>
            </a:r>
            <a:r>
              <a:rPr lang="it-IT" sz="2400" dirty="0" err="1"/>
              <a:t>hyperparameter</a:t>
            </a:r>
            <a:r>
              <a:rPr lang="it-IT" sz="2400" dirty="0"/>
              <a:t> </a:t>
            </a:r>
            <a:r>
              <a:rPr lang="it-IT" sz="2400" dirty="0" err="1"/>
              <a:t>selection</a:t>
            </a:r>
            <a:r>
              <a:rPr lang="it-IT" sz="2400" dirty="0"/>
              <a:t>, </a:t>
            </a:r>
            <a:r>
              <a:rPr lang="it-IT" sz="2400" dirty="0" err="1"/>
              <a:t>early</a:t>
            </a:r>
            <a:r>
              <a:rPr lang="it-IT" sz="2400" dirty="0"/>
              <a:t> </a:t>
            </a:r>
            <a:r>
              <a:rPr lang="it-IT" sz="2400" dirty="0" err="1"/>
              <a:t>stopping</a:t>
            </a:r>
            <a:r>
              <a:rPr lang="it-IT" sz="2400" dirty="0"/>
              <a:t>, ensemble-weight </a:t>
            </a:r>
            <a:r>
              <a:rPr lang="it-IT" sz="2400" dirty="0" err="1"/>
              <a:t>selection</a:t>
            </a:r>
            <a:r>
              <a:rPr lang="it-IT" sz="2400" dirty="0"/>
              <a:t>, and </a:t>
            </a:r>
            <a:r>
              <a:rPr lang="it-IT" sz="2400" dirty="0" err="1"/>
              <a:t>decision-threshold</a:t>
            </a:r>
            <a:r>
              <a:rPr lang="it-IT" sz="2400" dirty="0"/>
              <a:t> </a:t>
            </a:r>
            <a:r>
              <a:rPr lang="it-IT" sz="2400" dirty="0" err="1"/>
              <a:t>selection</a:t>
            </a:r>
            <a:r>
              <a:rPr lang="it-IT" sz="24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400" dirty="0"/>
              <a:t>The test </a:t>
            </a:r>
            <a:r>
              <a:rPr lang="it-IT" sz="2400" dirty="0" err="1"/>
              <a:t>partition</a:t>
            </a:r>
            <a:r>
              <a:rPr lang="it-IT" sz="2400" dirty="0"/>
              <a:t> </a:t>
            </a:r>
            <a:r>
              <a:rPr lang="it-IT" sz="2400" dirty="0" err="1"/>
              <a:t>remains</a:t>
            </a:r>
            <a:r>
              <a:rPr lang="it-IT" sz="2400" dirty="0"/>
              <a:t> </a:t>
            </a:r>
            <a:r>
              <a:rPr lang="it-IT" sz="2400" dirty="0" err="1"/>
              <a:t>isolated</a:t>
            </a:r>
            <a:r>
              <a:rPr lang="it-IT" sz="2400" dirty="0"/>
              <a:t> </a:t>
            </a:r>
            <a:r>
              <a:rPr lang="it-IT" sz="2400" dirty="0" err="1"/>
              <a:t>until</a:t>
            </a:r>
            <a:r>
              <a:rPr lang="it-IT" sz="2400" dirty="0"/>
              <a:t> </a:t>
            </a:r>
            <a:r>
              <a:rPr lang="it-IT" sz="2400" dirty="0" err="1"/>
              <a:t>all</a:t>
            </a:r>
            <a:r>
              <a:rPr lang="it-IT" sz="2400" dirty="0"/>
              <a:t> model </a:t>
            </a:r>
            <a:r>
              <a:rPr lang="it-IT" sz="2400" dirty="0" err="1"/>
              <a:t>choices</a:t>
            </a:r>
            <a:r>
              <a:rPr lang="it-IT" sz="2400" dirty="0"/>
              <a:t> are </a:t>
            </a:r>
            <a:r>
              <a:rPr lang="it-IT" sz="2400" dirty="0" err="1"/>
              <a:t>frozen</a:t>
            </a:r>
            <a:r>
              <a:rPr lang="it-IT" sz="2400" dirty="0"/>
              <a:t>.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4EAD5DF5-857A-4F75-8C86-D3048D388DAF}"/>
              </a:ext>
            </a:extLst>
          </p:cNvPr>
          <p:cNvSpPr txBox="1">
            <a:spLocks/>
          </p:cNvSpPr>
          <p:nvPr/>
        </p:nvSpPr>
        <p:spPr bwMode="auto">
          <a:xfrm>
            <a:off x="838200" y="5419965"/>
            <a:ext cx="10515600" cy="885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400" baseline="30000" dirty="0"/>
              <a:t>2</a:t>
            </a:r>
            <a:r>
              <a:rPr lang="it-IT" sz="2400" b="1" dirty="0"/>
              <a:t>Balanced </a:t>
            </a:r>
            <a:r>
              <a:rPr lang="it-IT" sz="2400" b="1" dirty="0" err="1"/>
              <a:t>Accuracy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choosed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the </a:t>
            </a:r>
            <a:r>
              <a:rPr lang="it-IT" sz="2400" dirty="0" err="1"/>
              <a:t>main</a:t>
            </a:r>
            <a:r>
              <a:rPr lang="it-IT" sz="2400" dirty="0"/>
              <a:t> </a:t>
            </a:r>
            <a:r>
              <a:rPr lang="it-IT" sz="2400" dirty="0" err="1"/>
              <a:t>evaluation</a:t>
            </a:r>
            <a:r>
              <a:rPr lang="it-IT" sz="2400" dirty="0"/>
              <a:t> </a:t>
            </a:r>
            <a:r>
              <a:rPr lang="it-IT" sz="2400" dirty="0" err="1"/>
              <a:t>metric</a:t>
            </a:r>
            <a:r>
              <a:rPr lang="it-IT" sz="2400" dirty="0"/>
              <a:t> to </a:t>
            </a:r>
            <a:r>
              <a:rPr lang="it-IT" sz="2400" dirty="0" err="1"/>
              <a:t>overcome</a:t>
            </a:r>
            <a:r>
              <a:rPr lang="it-IT" sz="2400" dirty="0"/>
              <a:t> the </a:t>
            </a:r>
            <a:r>
              <a:rPr lang="it-IT" sz="2400" dirty="0" err="1"/>
              <a:t>slight</a:t>
            </a:r>
            <a:r>
              <a:rPr lang="it-IT" sz="2400" dirty="0"/>
              <a:t> </a:t>
            </a:r>
            <a:r>
              <a:rPr lang="it-IT" sz="2400" dirty="0" err="1"/>
              <a:t>imbalance</a:t>
            </a:r>
            <a:r>
              <a:rPr lang="it-IT" sz="2400" dirty="0"/>
              <a:t> of the dataset.</a:t>
            </a:r>
          </a:p>
        </p:txBody>
      </p:sp>
    </p:spTree>
    <p:extLst>
      <p:ext uri="{BB962C8B-B14F-4D97-AF65-F5344CB8AC3E}">
        <p14:creationId xmlns:p14="http://schemas.microsoft.com/office/powerpoint/2010/main" val="136138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E5570B-059C-65DC-42BC-EFD57762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Considered</a:t>
            </a:r>
            <a:r>
              <a:rPr lang="it-IT" dirty="0"/>
              <a:t> Models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F1D77655-DE91-5A72-29C5-E9691A390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0283"/>
            <a:ext cx="10515600" cy="3160443"/>
          </a:xfrm>
        </p:spPr>
        <p:txBody>
          <a:bodyPr/>
          <a:lstStyle/>
          <a:p>
            <a:pPr marL="0" indent="0" algn="ctr" eaLnBrk="1" fontAlgn="t" hangingPunct="1">
              <a:buNone/>
            </a:pPr>
            <a:r>
              <a:rPr lang="it-IT" dirty="0"/>
              <a:t>SVM with RBF kernel</a:t>
            </a:r>
          </a:p>
          <a:p>
            <a:pPr marL="0" indent="0" algn="ctr" eaLnBrk="1" fontAlgn="t" hangingPunct="1">
              <a:buNone/>
            </a:pPr>
            <a:r>
              <a:rPr lang="it-IT" dirty="0" err="1"/>
              <a:t>XGBoost</a:t>
            </a:r>
            <a:endParaRPr lang="it-IT" dirty="0"/>
          </a:p>
          <a:p>
            <a:pPr marL="0" indent="0" algn="ctr" eaLnBrk="1" fontAlgn="t" hangingPunct="1">
              <a:buNone/>
            </a:pPr>
            <a:r>
              <a:rPr lang="it-IT" dirty="0"/>
              <a:t>MLP</a:t>
            </a:r>
          </a:p>
          <a:p>
            <a:pPr marL="0" indent="0" algn="ctr" eaLnBrk="1" fontAlgn="t" hangingPunct="1">
              <a:buNone/>
            </a:pPr>
            <a:r>
              <a:rPr lang="it-IT" dirty="0"/>
              <a:t>CNN </a:t>
            </a:r>
            <a:r>
              <a:rPr lang="it-IT" dirty="0" err="1"/>
              <a:t>spatial</a:t>
            </a:r>
            <a:r>
              <a:rPr lang="it-IT" dirty="0"/>
              <a:t> head</a:t>
            </a:r>
          </a:p>
          <a:p>
            <a:pPr marL="0" indent="0" algn="ctr" eaLnBrk="1" fontAlgn="t" hangingPunct="1">
              <a:buNone/>
            </a:pPr>
            <a:r>
              <a:rPr lang="it-IT" dirty="0" err="1"/>
              <a:t>ConvNeXt</a:t>
            </a:r>
            <a:endParaRPr lang="it-IT" dirty="0"/>
          </a:p>
          <a:p>
            <a:pPr marL="0" indent="0" algn="ctr" eaLnBrk="1" fontAlgn="t" hangingPunct="1">
              <a:buNone/>
            </a:pPr>
            <a:r>
              <a:rPr lang="it-IT" dirty="0"/>
              <a:t>Ensemble (SVM + </a:t>
            </a:r>
            <a:r>
              <a:rPr lang="it-IT" dirty="0" err="1"/>
              <a:t>XGBoost</a:t>
            </a:r>
            <a:r>
              <a:rPr lang="it-IT" dirty="0"/>
              <a:t> + CNN)</a:t>
            </a:r>
          </a:p>
          <a:p>
            <a:pPr marL="0" indent="0" algn="ctr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22677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2431FF-4ADE-19F3-5E7C-4A1E5E50F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803"/>
          </a:xfrm>
        </p:spPr>
        <p:txBody>
          <a:bodyPr/>
          <a:lstStyle/>
          <a:p>
            <a:r>
              <a:rPr lang="it-IT" sz="2800" dirty="0"/>
              <a:t>3 Input </a:t>
            </a:r>
            <a:r>
              <a:rPr lang="it-IT" sz="2800" dirty="0" err="1"/>
              <a:t>Representations</a:t>
            </a:r>
            <a:endParaRPr lang="it-IT" sz="28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A7532B-9DFC-55F0-C8F0-5BF28C943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913" y="3643463"/>
            <a:ext cx="10974237" cy="2811614"/>
          </a:xfrm>
        </p:spPr>
        <p:txBody>
          <a:bodyPr/>
          <a:lstStyle/>
          <a:p>
            <a:r>
              <a:rPr lang="it-IT" sz="1800" b="1" dirty="0"/>
              <a:t>GAP:</a:t>
            </a:r>
            <a:r>
              <a:rPr lang="it-IT" sz="1800" dirty="0"/>
              <a:t> For </a:t>
            </a:r>
            <a:r>
              <a:rPr lang="it-IT" sz="1800" dirty="0" err="1"/>
              <a:t>each</a:t>
            </a:r>
            <a:r>
              <a:rPr lang="it-IT" sz="1800" dirty="0"/>
              <a:t> </a:t>
            </a:r>
            <a:r>
              <a:rPr lang="it-IT" sz="1800" dirty="0" err="1"/>
              <a:t>channel</a:t>
            </a:r>
            <a:r>
              <a:rPr lang="it-IT" sz="1800" dirty="0"/>
              <a:t>, the </a:t>
            </a:r>
            <a:r>
              <a:rPr lang="it-IT" sz="1800" dirty="0" err="1"/>
              <a:t>mean</a:t>
            </a:r>
            <a:r>
              <a:rPr lang="it-IT" sz="1800" dirty="0"/>
              <a:t> of </a:t>
            </a:r>
            <a:r>
              <a:rPr lang="it-IT" sz="1800" dirty="0" err="1"/>
              <a:t>its</a:t>
            </a:r>
            <a:r>
              <a:rPr lang="it-IT" sz="1800" dirty="0"/>
              <a:t> </a:t>
            </a:r>
            <a:r>
              <a:rPr lang="it-IT" sz="1800" dirty="0" err="1"/>
              <a:t>values</a:t>
            </a:r>
            <a:r>
              <a:rPr lang="it-IT" sz="1800" dirty="0"/>
              <a:t> </a:t>
            </a:r>
            <a:r>
              <a:rPr lang="it-IT" sz="1800" dirty="0" err="1"/>
              <a:t>is</a:t>
            </a:r>
            <a:r>
              <a:rPr lang="it-IT" sz="1800" dirty="0"/>
              <a:t> </a:t>
            </a:r>
            <a:r>
              <a:rPr lang="it-IT" sz="1800" dirty="0" err="1"/>
              <a:t>computed</a:t>
            </a:r>
            <a:r>
              <a:rPr lang="it-IT" sz="1800" dirty="0"/>
              <a:t>.</a:t>
            </a:r>
            <a:br>
              <a:rPr lang="it-IT" sz="1800" dirty="0"/>
            </a:br>
            <a:r>
              <a:rPr lang="en-US" sz="1800" dirty="0"/>
              <a:t>The idea is: </a:t>
            </a:r>
            <a:r>
              <a:rPr lang="en-US" sz="1800" i="1" dirty="0"/>
              <a:t>“On average, how prevalent is the pattern detected by this channel?”</a:t>
            </a:r>
            <a:r>
              <a:rPr lang="en-US" sz="1800" dirty="0"/>
              <a:t>, without asking where it appears in the image. It is therefore a very concise overall summary.</a:t>
            </a:r>
            <a:br>
              <a:rPr lang="en-US" sz="1800" dirty="0"/>
            </a:br>
            <a:r>
              <a:rPr lang="en-US" sz="1800" dirty="0"/>
              <a:t>Best suitable for tabular models like SVMs.</a:t>
            </a:r>
          </a:p>
          <a:p>
            <a:r>
              <a:rPr lang="en-US" sz="1800" b="1" dirty="0" err="1"/>
              <a:t>Mean+std</a:t>
            </a:r>
            <a:r>
              <a:rPr lang="en-US" sz="1800" b="1" dirty="0"/>
              <a:t>:</a:t>
            </a:r>
            <a:r>
              <a:rPr lang="en-US" sz="1800" dirty="0"/>
              <a:t> Each channel is summarized by mean and std values. Still does not preserve the positions of the patterns but preserves </a:t>
            </a:r>
            <a:r>
              <a:rPr lang="en-US" sz="1800" i="1" dirty="0"/>
              <a:t>spatial variability</a:t>
            </a:r>
            <a:r>
              <a:rPr lang="en-US" sz="1800" dirty="0"/>
              <a:t>. Still tabular data but more informative than GAP. Used is </a:t>
            </a:r>
            <a:r>
              <a:rPr lang="en-US" sz="1800" dirty="0" err="1"/>
              <a:t>XGBoost</a:t>
            </a:r>
            <a:r>
              <a:rPr lang="en-US" sz="1800" dirty="0"/>
              <a:t> and MLP. </a:t>
            </a:r>
          </a:p>
          <a:p>
            <a:r>
              <a:rPr lang="en-US" sz="1800" b="1" dirty="0"/>
              <a:t>Normalized spatial map:</a:t>
            </a:r>
            <a:r>
              <a:rPr lang="en-US" sz="1800" dirty="0"/>
              <a:t> Keep the original tensor shape but each channel is normalized using mean and std of the train samples. Preserves the position of the patterns. Used to avoid high-value channels to dominate the classification.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52282B2-0C44-33A0-7BF6-55FD1E4D51BA}"/>
              </a:ext>
            </a:extLst>
          </p:cNvPr>
          <p:cNvSpPr/>
          <p:nvPr/>
        </p:nvSpPr>
        <p:spPr>
          <a:xfrm>
            <a:off x="4474234" y="1230762"/>
            <a:ext cx="3243531" cy="5779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feature </a:t>
            </a:r>
            <a:r>
              <a:rPr lang="it-IT" dirty="0" err="1"/>
              <a:t>map</a:t>
            </a:r>
            <a:r>
              <a:rPr lang="it-IT" dirty="0"/>
              <a:t>:  1280 x 16 x 16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895C610-CAA0-97CE-DE30-251F1D2EFE7C}"/>
              </a:ext>
            </a:extLst>
          </p:cNvPr>
          <p:cNvSpPr/>
          <p:nvPr/>
        </p:nvSpPr>
        <p:spPr>
          <a:xfrm>
            <a:off x="8344619" y="2441574"/>
            <a:ext cx="3243531" cy="90577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/>
              <a:t>Normalized</a:t>
            </a:r>
            <a:r>
              <a:rPr lang="it-IT" b="1" dirty="0"/>
              <a:t> </a:t>
            </a:r>
            <a:r>
              <a:rPr lang="it-IT" b="1" dirty="0" err="1"/>
              <a:t>spatial</a:t>
            </a:r>
            <a:r>
              <a:rPr lang="it-IT" b="1" dirty="0"/>
              <a:t> </a:t>
            </a:r>
            <a:r>
              <a:rPr lang="it-IT" b="1" dirty="0" err="1"/>
              <a:t>map</a:t>
            </a:r>
            <a:endParaRPr lang="it-IT" b="1" dirty="0"/>
          </a:p>
          <a:p>
            <a:pPr algn="ctr"/>
            <a:r>
              <a:rPr lang="it-IT" dirty="0"/>
              <a:t>1280 x 16 x 16</a:t>
            </a:r>
          </a:p>
          <a:p>
            <a:pPr algn="ctr"/>
            <a:r>
              <a:rPr lang="it-IT" b="1" dirty="0">
                <a:solidFill>
                  <a:schemeClr val="bg1">
                    <a:lumMod val="85000"/>
                  </a:schemeClr>
                </a:solidFill>
              </a:rPr>
              <a:t>CNN, </a:t>
            </a:r>
            <a:r>
              <a:rPr lang="it-IT" b="1" dirty="0" err="1">
                <a:solidFill>
                  <a:schemeClr val="bg1">
                    <a:lumMod val="85000"/>
                  </a:schemeClr>
                </a:solidFill>
              </a:rPr>
              <a:t>ConvNeXt</a:t>
            </a:r>
            <a:endParaRPr lang="it-IT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961DD73-7837-D5F1-9139-7909677FB852}"/>
              </a:ext>
            </a:extLst>
          </p:cNvPr>
          <p:cNvSpPr/>
          <p:nvPr/>
        </p:nvSpPr>
        <p:spPr>
          <a:xfrm>
            <a:off x="4479266" y="2441575"/>
            <a:ext cx="3243531" cy="905774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/>
              <a:t>Mean + </a:t>
            </a:r>
            <a:r>
              <a:rPr lang="it-IT" b="1" dirty="0" err="1"/>
              <a:t>std</a:t>
            </a:r>
            <a:endParaRPr lang="it-IT" b="1" dirty="0"/>
          </a:p>
          <a:p>
            <a:pPr algn="ctr"/>
            <a:r>
              <a:rPr lang="it-IT" dirty="0"/>
              <a:t>2,560 </a:t>
            </a:r>
            <a:r>
              <a:rPr lang="it-IT" dirty="0" err="1"/>
              <a:t>values</a:t>
            </a:r>
            <a:endParaRPr lang="it-IT" dirty="0"/>
          </a:p>
          <a:p>
            <a:pPr algn="ctr"/>
            <a:r>
              <a:rPr lang="it-IT" b="1" dirty="0" err="1">
                <a:solidFill>
                  <a:schemeClr val="bg1">
                    <a:lumMod val="85000"/>
                  </a:schemeClr>
                </a:solidFill>
              </a:rPr>
              <a:t>XGBoost</a:t>
            </a:r>
            <a:r>
              <a:rPr lang="it-IT" b="1" dirty="0">
                <a:solidFill>
                  <a:schemeClr val="bg1">
                    <a:lumMod val="85000"/>
                  </a:schemeClr>
                </a:solidFill>
              </a:rPr>
              <a:t>, MLP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E692C1B-4D7D-66ED-D460-7419ADC740C9}"/>
              </a:ext>
            </a:extLst>
          </p:cNvPr>
          <p:cNvSpPr/>
          <p:nvPr/>
        </p:nvSpPr>
        <p:spPr>
          <a:xfrm>
            <a:off x="613913" y="2447086"/>
            <a:ext cx="3243531" cy="905774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/>
              <a:t>GAP</a:t>
            </a:r>
            <a:r>
              <a:rPr lang="it-IT" dirty="0"/>
              <a:t> (Global </a:t>
            </a:r>
            <a:r>
              <a:rPr lang="it-IT" dirty="0" err="1"/>
              <a:t>Average</a:t>
            </a:r>
            <a:r>
              <a:rPr lang="it-IT" dirty="0"/>
              <a:t> Pooling)</a:t>
            </a:r>
          </a:p>
          <a:p>
            <a:pPr algn="ctr"/>
            <a:r>
              <a:rPr lang="it-IT" dirty="0"/>
              <a:t>1,280 </a:t>
            </a:r>
            <a:r>
              <a:rPr lang="it-IT" dirty="0" err="1"/>
              <a:t>values</a:t>
            </a:r>
            <a:br>
              <a:rPr lang="it-IT" dirty="0"/>
            </a:br>
            <a:r>
              <a:rPr lang="it-IT" b="1" dirty="0">
                <a:solidFill>
                  <a:schemeClr val="bg1">
                    <a:lumMod val="85000"/>
                  </a:schemeClr>
                </a:solidFill>
              </a:rPr>
              <a:t>SVM (RBF kernel)</a:t>
            </a:r>
          </a:p>
        </p:txBody>
      </p:sp>
      <p:cxnSp>
        <p:nvCxnSpPr>
          <p:cNvPr id="12" name="Connettore a gomito 11">
            <a:extLst>
              <a:ext uri="{FF2B5EF4-FFF2-40B4-BE49-F238E27FC236}">
                <a16:creationId xmlns:a16="http://schemas.microsoft.com/office/drawing/2014/main" id="{23E76F15-F3AE-E74C-ACF3-E0860D5AD4B8}"/>
              </a:ext>
            </a:extLst>
          </p:cNvPr>
          <p:cNvCxnSpPr>
            <a:cxnSpLocks/>
            <a:stCxn id="4" idx="1"/>
            <a:endCxn id="10" idx="0"/>
          </p:cNvCxnSpPr>
          <p:nvPr/>
        </p:nvCxnSpPr>
        <p:spPr>
          <a:xfrm rot="10800000" flipV="1">
            <a:off x="2235680" y="1519746"/>
            <a:ext cx="2238555" cy="9273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50958640-BD5E-319D-EA16-50800E61371B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096000" y="1808731"/>
            <a:ext cx="5032" cy="632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a gomito 17">
            <a:extLst>
              <a:ext uri="{FF2B5EF4-FFF2-40B4-BE49-F238E27FC236}">
                <a16:creationId xmlns:a16="http://schemas.microsoft.com/office/drawing/2014/main" id="{92EEE86D-DB89-5FF7-4AB5-BD3ABC85A1D1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>
            <a:off x="7717765" y="1519747"/>
            <a:ext cx="2248620" cy="9218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810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84C314-5BE0-0739-2C7C-355DE0E8F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4166"/>
          </a:xfrm>
        </p:spPr>
        <p:txBody>
          <a:bodyPr/>
          <a:lstStyle/>
          <a:p>
            <a:r>
              <a:rPr lang="it-IT" dirty="0"/>
              <a:t>SVM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1BC698-9000-D534-D53B-5D8033EF9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790" y="1009292"/>
            <a:ext cx="3157268" cy="228732"/>
          </a:xfrm>
        </p:spPr>
        <p:txBody>
          <a:bodyPr/>
          <a:lstStyle/>
          <a:p>
            <a:pPr marL="0" indent="0" algn="ctr">
              <a:buNone/>
            </a:pPr>
            <a:r>
              <a:rPr lang="it-IT" sz="1400" dirty="0" err="1"/>
              <a:t>GridSearch</a:t>
            </a:r>
            <a:endParaRPr lang="it-IT" sz="1400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DD4B076A-E370-B540-C70B-7F557A7FCC31}"/>
              </a:ext>
            </a:extLst>
          </p:cNvPr>
          <p:cNvSpPr/>
          <p:nvPr/>
        </p:nvSpPr>
        <p:spPr>
          <a:xfrm>
            <a:off x="838200" y="1336416"/>
            <a:ext cx="1311215" cy="7360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Splitted</a:t>
            </a:r>
            <a:r>
              <a:rPr lang="it-IT" sz="1400" dirty="0"/>
              <a:t> Dataset</a:t>
            </a:r>
          </a:p>
          <a:p>
            <a:pPr algn="ctr"/>
            <a:r>
              <a:rPr lang="it-IT" sz="1400" dirty="0" err="1"/>
              <a:t>Stratified</a:t>
            </a:r>
            <a:r>
              <a:rPr lang="it-IT" sz="1400" dirty="0"/>
              <a:t> </a:t>
            </a:r>
            <a:r>
              <a:rPr lang="it-IT" sz="1400" dirty="0" err="1"/>
              <a:t>KFold</a:t>
            </a:r>
            <a:endParaRPr lang="it-IT" sz="1400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C7F2A86-005B-4A65-E62F-4EB6865EBB7A}"/>
              </a:ext>
            </a:extLst>
          </p:cNvPr>
          <p:cNvSpPr/>
          <p:nvPr/>
        </p:nvSpPr>
        <p:spPr>
          <a:xfrm>
            <a:off x="2839530" y="1336416"/>
            <a:ext cx="1044000" cy="3105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GAP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824322C-34BC-473F-A97D-887F49BDC36B}"/>
              </a:ext>
            </a:extLst>
          </p:cNvPr>
          <p:cNvSpPr/>
          <p:nvPr/>
        </p:nvSpPr>
        <p:spPr>
          <a:xfrm>
            <a:off x="2829465" y="1764301"/>
            <a:ext cx="1043796" cy="3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Mean+std</a:t>
            </a:r>
            <a:endParaRPr lang="it-IT" sz="140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AF566951-B5FD-AD7D-3BE5-1254303365F2}"/>
              </a:ext>
            </a:extLst>
          </p:cNvPr>
          <p:cNvSpPr/>
          <p:nvPr/>
        </p:nvSpPr>
        <p:spPr>
          <a:xfrm>
            <a:off x="4644293" y="1549169"/>
            <a:ext cx="1044000" cy="3105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Train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8810C890-5A35-4845-EC82-AC6FBE0059E5}"/>
              </a:ext>
            </a:extLst>
          </p:cNvPr>
          <p:cNvSpPr/>
          <p:nvPr/>
        </p:nvSpPr>
        <p:spPr>
          <a:xfrm>
            <a:off x="6322555" y="1549168"/>
            <a:ext cx="1044000" cy="3105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Validation</a:t>
            </a:r>
            <a:endParaRPr lang="it-IT" sz="14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482A28FC-B0A1-A9FF-3B79-F2D83AFE09D8}"/>
              </a:ext>
            </a:extLst>
          </p:cNvPr>
          <p:cNvSpPr/>
          <p:nvPr/>
        </p:nvSpPr>
        <p:spPr>
          <a:xfrm>
            <a:off x="8072873" y="1452443"/>
            <a:ext cx="1188000" cy="50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Best </a:t>
            </a:r>
            <a:r>
              <a:rPr lang="it-IT" sz="1400" b="1" dirty="0"/>
              <a:t>SVM</a:t>
            </a:r>
            <a:r>
              <a:rPr lang="it-IT" sz="1400" dirty="0"/>
              <a:t> </a:t>
            </a:r>
            <a:r>
              <a:rPr lang="it-IT" sz="1400" dirty="0" err="1"/>
              <a:t>configuration</a:t>
            </a:r>
            <a:endParaRPr lang="it-IT" sz="1400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F1FBFC93-FA8E-61A6-3555-B1B189789950}"/>
              </a:ext>
            </a:extLst>
          </p:cNvPr>
          <p:cNvSpPr/>
          <p:nvPr/>
        </p:nvSpPr>
        <p:spPr>
          <a:xfrm>
            <a:off x="9749688" y="1470443"/>
            <a:ext cx="1044000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Test </a:t>
            </a:r>
            <a:r>
              <a:rPr lang="it-IT" sz="1400" dirty="0" err="1"/>
              <a:t>evaluation</a:t>
            </a:r>
            <a:endParaRPr lang="it-IT" sz="1400" dirty="0"/>
          </a:p>
        </p:txBody>
      </p: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F925284D-E2EE-967B-D1D8-1FA4D1214208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2149415" y="1491692"/>
            <a:ext cx="690115" cy="2127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a gomito 26">
            <a:extLst>
              <a:ext uri="{FF2B5EF4-FFF2-40B4-BE49-F238E27FC236}">
                <a16:creationId xmlns:a16="http://schemas.microsoft.com/office/drawing/2014/main" id="{8EFC38B7-EDEC-B9E3-3CAC-C350B9AFFB4E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2149415" y="1704447"/>
            <a:ext cx="680050" cy="21465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4EC2B73E-9F34-B422-E0D4-5E7A915AD396}"/>
              </a:ext>
            </a:extLst>
          </p:cNvPr>
          <p:cNvSpPr/>
          <p:nvPr/>
        </p:nvSpPr>
        <p:spPr>
          <a:xfrm>
            <a:off x="4426790" y="1336415"/>
            <a:ext cx="3157268" cy="7360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0" name="Connettore a gomito 29">
            <a:extLst>
              <a:ext uri="{FF2B5EF4-FFF2-40B4-BE49-F238E27FC236}">
                <a16:creationId xmlns:a16="http://schemas.microsoft.com/office/drawing/2014/main" id="{09FAD1E9-4C97-E4FB-8C6B-C28B8E5D8A45}"/>
              </a:ext>
            </a:extLst>
          </p:cNvPr>
          <p:cNvCxnSpPr>
            <a:stCxn id="8" idx="3"/>
            <a:endCxn id="28" idx="1"/>
          </p:cNvCxnSpPr>
          <p:nvPr/>
        </p:nvCxnSpPr>
        <p:spPr>
          <a:xfrm>
            <a:off x="3883530" y="1491692"/>
            <a:ext cx="543260" cy="21275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a gomito 31">
            <a:extLst>
              <a:ext uri="{FF2B5EF4-FFF2-40B4-BE49-F238E27FC236}">
                <a16:creationId xmlns:a16="http://schemas.microsoft.com/office/drawing/2014/main" id="{7BAC3746-50E4-3F5F-CC41-EE79E42E0439}"/>
              </a:ext>
            </a:extLst>
          </p:cNvPr>
          <p:cNvCxnSpPr>
            <a:stCxn id="10" idx="3"/>
            <a:endCxn id="28" idx="1"/>
          </p:cNvCxnSpPr>
          <p:nvPr/>
        </p:nvCxnSpPr>
        <p:spPr>
          <a:xfrm flipV="1">
            <a:off x="3873261" y="1704446"/>
            <a:ext cx="553529" cy="2146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6759B4C7-6F0D-12D8-8008-DDFA6D444238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5688293" y="1704444"/>
            <a:ext cx="63426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56BBB09B-D5A3-7D80-DA75-75CBE7BF836E}"/>
              </a:ext>
            </a:extLst>
          </p:cNvPr>
          <p:cNvCxnSpPr>
            <a:cxnSpLocks/>
            <a:stCxn id="28" idx="3"/>
            <a:endCxn id="16" idx="1"/>
          </p:cNvCxnSpPr>
          <p:nvPr/>
        </p:nvCxnSpPr>
        <p:spPr>
          <a:xfrm flipV="1">
            <a:off x="7584058" y="1704443"/>
            <a:ext cx="488815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7E003FEF-A1C2-B41B-4F72-B86DFF95D7B1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9260873" y="1704443"/>
            <a:ext cx="4888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Segnaposto contenuto 2">
                <a:extLst>
                  <a:ext uri="{FF2B5EF4-FFF2-40B4-BE49-F238E27FC236}">
                    <a16:creationId xmlns:a16="http://schemas.microsoft.com/office/drawing/2014/main" id="{21BA5D73-F865-D5FF-A962-96A859B6AC3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64555" y="2576704"/>
                <a:ext cx="4281579" cy="8425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it-IT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ℎ𝑖𝑛𝑔𝑒</m:t>
                          </m:r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e>
                        <m:sup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it-IT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it-IT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it-IT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it-IT" sz="18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sz="18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(0, 1 −</m:t>
                              </m:r>
                              <m:sSub>
                                <m:sSubPr>
                                  <m:ctrlPr>
                                    <a:rPr lang="it-IT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t-IT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it-IT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it-IT" sz="1800" b="0" i="1" smtClean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it-IT" sz="1800" dirty="0"/>
              </a:p>
            </p:txBody>
          </p:sp>
        </mc:Choice>
        <mc:Fallback xmlns="">
          <p:sp>
            <p:nvSpPr>
              <p:cNvPr id="39" name="Segnaposto contenuto 2">
                <a:extLst>
                  <a:ext uri="{FF2B5EF4-FFF2-40B4-BE49-F238E27FC236}">
                    <a16:creationId xmlns:a16="http://schemas.microsoft.com/office/drawing/2014/main" id="{21BA5D73-F865-D5FF-A962-96A859B6A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4555" y="2576704"/>
                <a:ext cx="4281579" cy="8425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Segnaposto contenuto 2">
            <a:extLst>
              <a:ext uri="{FF2B5EF4-FFF2-40B4-BE49-F238E27FC236}">
                <a16:creationId xmlns:a16="http://schemas.microsoft.com/office/drawing/2014/main" id="{66FB85C5-1CFE-3666-EF24-18C1B2AB968F}"/>
              </a:ext>
            </a:extLst>
          </p:cNvPr>
          <p:cNvSpPr txBox="1">
            <a:spLocks/>
          </p:cNvSpPr>
          <p:nvPr/>
        </p:nvSpPr>
        <p:spPr bwMode="auto">
          <a:xfrm>
            <a:off x="2489441" y="1014415"/>
            <a:ext cx="1656672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 err="1"/>
              <a:t>Preprocessing</a:t>
            </a:r>
            <a:endParaRPr lang="it-IT" sz="1400" dirty="0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958C19C8-531A-7D9D-A4C1-150E6EB49656}"/>
              </a:ext>
            </a:extLst>
          </p:cNvPr>
          <p:cNvSpPr/>
          <p:nvPr/>
        </p:nvSpPr>
        <p:spPr>
          <a:xfrm>
            <a:off x="6985000" y="2583809"/>
            <a:ext cx="4368800" cy="73604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Best </a:t>
            </a:r>
            <a:r>
              <a:rPr lang="it-IT" b="1" dirty="0" err="1"/>
              <a:t>Parameters</a:t>
            </a:r>
            <a:r>
              <a:rPr lang="it-IT" dirty="0"/>
              <a:t>: C = 10, gamma = scale</a:t>
            </a:r>
          </a:p>
          <a:p>
            <a:pPr algn="ctr"/>
            <a:r>
              <a:rPr lang="it-IT" dirty="0"/>
              <a:t>Best </a:t>
            </a:r>
            <a:r>
              <a:rPr lang="it-IT" b="1" dirty="0" err="1"/>
              <a:t>Preprocessing</a:t>
            </a:r>
            <a:r>
              <a:rPr lang="it-IT" dirty="0"/>
              <a:t>: GAP</a:t>
            </a:r>
          </a:p>
        </p:txBody>
      </p:sp>
      <p:graphicFrame>
        <p:nvGraphicFramePr>
          <p:cNvPr id="48" name="Tabella 47">
            <a:extLst>
              <a:ext uri="{FF2B5EF4-FFF2-40B4-BE49-F238E27FC236}">
                <a16:creationId xmlns:a16="http://schemas.microsoft.com/office/drawing/2014/main" id="{9ABFE738-48F6-F634-E74D-F9CDCB263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810364"/>
              </p:ext>
            </p:extLst>
          </p:nvPr>
        </p:nvGraphicFramePr>
        <p:xfrm>
          <a:off x="595221" y="4091086"/>
          <a:ext cx="1091097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673">
                  <a:extLst>
                    <a:ext uri="{9D8B030D-6E8A-4147-A177-3AD203B41FA5}">
                      <a16:colId xmlns:a16="http://schemas.microsoft.com/office/drawing/2014/main" val="3005499671"/>
                    </a:ext>
                  </a:extLst>
                </a:gridCol>
                <a:gridCol w="1176686">
                  <a:extLst>
                    <a:ext uri="{9D8B030D-6E8A-4147-A177-3AD203B41FA5}">
                      <a16:colId xmlns:a16="http://schemas.microsoft.com/office/drawing/2014/main" val="4251709622"/>
                    </a:ext>
                  </a:extLst>
                </a:gridCol>
                <a:gridCol w="1268753">
                  <a:extLst>
                    <a:ext uri="{9D8B030D-6E8A-4147-A177-3AD203B41FA5}">
                      <a16:colId xmlns:a16="http://schemas.microsoft.com/office/drawing/2014/main" val="566477960"/>
                    </a:ext>
                  </a:extLst>
                </a:gridCol>
                <a:gridCol w="1032934">
                  <a:extLst>
                    <a:ext uri="{9D8B030D-6E8A-4147-A177-3AD203B41FA5}">
                      <a16:colId xmlns:a16="http://schemas.microsoft.com/office/drawing/2014/main" val="426997274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195058313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292583598"/>
                    </a:ext>
                  </a:extLst>
                </a:gridCol>
                <a:gridCol w="1024466">
                  <a:extLst>
                    <a:ext uri="{9D8B030D-6E8A-4147-A177-3AD203B41FA5}">
                      <a16:colId xmlns:a16="http://schemas.microsoft.com/office/drawing/2014/main" val="2609613875"/>
                    </a:ext>
                  </a:extLst>
                </a:gridCol>
                <a:gridCol w="774606">
                  <a:extLst>
                    <a:ext uri="{9D8B030D-6E8A-4147-A177-3AD203B41FA5}">
                      <a16:colId xmlns:a16="http://schemas.microsoft.com/office/drawing/2014/main" val="1483795687"/>
                    </a:ext>
                  </a:extLst>
                </a:gridCol>
                <a:gridCol w="1102830">
                  <a:extLst>
                    <a:ext uri="{9D8B030D-6E8A-4147-A177-3AD203B41FA5}">
                      <a16:colId xmlns:a16="http://schemas.microsoft.com/office/drawing/2014/main" val="3998743104"/>
                    </a:ext>
                  </a:extLst>
                </a:gridCol>
                <a:gridCol w="1102830">
                  <a:extLst>
                    <a:ext uri="{9D8B030D-6E8A-4147-A177-3AD203B41FA5}">
                      <a16:colId xmlns:a16="http://schemas.microsoft.com/office/drawing/2014/main" val="279493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N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Accuracy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Balanced</a:t>
                      </a:r>
                      <a:r>
                        <a:rPr lang="it-IT" sz="1600" dirty="0"/>
                        <a:t> </a:t>
                      </a:r>
                      <a:r>
                        <a:rPr lang="it-IT" sz="1600" dirty="0" err="1"/>
                        <a:t>accuracy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PR-AUC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21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2825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3.39*e-05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96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Validation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75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8076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2">
                <a:extLst>
                  <a:ext uri="{FF2B5EF4-FFF2-40B4-BE49-F238E27FC236}">
                    <a16:creationId xmlns:a16="http://schemas.microsoft.com/office/drawing/2014/main" id="{17350DB4-497F-B1F6-9520-D048253B101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95221" y="5992126"/>
                <a:ext cx="10910978" cy="5007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it-IT" sz="1400" baseline="30000" dirty="0"/>
                  <a:t>3</a:t>
                </a:r>
                <a:r>
                  <a:rPr lang="it-IT" sz="1400" i="1" dirty="0"/>
                  <a:t>Hinge Loss</a:t>
                </a:r>
                <a:r>
                  <a:rPr lang="it-IT" sz="1400" dirty="0"/>
                  <a:t> </a:t>
                </a:r>
                <a:r>
                  <a:rPr lang="it-IT" sz="1400" dirty="0" err="1"/>
                  <a:t>does</a:t>
                </a:r>
                <a:r>
                  <a:rPr lang="it-IT" sz="1400" dirty="0"/>
                  <a:t> </a:t>
                </a:r>
                <a:r>
                  <a:rPr lang="it-IT" sz="1400" dirty="0" err="1"/>
                  <a:t>not</a:t>
                </a:r>
                <a:r>
                  <a:rPr lang="it-IT" sz="1400" dirty="0"/>
                  <a:t> estimate a </a:t>
                </a:r>
                <a:r>
                  <a:rPr lang="it-IT" sz="1400" dirty="0" err="1"/>
                  <a:t>probability</a:t>
                </a:r>
                <a:r>
                  <a:rPr lang="it-IT" sz="1400" dirty="0"/>
                  <a:t>, </a:t>
                </a:r>
                <a:r>
                  <a:rPr lang="it-IT" sz="1400" dirty="0" err="1"/>
                  <a:t>it’s</a:t>
                </a:r>
                <a:r>
                  <a:rPr lang="it-IT" sz="1400" dirty="0"/>
                  <a:t> goal </a:t>
                </a:r>
                <a:r>
                  <a:rPr lang="it-IT" sz="1400" dirty="0" err="1"/>
                  <a:t>is</a:t>
                </a:r>
                <a:r>
                  <a:rPr lang="it-IT" sz="1400" dirty="0"/>
                  <a:t> to separate the classes with a safe </a:t>
                </a:r>
                <a:r>
                  <a:rPr lang="it-IT" sz="1400" dirty="0" err="1"/>
                  <a:t>margin</a:t>
                </a:r>
                <a:r>
                  <a:rPr lang="it-IT" sz="1400" dirty="0"/>
                  <a:t> y</a:t>
                </a:r>
                <a:r>
                  <a:rPr lang="it-IT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it-IT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400" dirty="0"/>
                  <a:t>{+1, -1}. </a:t>
                </a:r>
                <a:r>
                  <a:rPr lang="it-IT" sz="1400" dirty="0" err="1"/>
                  <a:t>If</a:t>
                </a:r>
                <a:r>
                  <a:rPr lang="it-IT" sz="1400" dirty="0"/>
                  <a:t> an </a:t>
                </a:r>
                <a:r>
                  <a:rPr lang="it-IT" sz="1400" dirty="0" err="1"/>
                  <a:t>example</a:t>
                </a:r>
                <a:r>
                  <a:rPr lang="it-IT" sz="1400" dirty="0"/>
                  <a:t> </a:t>
                </a:r>
                <a:r>
                  <a:rPr lang="it-IT" sz="1400" dirty="0" err="1"/>
                  <a:t>is</a:t>
                </a:r>
                <a:r>
                  <a:rPr lang="it-IT" sz="1400" dirty="0"/>
                  <a:t> </a:t>
                </a:r>
                <a:r>
                  <a:rPr lang="it-IT" sz="1400" dirty="0" err="1"/>
                  <a:t>correctly</a:t>
                </a:r>
                <a:r>
                  <a:rPr lang="it-IT" sz="1400" dirty="0"/>
                  <a:t> </a:t>
                </a:r>
                <a:r>
                  <a:rPr lang="it-IT" sz="1400" dirty="0" err="1"/>
                  <a:t>classified</a:t>
                </a:r>
                <a:r>
                  <a:rPr lang="it-IT" sz="1400" dirty="0"/>
                  <a:t> </a:t>
                </a:r>
                <a:r>
                  <a:rPr lang="it-IT" sz="1400" dirty="0" err="1"/>
                  <a:t>but</a:t>
                </a:r>
                <a:r>
                  <a:rPr lang="it-IT" sz="1400" dirty="0"/>
                  <a:t> </a:t>
                </a:r>
                <a:r>
                  <a:rPr lang="it-IT" sz="1400" dirty="0" err="1"/>
                  <a:t>too</a:t>
                </a:r>
                <a:r>
                  <a:rPr lang="it-IT" sz="1400" dirty="0"/>
                  <a:t> close to the </a:t>
                </a:r>
                <a:r>
                  <a:rPr lang="it-IT" sz="1400" dirty="0" err="1"/>
                  <a:t>margin</a:t>
                </a:r>
                <a:r>
                  <a:rPr lang="it-IT" sz="1400" dirty="0"/>
                  <a:t>, </a:t>
                </a:r>
                <a:r>
                  <a:rPr lang="it-IT" sz="1400" dirty="0" err="1"/>
                  <a:t>still</a:t>
                </a:r>
                <a:r>
                  <a:rPr lang="it-IT" sz="1400" dirty="0"/>
                  <a:t> </a:t>
                </a:r>
                <a:r>
                  <a:rPr lang="it-IT" sz="1400" dirty="0" err="1"/>
                  <a:t>receives</a:t>
                </a:r>
                <a:r>
                  <a:rPr lang="it-IT" sz="1400" dirty="0"/>
                  <a:t> a penalty. The output </a:t>
                </a:r>
                <a:r>
                  <a:rPr lang="it-IT" sz="1400" dirty="0" err="1"/>
                  <a:t>is</a:t>
                </a:r>
                <a:r>
                  <a:rPr lang="it-IT" sz="1400" dirty="0"/>
                  <a:t> a score, </a:t>
                </a:r>
                <a:r>
                  <a:rPr lang="it-IT" sz="1400" dirty="0" err="1"/>
                  <a:t>not</a:t>
                </a:r>
                <a:r>
                  <a:rPr lang="it-IT" sz="1400" dirty="0"/>
                  <a:t> a </a:t>
                </a:r>
                <a:r>
                  <a:rPr lang="it-IT" sz="1400" dirty="0" err="1"/>
                  <a:t>probability</a:t>
                </a:r>
                <a:r>
                  <a:rPr lang="it-IT" sz="1400" dirty="0"/>
                  <a:t>. </a:t>
                </a:r>
              </a:p>
            </p:txBody>
          </p:sp>
        </mc:Choice>
        <mc:Fallback xmlns="">
          <p:sp>
            <p:nvSpPr>
              <p:cNvPr id="5" name="Segnaposto contenuto 2">
                <a:extLst>
                  <a:ext uri="{FF2B5EF4-FFF2-40B4-BE49-F238E27FC236}">
                    <a16:creationId xmlns:a16="http://schemas.microsoft.com/office/drawing/2014/main" id="{17350DB4-497F-B1F6-9520-D048253B1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221" y="5992126"/>
                <a:ext cx="10910978" cy="500747"/>
              </a:xfrm>
              <a:prstGeom prst="rect">
                <a:avLst/>
              </a:prstGeom>
              <a:blipFill>
                <a:blip r:embed="rId3"/>
                <a:stretch>
                  <a:fillRect l="-168" t="-6098" b="-7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7541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70D5E6-08B1-EE8E-B81B-751F05B85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4BC4109-2707-41E4-3C84-8AA17307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sz="6600" dirty="0"/>
              <a:t>SVM – Confusion Matrices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C65F939C-A747-E410-D060-874679F26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02930" y="2813180"/>
            <a:ext cx="3758184" cy="3213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F12B7549-EAA5-7861-E1BD-E784E096D1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908" y="2813181"/>
            <a:ext cx="3758184" cy="321324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F5E9D481-5FF3-7D3B-C118-56572C86DE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86" y="2813180"/>
            <a:ext cx="3758184" cy="316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593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ABECC-5F07-FD1A-B075-D2359C61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FF7FF9-F3EC-E673-E4E8-6BEEB3EE9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4166"/>
          </a:xfrm>
        </p:spPr>
        <p:txBody>
          <a:bodyPr/>
          <a:lstStyle/>
          <a:p>
            <a:r>
              <a:rPr lang="it-IT" dirty="0" err="1"/>
              <a:t>XGBoost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5A4418E-561D-244F-D17A-B0006D72F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790" y="1009292"/>
            <a:ext cx="3157268" cy="228732"/>
          </a:xfrm>
        </p:spPr>
        <p:txBody>
          <a:bodyPr/>
          <a:lstStyle/>
          <a:p>
            <a:pPr marL="0" indent="0" algn="ctr">
              <a:buNone/>
            </a:pPr>
            <a:r>
              <a:rPr lang="it-IT" sz="1400" dirty="0" err="1"/>
              <a:t>GridSearch</a:t>
            </a:r>
            <a:endParaRPr lang="it-IT" sz="1400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50E68F0-5577-D0FA-FBD8-A343DDCDBC45}"/>
              </a:ext>
            </a:extLst>
          </p:cNvPr>
          <p:cNvSpPr/>
          <p:nvPr/>
        </p:nvSpPr>
        <p:spPr>
          <a:xfrm>
            <a:off x="838200" y="1336416"/>
            <a:ext cx="1311215" cy="7360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Splitted</a:t>
            </a:r>
            <a:r>
              <a:rPr lang="it-IT" sz="1400" dirty="0"/>
              <a:t> Dataset</a:t>
            </a:r>
          </a:p>
          <a:p>
            <a:pPr algn="ctr"/>
            <a:r>
              <a:rPr lang="it-IT" sz="1400" dirty="0" err="1"/>
              <a:t>Stratified</a:t>
            </a:r>
            <a:r>
              <a:rPr lang="it-IT" sz="1400" dirty="0"/>
              <a:t> </a:t>
            </a:r>
            <a:r>
              <a:rPr lang="it-IT" sz="1400" dirty="0" err="1"/>
              <a:t>KFold</a:t>
            </a:r>
            <a:endParaRPr lang="it-IT" sz="1400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BE6FDA6-1255-A9DD-27E8-639446A06085}"/>
              </a:ext>
            </a:extLst>
          </p:cNvPr>
          <p:cNvSpPr/>
          <p:nvPr/>
        </p:nvSpPr>
        <p:spPr>
          <a:xfrm>
            <a:off x="2839530" y="1336416"/>
            <a:ext cx="1044000" cy="3105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GAP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CC0D7E4-34F0-049B-E68B-AAF28F36FA24}"/>
              </a:ext>
            </a:extLst>
          </p:cNvPr>
          <p:cNvSpPr/>
          <p:nvPr/>
        </p:nvSpPr>
        <p:spPr>
          <a:xfrm>
            <a:off x="2829465" y="1764301"/>
            <a:ext cx="1043796" cy="3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Mean+std</a:t>
            </a:r>
            <a:endParaRPr lang="it-IT" sz="140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159C95B1-8716-FD34-7670-1D1B78D92331}"/>
              </a:ext>
            </a:extLst>
          </p:cNvPr>
          <p:cNvSpPr/>
          <p:nvPr/>
        </p:nvSpPr>
        <p:spPr>
          <a:xfrm>
            <a:off x="4644293" y="1549169"/>
            <a:ext cx="1044000" cy="3105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Train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ED9BFBFB-E42E-233C-9615-09DB4788D043}"/>
              </a:ext>
            </a:extLst>
          </p:cNvPr>
          <p:cNvSpPr/>
          <p:nvPr/>
        </p:nvSpPr>
        <p:spPr>
          <a:xfrm>
            <a:off x="6322555" y="1549168"/>
            <a:ext cx="1044000" cy="3105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Validation</a:t>
            </a:r>
            <a:endParaRPr lang="it-IT" sz="14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081454CA-DE60-DE4D-7A64-BDBB84D6C120}"/>
              </a:ext>
            </a:extLst>
          </p:cNvPr>
          <p:cNvSpPr/>
          <p:nvPr/>
        </p:nvSpPr>
        <p:spPr>
          <a:xfrm>
            <a:off x="8072873" y="1452443"/>
            <a:ext cx="1188000" cy="50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Best </a:t>
            </a:r>
            <a:r>
              <a:rPr lang="it-IT" sz="1400" b="1" dirty="0" err="1"/>
              <a:t>XGBoost</a:t>
            </a:r>
            <a:r>
              <a:rPr lang="it-IT" sz="1400" dirty="0"/>
              <a:t> </a:t>
            </a:r>
            <a:r>
              <a:rPr lang="it-IT" sz="1400" dirty="0" err="1"/>
              <a:t>configuration</a:t>
            </a:r>
            <a:endParaRPr lang="it-IT" sz="1400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611FB337-38AE-2448-5918-0838AC2A643D}"/>
              </a:ext>
            </a:extLst>
          </p:cNvPr>
          <p:cNvSpPr/>
          <p:nvPr/>
        </p:nvSpPr>
        <p:spPr>
          <a:xfrm>
            <a:off x="9749688" y="1470443"/>
            <a:ext cx="1044000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Test </a:t>
            </a:r>
            <a:r>
              <a:rPr lang="it-IT" sz="1400" dirty="0" err="1"/>
              <a:t>evaluation</a:t>
            </a:r>
            <a:endParaRPr lang="it-IT" sz="1400" dirty="0"/>
          </a:p>
        </p:txBody>
      </p: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57CD1A1D-CC3B-77D6-FE77-B78E3B7536D2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2149415" y="1491692"/>
            <a:ext cx="690115" cy="2127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a gomito 26">
            <a:extLst>
              <a:ext uri="{FF2B5EF4-FFF2-40B4-BE49-F238E27FC236}">
                <a16:creationId xmlns:a16="http://schemas.microsoft.com/office/drawing/2014/main" id="{3E6D7EAA-3484-3454-7683-BC122E0AA69C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2149415" y="1704447"/>
            <a:ext cx="680050" cy="21465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03EFA8B1-0C12-C44C-4353-4C3F60BECE19}"/>
              </a:ext>
            </a:extLst>
          </p:cNvPr>
          <p:cNvSpPr/>
          <p:nvPr/>
        </p:nvSpPr>
        <p:spPr>
          <a:xfrm>
            <a:off x="4426790" y="1336415"/>
            <a:ext cx="3157268" cy="7360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0" name="Connettore a gomito 29">
            <a:extLst>
              <a:ext uri="{FF2B5EF4-FFF2-40B4-BE49-F238E27FC236}">
                <a16:creationId xmlns:a16="http://schemas.microsoft.com/office/drawing/2014/main" id="{0F76663C-224A-CEEC-0B22-F81B2381F4B9}"/>
              </a:ext>
            </a:extLst>
          </p:cNvPr>
          <p:cNvCxnSpPr>
            <a:stCxn id="8" idx="3"/>
            <a:endCxn id="28" idx="1"/>
          </p:cNvCxnSpPr>
          <p:nvPr/>
        </p:nvCxnSpPr>
        <p:spPr>
          <a:xfrm>
            <a:off x="3883530" y="1491692"/>
            <a:ext cx="543260" cy="21275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a gomito 31">
            <a:extLst>
              <a:ext uri="{FF2B5EF4-FFF2-40B4-BE49-F238E27FC236}">
                <a16:creationId xmlns:a16="http://schemas.microsoft.com/office/drawing/2014/main" id="{C6B0D9C6-6912-8ACF-62DE-6560EAD1C352}"/>
              </a:ext>
            </a:extLst>
          </p:cNvPr>
          <p:cNvCxnSpPr>
            <a:stCxn id="10" idx="3"/>
            <a:endCxn id="28" idx="1"/>
          </p:cNvCxnSpPr>
          <p:nvPr/>
        </p:nvCxnSpPr>
        <p:spPr>
          <a:xfrm flipV="1">
            <a:off x="3873261" y="1704446"/>
            <a:ext cx="553529" cy="2146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796A1E68-4AA8-71AA-77FC-2214CC5AE9F4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5688293" y="1704444"/>
            <a:ext cx="63426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5ADE4A43-1D7B-683E-9439-1310A796BE06}"/>
              </a:ext>
            </a:extLst>
          </p:cNvPr>
          <p:cNvCxnSpPr>
            <a:cxnSpLocks/>
            <a:stCxn id="28" idx="3"/>
            <a:endCxn id="16" idx="1"/>
          </p:cNvCxnSpPr>
          <p:nvPr/>
        </p:nvCxnSpPr>
        <p:spPr>
          <a:xfrm flipV="1">
            <a:off x="7584058" y="1704443"/>
            <a:ext cx="488815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ED7E1770-71EA-3E9A-5BC3-66175B78140F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9260873" y="1704443"/>
            <a:ext cx="4888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Segnaposto contenuto 2">
                <a:extLst>
                  <a:ext uri="{FF2B5EF4-FFF2-40B4-BE49-F238E27FC236}">
                    <a16:creationId xmlns:a16="http://schemas.microsoft.com/office/drawing/2014/main" id="{6CE5DCE5-0EED-E3B1-1C65-FBF341696E7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13209" y="2614263"/>
                <a:ext cx="6231346" cy="9547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it-IT" sz="1800" i="1" smtClean="0">
                          <a:latin typeface="Cambria Math" panose="02040503050406030204" pitchFamily="18" charset="0"/>
                        </a:rPr>
                        <m:t>𝐵𝐶𝐸</m:t>
                      </m:r>
                      <m:r>
                        <a:rPr lang="it-IT" sz="1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1800" i="1" smtClean="0">
                          <a:latin typeface="Cambria Math" panose="02040503050406030204" pitchFamily="18" charset="0"/>
                        </a:rPr>
                        <m:t>𝐿𝑜𝑔𝑙𝑜𝑠𝑠</m:t>
                      </m:r>
                      <m:r>
                        <a:rPr lang="it-IT" sz="180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it-IT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t-IT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it-IT" sz="1800" i="1" baseline="-250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func>
                                <m:funcPr>
                                  <m:ctrlPr>
                                    <a:rPr lang="it-IT" sz="180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it-IT" sz="1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it-IT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it-IT" sz="1800" i="1" baseline="-250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it-IT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it-IT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800" i="1">
                                      <a:latin typeface="Cambria Math" panose="02040503050406030204" pitchFamily="18" charset="0"/>
                                    </a:rPr>
                                    <m:t>1 −</m:t>
                                  </m:r>
                                  <m:r>
                                    <a:rPr lang="it-IT" sz="1800" i="1">
                                      <a:latin typeface="Cambria Math" panose="02040503050406030204" pitchFamily="18" charset="0"/>
                                    </a:rPr>
                                    <m:t>𝑦𝑖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it-IT" sz="180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it-IT" sz="1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it-IT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8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it-IT" sz="1800" i="1">
                                          <a:latin typeface="Cambria Math" panose="02040503050406030204" pitchFamily="18" charset="0"/>
                                        </a:rPr>
                                        <m:t>𝑝𝑖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it-IT" sz="1800" b="0" dirty="0"/>
              </a:p>
            </p:txBody>
          </p:sp>
        </mc:Choice>
        <mc:Fallback xmlns="">
          <p:sp>
            <p:nvSpPr>
              <p:cNvPr id="39" name="Segnaposto contenuto 2">
                <a:extLst>
                  <a:ext uri="{FF2B5EF4-FFF2-40B4-BE49-F238E27FC236}">
                    <a16:creationId xmlns:a16="http://schemas.microsoft.com/office/drawing/2014/main" id="{6CE5DCE5-0EED-E3B1-1C65-FBF341696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3209" y="2614263"/>
                <a:ext cx="6231346" cy="9547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Segnaposto contenuto 2">
            <a:extLst>
              <a:ext uri="{FF2B5EF4-FFF2-40B4-BE49-F238E27FC236}">
                <a16:creationId xmlns:a16="http://schemas.microsoft.com/office/drawing/2014/main" id="{E55B127A-0F3D-610F-7AED-A80582575C9C}"/>
              </a:ext>
            </a:extLst>
          </p:cNvPr>
          <p:cNvSpPr txBox="1">
            <a:spLocks/>
          </p:cNvSpPr>
          <p:nvPr/>
        </p:nvSpPr>
        <p:spPr bwMode="auto">
          <a:xfrm>
            <a:off x="2489441" y="1014415"/>
            <a:ext cx="1656672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 err="1"/>
              <a:t>Preprocessing</a:t>
            </a:r>
            <a:endParaRPr lang="it-IT" sz="1400" dirty="0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1DE5573-9AE0-C314-A930-0F568838D687}"/>
              </a:ext>
            </a:extLst>
          </p:cNvPr>
          <p:cNvSpPr/>
          <p:nvPr/>
        </p:nvSpPr>
        <p:spPr>
          <a:xfrm>
            <a:off x="6985000" y="2659879"/>
            <a:ext cx="4368800" cy="73604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Best </a:t>
            </a:r>
            <a:r>
              <a:rPr lang="it-IT" b="1" dirty="0" err="1"/>
              <a:t>Parameters</a:t>
            </a:r>
            <a:r>
              <a:rPr lang="it-IT" dirty="0"/>
              <a:t>: </a:t>
            </a:r>
            <a:r>
              <a:rPr lang="it-IT" dirty="0" err="1"/>
              <a:t>max_depth</a:t>
            </a:r>
            <a:r>
              <a:rPr lang="it-IT" dirty="0"/>
              <a:t> = 4, </a:t>
            </a:r>
            <a:r>
              <a:rPr lang="it-IT" dirty="0" err="1"/>
              <a:t>lr</a:t>
            </a:r>
            <a:r>
              <a:rPr lang="it-IT" dirty="0"/>
              <a:t> = 0.1</a:t>
            </a:r>
          </a:p>
          <a:p>
            <a:pPr algn="ctr"/>
            <a:r>
              <a:rPr lang="it-IT" dirty="0"/>
              <a:t>Best </a:t>
            </a:r>
            <a:r>
              <a:rPr lang="it-IT" b="1" dirty="0" err="1"/>
              <a:t>Preprocessing</a:t>
            </a:r>
            <a:r>
              <a:rPr lang="it-IT" dirty="0"/>
              <a:t>: GAP</a:t>
            </a:r>
          </a:p>
        </p:txBody>
      </p:sp>
      <p:graphicFrame>
        <p:nvGraphicFramePr>
          <p:cNvPr id="48" name="Tabella 47">
            <a:extLst>
              <a:ext uri="{FF2B5EF4-FFF2-40B4-BE49-F238E27FC236}">
                <a16:creationId xmlns:a16="http://schemas.microsoft.com/office/drawing/2014/main" id="{951FE153-B420-FB5E-E786-D7597A011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552835"/>
              </p:ext>
            </p:extLst>
          </p:nvPr>
        </p:nvGraphicFramePr>
        <p:xfrm>
          <a:off x="595221" y="4091086"/>
          <a:ext cx="1091097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673">
                  <a:extLst>
                    <a:ext uri="{9D8B030D-6E8A-4147-A177-3AD203B41FA5}">
                      <a16:colId xmlns:a16="http://schemas.microsoft.com/office/drawing/2014/main" val="3005499671"/>
                    </a:ext>
                  </a:extLst>
                </a:gridCol>
                <a:gridCol w="1176686">
                  <a:extLst>
                    <a:ext uri="{9D8B030D-6E8A-4147-A177-3AD203B41FA5}">
                      <a16:colId xmlns:a16="http://schemas.microsoft.com/office/drawing/2014/main" val="4251709622"/>
                    </a:ext>
                  </a:extLst>
                </a:gridCol>
                <a:gridCol w="1268753">
                  <a:extLst>
                    <a:ext uri="{9D8B030D-6E8A-4147-A177-3AD203B41FA5}">
                      <a16:colId xmlns:a16="http://schemas.microsoft.com/office/drawing/2014/main" val="566477960"/>
                    </a:ext>
                  </a:extLst>
                </a:gridCol>
                <a:gridCol w="1032934">
                  <a:extLst>
                    <a:ext uri="{9D8B030D-6E8A-4147-A177-3AD203B41FA5}">
                      <a16:colId xmlns:a16="http://schemas.microsoft.com/office/drawing/2014/main" val="426997274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195058313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292583598"/>
                    </a:ext>
                  </a:extLst>
                </a:gridCol>
                <a:gridCol w="1024466">
                  <a:extLst>
                    <a:ext uri="{9D8B030D-6E8A-4147-A177-3AD203B41FA5}">
                      <a16:colId xmlns:a16="http://schemas.microsoft.com/office/drawing/2014/main" val="2609613875"/>
                    </a:ext>
                  </a:extLst>
                </a:gridCol>
                <a:gridCol w="774606">
                  <a:extLst>
                    <a:ext uri="{9D8B030D-6E8A-4147-A177-3AD203B41FA5}">
                      <a16:colId xmlns:a16="http://schemas.microsoft.com/office/drawing/2014/main" val="1483795687"/>
                    </a:ext>
                  </a:extLst>
                </a:gridCol>
                <a:gridCol w="1102830">
                  <a:extLst>
                    <a:ext uri="{9D8B030D-6E8A-4147-A177-3AD203B41FA5}">
                      <a16:colId xmlns:a16="http://schemas.microsoft.com/office/drawing/2014/main" val="3998743104"/>
                    </a:ext>
                  </a:extLst>
                </a:gridCol>
                <a:gridCol w="1102830">
                  <a:extLst>
                    <a:ext uri="{9D8B030D-6E8A-4147-A177-3AD203B41FA5}">
                      <a16:colId xmlns:a16="http://schemas.microsoft.com/office/drawing/2014/main" val="279493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N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Accuracy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Balanced</a:t>
                      </a:r>
                      <a:r>
                        <a:rPr lang="it-IT" sz="1600" dirty="0"/>
                        <a:t> </a:t>
                      </a:r>
                      <a:r>
                        <a:rPr lang="it-IT" sz="1600" dirty="0" err="1"/>
                        <a:t>accuracy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PR-AUC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21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2825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96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Validation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75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0.99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80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911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D60E3F1-4377-8682-C440-251D13C6A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sz="6600" dirty="0" err="1"/>
              <a:t>XGBoost</a:t>
            </a:r>
            <a:r>
              <a:rPr lang="en-US" sz="6600" dirty="0"/>
              <a:t> – Confusion Matrices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431FC32-D654-E444-185F-F952452C1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908" y="2860158"/>
            <a:ext cx="3758184" cy="323203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278C878-3037-3323-019E-9DBFBC0A25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454" y="2878949"/>
            <a:ext cx="3758184" cy="3213246"/>
          </a:xfrm>
          <a:prstGeom prst="rect">
            <a:avLst/>
          </a:prstGeom>
        </p:spPr>
      </p:pic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AAEA7B27-4C18-1604-215A-36995CEEB6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9362" y="2860158"/>
            <a:ext cx="3758184" cy="316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7025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11BD5-E7FD-CD72-D898-C675B81FB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929A82-D2D7-177E-3167-BA02853CA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4166"/>
          </a:xfrm>
        </p:spPr>
        <p:txBody>
          <a:bodyPr/>
          <a:lstStyle/>
          <a:p>
            <a:r>
              <a:rPr lang="it-IT" dirty="0"/>
              <a:t>MLP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34D941F-6C18-2E54-1A8F-80706C882F35}"/>
              </a:ext>
            </a:extLst>
          </p:cNvPr>
          <p:cNvSpPr/>
          <p:nvPr/>
        </p:nvSpPr>
        <p:spPr>
          <a:xfrm>
            <a:off x="838200" y="1336416"/>
            <a:ext cx="1311215" cy="7360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Splitted</a:t>
            </a:r>
            <a:r>
              <a:rPr lang="it-IT" sz="1400" dirty="0"/>
              <a:t> Dataset</a:t>
            </a:r>
          </a:p>
          <a:p>
            <a:pPr algn="ctr"/>
            <a:r>
              <a:rPr lang="it-IT" sz="1400" dirty="0" err="1"/>
              <a:t>Stratified</a:t>
            </a:r>
            <a:r>
              <a:rPr lang="it-IT" sz="1400" dirty="0"/>
              <a:t> </a:t>
            </a:r>
            <a:r>
              <a:rPr lang="it-IT" sz="1400" dirty="0" err="1"/>
              <a:t>KFold</a:t>
            </a:r>
            <a:endParaRPr lang="it-IT" sz="1400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B4E728D-164B-0577-240B-26EF7395C041}"/>
              </a:ext>
            </a:extLst>
          </p:cNvPr>
          <p:cNvSpPr/>
          <p:nvPr/>
        </p:nvSpPr>
        <p:spPr>
          <a:xfrm>
            <a:off x="2839530" y="1336416"/>
            <a:ext cx="1044000" cy="3105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GAP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9CA09CA-E480-273B-7ACD-D89834280EE2}"/>
              </a:ext>
            </a:extLst>
          </p:cNvPr>
          <p:cNvSpPr/>
          <p:nvPr/>
        </p:nvSpPr>
        <p:spPr>
          <a:xfrm>
            <a:off x="2829465" y="1764301"/>
            <a:ext cx="1043796" cy="3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Mean+std</a:t>
            </a:r>
            <a:endParaRPr lang="it-IT" sz="140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C10C7DC-0FB0-EDC2-03A4-C08A56609103}"/>
              </a:ext>
            </a:extLst>
          </p:cNvPr>
          <p:cNvSpPr/>
          <p:nvPr/>
        </p:nvSpPr>
        <p:spPr>
          <a:xfrm>
            <a:off x="4644293" y="1549169"/>
            <a:ext cx="1044000" cy="3105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Train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FC45F3EF-F82A-9B58-E0AD-D7A5AC4BC858}"/>
              </a:ext>
            </a:extLst>
          </p:cNvPr>
          <p:cNvSpPr/>
          <p:nvPr/>
        </p:nvSpPr>
        <p:spPr>
          <a:xfrm>
            <a:off x="6322555" y="1549168"/>
            <a:ext cx="1044000" cy="3105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Validation</a:t>
            </a:r>
            <a:endParaRPr lang="it-IT" sz="1400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7148ADD5-9DDA-7669-F55E-584824B98027}"/>
              </a:ext>
            </a:extLst>
          </p:cNvPr>
          <p:cNvSpPr/>
          <p:nvPr/>
        </p:nvSpPr>
        <p:spPr>
          <a:xfrm>
            <a:off x="8000817" y="1466881"/>
            <a:ext cx="1044000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Test </a:t>
            </a:r>
            <a:r>
              <a:rPr lang="it-IT" sz="1400" dirty="0" err="1"/>
              <a:t>evaluation</a:t>
            </a:r>
            <a:endParaRPr lang="it-IT" sz="1400" dirty="0"/>
          </a:p>
        </p:txBody>
      </p: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E61EFE12-F9F6-5C47-6488-4956A81B82EF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2149415" y="1491692"/>
            <a:ext cx="690115" cy="2127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a gomito 26">
            <a:extLst>
              <a:ext uri="{FF2B5EF4-FFF2-40B4-BE49-F238E27FC236}">
                <a16:creationId xmlns:a16="http://schemas.microsoft.com/office/drawing/2014/main" id="{4340A69C-E74F-5642-2E40-B612C590C0C5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2149415" y="1704447"/>
            <a:ext cx="680050" cy="21465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a gomito 29">
            <a:extLst>
              <a:ext uri="{FF2B5EF4-FFF2-40B4-BE49-F238E27FC236}">
                <a16:creationId xmlns:a16="http://schemas.microsoft.com/office/drawing/2014/main" id="{635263C8-53B5-E11E-0E1A-8630714C626D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3883530" y="1491692"/>
            <a:ext cx="760763" cy="2127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a gomito 31">
            <a:extLst>
              <a:ext uri="{FF2B5EF4-FFF2-40B4-BE49-F238E27FC236}">
                <a16:creationId xmlns:a16="http://schemas.microsoft.com/office/drawing/2014/main" id="{3781362E-41CF-6C77-F0B3-A3A525A6A600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3873261" y="1704445"/>
            <a:ext cx="771032" cy="21465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E8FBE324-AB2D-4267-D9D2-8F00C6C6EE3D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5688293" y="1704444"/>
            <a:ext cx="63426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3F2AF058-15A6-94B7-4EA7-2A220A7C26A3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 flipV="1">
            <a:off x="7366555" y="1700881"/>
            <a:ext cx="634262" cy="3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Segnaposto contenuto 2">
            <a:extLst>
              <a:ext uri="{FF2B5EF4-FFF2-40B4-BE49-F238E27FC236}">
                <a16:creationId xmlns:a16="http://schemas.microsoft.com/office/drawing/2014/main" id="{771DA499-79D7-1601-F127-F5F5DC824627}"/>
              </a:ext>
            </a:extLst>
          </p:cNvPr>
          <p:cNvSpPr txBox="1">
            <a:spLocks/>
          </p:cNvSpPr>
          <p:nvPr/>
        </p:nvSpPr>
        <p:spPr bwMode="auto">
          <a:xfrm>
            <a:off x="2489441" y="1014415"/>
            <a:ext cx="1656672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 err="1"/>
              <a:t>Preprocessing</a:t>
            </a:r>
            <a:endParaRPr lang="it-IT" sz="1400" dirty="0"/>
          </a:p>
        </p:txBody>
      </p:sp>
      <p:graphicFrame>
        <p:nvGraphicFramePr>
          <p:cNvPr id="48" name="Tabella 47">
            <a:extLst>
              <a:ext uri="{FF2B5EF4-FFF2-40B4-BE49-F238E27FC236}">
                <a16:creationId xmlns:a16="http://schemas.microsoft.com/office/drawing/2014/main" id="{51288E19-2707-1AEF-8FFA-F24ACABA3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804589"/>
              </p:ext>
            </p:extLst>
          </p:nvPr>
        </p:nvGraphicFramePr>
        <p:xfrm>
          <a:off x="595221" y="4091086"/>
          <a:ext cx="1091097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673">
                  <a:extLst>
                    <a:ext uri="{9D8B030D-6E8A-4147-A177-3AD203B41FA5}">
                      <a16:colId xmlns:a16="http://schemas.microsoft.com/office/drawing/2014/main" val="3005499671"/>
                    </a:ext>
                  </a:extLst>
                </a:gridCol>
                <a:gridCol w="1176686">
                  <a:extLst>
                    <a:ext uri="{9D8B030D-6E8A-4147-A177-3AD203B41FA5}">
                      <a16:colId xmlns:a16="http://schemas.microsoft.com/office/drawing/2014/main" val="4251709622"/>
                    </a:ext>
                  </a:extLst>
                </a:gridCol>
                <a:gridCol w="1268753">
                  <a:extLst>
                    <a:ext uri="{9D8B030D-6E8A-4147-A177-3AD203B41FA5}">
                      <a16:colId xmlns:a16="http://schemas.microsoft.com/office/drawing/2014/main" val="566477960"/>
                    </a:ext>
                  </a:extLst>
                </a:gridCol>
                <a:gridCol w="1032934">
                  <a:extLst>
                    <a:ext uri="{9D8B030D-6E8A-4147-A177-3AD203B41FA5}">
                      <a16:colId xmlns:a16="http://schemas.microsoft.com/office/drawing/2014/main" val="426997274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195058313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292583598"/>
                    </a:ext>
                  </a:extLst>
                </a:gridCol>
                <a:gridCol w="1024466">
                  <a:extLst>
                    <a:ext uri="{9D8B030D-6E8A-4147-A177-3AD203B41FA5}">
                      <a16:colId xmlns:a16="http://schemas.microsoft.com/office/drawing/2014/main" val="2609613875"/>
                    </a:ext>
                  </a:extLst>
                </a:gridCol>
                <a:gridCol w="774606">
                  <a:extLst>
                    <a:ext uri="{9D8B030D-6E8A-4147-A177-3AD203B41FA5}">
                      <a16:colId xmlns:a16="http://schemas.microsoft.com/office/drawing/2014/main" val="1483795687"/>
                    </a:ext>
                  </a:extLst>
                </a:gridCol>
                <a:gridCol w="1102830">
                  <a:extLst>
                    <a:ext uri="{9D8B030D-6E8A-4147-A177-3AD203B41FA5}">
                      <a16:colId xmlns:a16="http://schemas.microsoft.com/office/drawing/2014/main" val="3998743104"/>
                    </a:ext>
                  </a:extLst>
                </a:gridCol>
                <a:gridCol w="1102830">
                  <a:extLst>
                    <a:ext uri="{9D8B030D-6E8A-4147-A177-3AD203B41FA5}">
                      <a16:colId xmlns:a16="http://schemas.microsoft.com/office/drawing/2014/main" val="279493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N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Accuracy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Balanced</a:t>
                      </a:r>
                      <a:r>
                        <a:rPr lang="it-IT" sz="1600" dirty="0"/>
                        <a:t> </a:t>
                      </a:r>
                      <a:r>
                        <a:rPr lang="it-IT" sz="1600" dirty="0" err="1"/>
                        <a:t>accuracy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PR-AUC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21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2825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0.004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97696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Validation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0.14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0.97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0.97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0.97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0.97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0.97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35175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0.14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0.98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0.97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98980760"/>
                  </a:ext>
                </a:extLst>
              </a:tr>
            </a:tbl>
          </a:graphicData>
        </a:graphic>
      </p:graphicFrame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4048BE9D-C271-A468-E72F-8D83128A2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3235" y="452432"/>
            <a:ext cx="2379688" cy="3213635"/>
          </a:xfrm>
        </p:spPr>
        <p:txBody>
          <a:bodyPr/>
          <a:lstStyle/>
          <a:p>
            <a:pPr marL="0" indent="0" algn="ctr">
              <a:buNone/>
            </a:pPr>
            <a:r>
              <a:rPr lang="it-IT" sz="1400" b="1" dirty="0"/>
              <a:t>Linear</a:t>
            </a:r>
            <a:r>
              <a:rPr lang="it-IT" sz="1400" dirty="0"/>
              <a:t>(2560, 512)</a:t>
            </a:r>
          </a:p>
          <a:p>
            <a:pPr marL="0" indent="0" algn="ctr">
              <a:buNone/>
            </a:pPr>
            <a:r>
              <a:rPr lang="it-IT" sz="1400" dirty="0" err="1"/>
              <a:t>LayerNorm</a:t>
            </a:r>
            <a:endParaRPr lang="it-IT" sz="1400" dirty="0"/>
          </a:p>
          <a:p>
            <a:pPr marL="0" indent="0" algn="ctr">
              <a:buNone/>
            </a:pPr>
            <a:r>
              <a:rPr lang="it-IT" sz="1400" dirty="0"/>
              <a:t>GELU</a:t>
            </a:r>
          </a:p>
          <a:p>
            <a:pPr marL="0" indent="0" algn="ctr">
              <a:buNone/>
            </a:pPr>
            <a:r>
              <a:rPr lang="it-IT" sz="1400" dirty="0"/>
              <a:t>Dropout(0.30)</a:t>
            </a:r>
          </a:p>
          <a:p>
            <a:pPr marL="0" indent="0" algn="ctr">
              <a:buNone/>
            </a:pPr>
            <a:r>
              <a:rPr lang="it-IT" sz="1400" b="1" dirty="0"/>
              <a:t>Linear</a:t>
            </a:r>
            <a:r>
              <a:rPr lang="it-IT" sz="1400" dirty="0"/>
              <a:t>(512, 128)</a:t>
            </a:r>
          </a:p>
          <a:p>
            <a:pPr marL="0" indent="0" algn="ctr">
              <a:buNone/>
            </a:pPr>
            <a:r>
              <a:rPr lang="it-IT" sz="1400" dirty="0" err="1"/>
              <a:t>LayerNorm</a:t>
            </a:r>
            <a:endParaRPr lang="it-IT" sz="1400" dirty="0"/>
          </a:p>
          <a:p>
            <a:pPr marL="0" indent="0" algn="ctr">
              <a:buNone/>
            </a:pPr>
            <a:r>
              <a:rPr lang="it-IT" sz="1400" dirty="0"/>
              <a:t>GELU</a:t>
            </a:r>
          </a:p>
          <a:p>
            <a:pPr marL="0" indent="0" algn="ctr">
              <a:buNone/>
            </a:pPr>
            <a:r>
              <a:rPr lang="it-IT" sz="1400" dirty="0"/>
              <a:t>Dropout(0.30)</a:t>
            </a:r>
          </a:p>
          <a:p>
            <a:pPr marL="0" indent="0" algn="ctr">
              <a:buNone/>
            </a:pPr>
            <a:r>
              <a:rPr lang="it-IT" sz="1400" b="1" dirty="0"/>
              <a:t>Linear</a:t>
            </a:r>
            <a:r>
              <a:rPr lang="it-IT" sz="1400" dirty="0"/>
              <a:t>(128, 1)</a:t>
            </a:r>
          </a:p>
          <a:p>
            <a:pPr marL="0" indent="0" algn="ctr">
              <a:buNone/>
            </a:pPr>
            <a:r>
              <a:rPr lang="it-IT" sz="1400" dirty="0" err="1"/>
              <a:t>logit</a:t>
            </a:r>
            <a:endParaRPr lang="it-IT" sz="1400" dirty="0"/>
          </a:p>
          <a:p>
            <a:pPr marL="0" indent="0" algn="ctr">
              <a:buNone/>
            </a:pPr>
            <a:endParaRPr lang="it-IT" sz="10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50282D8-1096-002F-E4C7-E769BE5779C4}"/>
              </a:ext>
            </a:extLst>
          </p:cNvPr>
          <p:cNvSpPr txBox="1"/>
          <p:nvPr/>
        </p:nvSpPr>
        <p:spPr>
          <a:xfrm>
            <a:off x="8834735" y="452432"/>
            <a:ext cx="698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/>
              <a:t>input</a:t>
            </a:r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2A35C02-0242-5892-CB6F-27E668F430D5}"/>
              </a:ext>
            </a:extLst>
          </p:cNvPr>
          <p:cNvSpPr txBox="1"/>
          <p:nvPr/>
        </p:nvSpPr>
        <p:spPr>
          <a:xfrm>
            <a:off x="8834735" y="3328943"/>
            <a:ext cx="698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/>
              <a:t>output</a:t>
            </a:r>
            <a:endParaRPr lang="it-IT" dirty="0"/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9D26F59B-4D66-ABEA-DA50-64D6EBB8ECE8}"/>
              </a:ext>
            </a:extLst>
          </p:cNvPr>
          <p:cNvCxnSpPr>
            <a:stCxn id="15" idx="3"/>
          </p:cNvCxnSpPr>
          <p:nvPr/>
        </p:nvCxnSpPr>
        <p:spPr>
          <a:xfrm flipV="1">
            <a:off x="9533235" y="606320"/>
            <a:ext cx="4743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0A792328-6786-2B24-B85A-4B5A89BA3B35}"/>
              </a:ext>
            </a:extLst>
          </p:cNvPr>
          <p:cNvCxnSpPr>
            <a:endCxn id="19" idx="3"/>
          </p:cNvCxnSpPr>
          <p:nvPr/>
        </p:nvCxnSpPr>
        <p:spPr>
          <a:xfrm flipH="1">
            <a:off x="9533235" y="3482831"/>
            <a:ext cx="9442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egnaposto contenuto 2">
                <a:extLst>
                  <a:ext uri="{FF2B5EF4-FFF2-40B4-BE49-F238E27FC236}">
                    <a16:creationId xmlns:a16="http://schemas.microsoft.com/office/drawing/2014/main" id="{EA1435EA-ACE2-1B60-EB79-28657B372C1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63885" y="2443968"/>
                <a:ext cx="8625141" cy="1488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it-IT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𝐵𝐶𝐸𝑊𝑖𝑡ℎ𝐿𝑜𝑔𝑖𝑡</m:t>
                          </m:r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𝐿𝑜𝑠𝑠</m:t>
                          </m:r>
                        </m:e>
                        <m:sup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it-IT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8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it-IT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t-IT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it-IT" sz="1800" i="1" baseline="-250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func>
                                <m:funcPr>
                                  <m:ctrlPr>
                                    <a:rPr lang="it-IT" sz="180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it-IT" sz="1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it-IT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it-IT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it-IT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it-IT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1+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it-IT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it-IT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it-IT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it-IT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it-IT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it-IT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800" i="1">
                                      <a:latin typeface="Cambria Math" panose="02040503050406030204" pitchFamily="18" charset="0"/>
                                    </a:rPr>
                                    <m:t>1 −</m:t>
                                  </m:r>
                                  <m:r>
                                    <a:rPr lang="it-IT" sz="1800" i="1">
                                      <a:latin typeface="Cambria Math" panose="02040503050406030204" pitchFamily="18" charset="0"/>
                                    </a:rPr>
                                    <m:t>𝑦𝑖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it-IT" sz="180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it-IT" sz="1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it-IT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8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f>
                                        <m:fPr>
                                          <m:ctrlPr>
                                            <a:rPr lang="it-IT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it-IT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it-IT" sz="1800" i="1">
                                              <a:latin typeface="Cambria Math" panose="02040503050406030204" pitchFamily="18" charset="0"/>
                                            </a:rPr>
                                            <m:t>1+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it-IT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it-IT" sz="18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it-IT" sz="18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it-IT" sz="1800" i="1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it-IT" sz="1800" dirty="0"/>
              </a:p>
              <a:p>
                <a:pPr marL="0" indent="0">
                  <a:buNone/>
                </a:pPr>
                <a:endParaRPr lang="it-IT" sz="1800" dirty="0"/>
              </a:p>
            </p:txBody>
          </p:sp>
        </mc:Choice>
        <mc:Fallback xmlns="">
          <p:sp>
            <p:nvSpPr>
              <p:cNvPr id="6" name="Segnaposto contenuto 2">
                <a:extLst>
                  <a:ext uri="{FF2B5EF4-FFF2-40B4-BE49-F238E27FC236}">
                    <a16:creationId xmlns:a16="http://schemas.microsoft.com/office/drawing/2014/main" id="{EA1435EA-ACE2-1B60-EB79-28657B372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3885" y="2443968"/>
                <a:ext cx="8625141" cy="14883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99C2E788-0855-5E03-DE45-9518D20E509B}"/>
              </a:ext>
            </a:extLst>
          </p:cNvPr>
          <p:cNvSpPr txBox="1">
            <a:spLocks/>
          </p:cNvSpPr>
          <p:nvPr/>
        </p:nvSpPr>
        <p:spPr bwMode="auto">
          <a:xfrm>
            <a:off x="595221" y="5992126"/>
            <a:ext cx="10910978" cy="500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400" i="1" baseline="30000" dirty="0"/>
              <a:t>4</a:t>
            </a:r>
            <a:r>
              <a:rPr lang="it-IT" sz="1400" i="1" dirty="0"/>
              <a:t> BCEWithLogitLoss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the standard </a:t>
            </a:r>
            <a:r>
              <a:rPr lang="it-IT" sz="1400" dirty="0" err="1"/>
              <a:t>Binary</a:t>
            </a:r>
            <a:r>
              <a:rPr lang="it-IT" sz="1400" dirty="0"/>
              <a:t> Cross </a:t>
            </a:r>
            <a:r>
              <a:rPr lang="it-IT" sz="1400" dirty="0" err="1"/>
              <a:t>Entropy</a:t>
            </a:r>
            <a:r>
              <a:rPr lang="it-IT" sz="1400" dirty="0"/>
              <a:t> Loss </a:t>
            </a:r>
            <a:r>
              <a:rPr lang="it-IT" sz="1400" dirty="0" err="1"/>
              <a:t>applied</a:t>
            </a:r>
            <a:r>
              <a:rPr lang="it-IT" sz="1400" dirty="0"/>
              <a:t> </a:t>
            </a:r>
            <a:r>
              <a:rPr lang="it-IT" sz="1400" dirty="0" err="1"/>
              <a:t>directly</a:t>
            </a:r>
            <a:r>
              <a:rPr lang="it-IT" sz="1400" dirty="0"/>
              <a:t> to </a:t>
            </a:r>
            <a:r>
              <a:rPr lang="it-IT" sz="1400" b="1" dirty="0" err="1"/>
              <a:t>logits</a:t>
            </a:r>
            <a:r>
              <a:rPr lang="it-IT" sz="1400" dirty="0"/>
              <a:t>, the </a:t>
            </a:r>
            <a:r>
              <a:rPr lang="it-IT" sz="1400" dirty="0" err="1"/>
              <a:t>raw</a:t>
            </a:r>
            <a:r>
              <a:rPr lang="it-IT" sz="1400" dirty="0"/>
              <a:t> output scores of the model </a:t>
            </a:r>
            <a:r>
              <a:rPr lang="it-IT" sz="1400" dirty="0" err="1"/>
              <a:t>before</a:t>
            </a:r>
            <a:r>
              <a:rPr lang="it-IT" sz="1400" dirty="0"/>
              <a:t> the </a:t>
            </a:r>
            <a:r>
              <a:rPr lang="it-IT" sz="1400" i="1" dirty="0" err="1"/>
              <a:t>sigmoid</a:t>
            </a:r>
            <a:r>
              <a:rPr lang="it-IT" sz="1400" dirty="0"/>
              <a:t>. </a:t>
            </a:r>
            <a:r>
              <a:rPr lang="it-IT" sz="1400" dirty="0" err="1"/>
              <a:t>It</a:t>
            </a:r>
            <a:r>
              <a:rPr lang="it-IT" sz="1400" dirty="0"/>
              <a:t> </a:t>
            </a:r>
            <a:r>
              <a:rPr lang="it-IT" sz="1400" dirty="0" err="1"/>
              <a:t>has</a:t>
            </a:r>
            <a:r>
              <a:rPr lang="it-IT" sz="1400" dirty="0"/>
              <a:t> the </a:t>
            </a:r>
            <a:r>
              <a:rPr lang="it-IT" sz="1400" i="1" dirty="0" err="1"/>
              <a:t>sigmoid</a:t>
            </a:r>
            <a:r>
              <a:rPr lang="it-IT" sz="1400" dirty="0"/>
              <a:t> inside and </a:t>
            </a:r>
            <a:r>
              <a:rPr lang="it-IT" sz="1400" dirty="0" err="1"/>
              <a:t>not</a:t>
            </a:r>
            <a:r>
              <a:rPr lang="it-IT" sz="1400" dirty="0"/>
              <a:t> </a:t>
            </a:r>
            <a:r>
              <a:rPr lang="it-IT" sz="1400" dirty="0" err="1"/>
              <a:t>as</a:t>
            </a:r>
            <a:r>
              <a:rPr lang="it-IT" sz="1400" dirty="0"/>
              <a:t> an </a:t>
            </a:r>
            <a:r>
              <a:rPr lang="it-IT" sz="1400" dirty="0" err="1"/>
              <a:t>additional</a:t>
            </a:r>
            <a:r>
              <a:rPr lang="it-IT" sz="1400" dirty="0"/>
              <a:t> </a:t>
            </a:r>
            <a:r>
              <a:rPr lang="it-IT" sz="1400" dirty="0" err="1"/>
              <a:t>block</a:t>
            </a:r>
            <a:r>
              <a:rPr lang="it-IT" sz="1400" dirty="0"/>
              <a:t> in the model.  	 </a:t>
            </a:r>
          </a:p>
        </p:txBody>
      </p:sp>
    </p:spTree>
    <p:extLst>
      <p:ext uri="{BB962C8B-B14F-4D97-AF65-F5344CB8AC3E}">
        <p14:creationId xmlns:p14="http://schemas.microsoft.com/office/powerpoint/2010/main" val="539926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CE1409C-D648-9907-666A-3A315F009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sz="6600" dirty="0"/>
              <a:t>MLP – Confusion Matrices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ED4085B-7527-76D3-FA81-F00619023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609" y="2712773"/>
            <a:ext cx="3758184" cy="3250828"/>
          </a:xfrm>
          <a:prstGeom prst="rect">
            <a:avLst/>
          </a:prstGeom>
        </p:spPr>
      </p:pic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2D43ADF-03CC-082D-4DAD-3D2FF6C94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90738" y="2755053"/>
            <a:ext cx="3758184" cy="3213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BF23056-B1E8-F604-6DE7-521A5CDB5E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80" y="2755053"/>
            <a:ext cx="3758184" cy="316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55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1F664-8DE0-59AD-DAEF-D8A0C983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950198-E3DB-AB76-3DAD-A73D4FA36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8477"/>
            <a:ext cx="7611533" cy="644166"/>
          </a:xfrm>
        </p:spPr>
        <p:txBody>
          <a:bodyPr/>
          <a:lstStyle/>
          <a:p>
            <a:r>
              <a:rPr lang="it-IT" sz="3200" dirty="0"/>
              <a:t>CNN </a:t>
            </a:r>
            <a:r>
              <a:rPr lang="it-IT" sz="3200" dirty="0" err="1"/>
              <a:t>Spatial</a:t>
            </a:r>
            <a:r>
              <a:rPr lang="it-IT" sz="3200" dirty="0"/>
              <a:t> Head - Architecture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E911AFF-3CD1-32FF-221E-156AF4D5F546}"/>
              </a:ext>
            </a:extLst>
          </p:cNvPr>
          <p:cNvSpPr/>
          <p:nvPr/>
        </p:nvSpPr>
        <p:spPr>
          <a:xfrm>
            <a:off x="681487" y="1749565"/>
            <a:ext cx="1050793" cy="5652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Feature </a:t>
            </a:r>
            <a:r>
              <a:rPr lang="it-IT" sz="1100" dirty="0" err="1"/>
              <a:t>Map</a:t>
            </a:r>
            <a:r>
              <a:rPr lang="it-IT" sz="1100" dirty="0"/>
              <a:t> Normalizzata</a:t>
            </a:r>
          </a:p>
          <a:p>
            <a:pPr algn="ctr"/>
            <a:r>
              <a:rPr lang="it-IT" sz="1100" dirty="0"/>
              <a:t>(1280, 16, 16)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86F431BF-895B-D387-2266-066039D583D6}"/>
              </a:ext>
            </a:extLst>
          </p:cNvPr>
          <p:cNvSpPr/>
          <p:nvPr/>
        </p:nvSpPr>
        <p:spPr>
          <a:xfrm>
            <a:off x="2406067" y="1842167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1280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A2852518-19B5-5F00-586E-D4C8083A774F}"/>
              </a:ext>
            </a:extLst>
          </p:cNvPr>
          <p:cNvSpPr/>
          <p:nvPr/>
        </p:nvSpPr>
        <p:spPr>
          <a:xfrm>
            <a:off x="2406067" y="2412193"/>
            <a:ext cx="944113" cy="30106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GroupNorm</a:t>
            </a:r>
            <a:r>
              <a:rPr lang="it-IT" sz="1100" baseline="30000" dirty="0"/>
              <a:t>5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006D1E32-E4CE-DB34-280E-9259033FC0E5}"/>
              </a:ext>
            </a:extLst>
          </p:cNvPr>
          <p:cNvSpPr/>
          <p:nvPr/>
        </p:nvSpPr>
        <p:spPr>
          <a:xfrm>
            <a:off x="2604186" y="2903264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5A3A606-8A4D-12A0-8913-AFB2BB94E852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732280" y="2032176"/>
            <a:ext cx="6737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F40FBA7-6366-DBB7-C1DF-CF41AD687781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2878124" y="2222184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7DAAB2A9-CAA7-DB19-8C83-A32E2F543807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flipH="1">
            <a:off x="2878123" y="2713255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ttangolo 41">
            <a:extLst>
              <a:ext uri="{FF2B5EF4-FFF2-40B4-BE49-F238E27FC236}">
                <a16:creationId xmlns:a16="http://schemas.microsoft.com/office/drawing/2014/main" id="{E36BBCE0-D305-E8C7-2AF2-D344855BAB14}"/>
              </a:ext>
            </a:extLst>
          </p:cNvPr>
          <p:cNvSpPr/>
          <p:nvPr/>
        </p:nvSpPr>
        <p:spPr>
          <a:xfrm>
            <a:off x="4232568" y="1842167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Conv3x3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4A37AD52-4403-CF01-5E4E-D97B918BFD8B}"/>
              </a:ext>
            </a:extLst>
          </p:cNvPr>
          <p:cNvSpPr/>
          <p:nvPr/>
        </p:nvSpPr>
        <p:spPr>
          <a:xfrm>
            <a:off x="4232568" y="2412193"/>
            <a:ext cx="944113" cy="301062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7F812ABA-99CD-22AD-B705-C720DDD8DEF7}"/>
              </a:ext>
            </a:extLst>
          </p:cNvPr>
          <p:cNvSpPr/>
          <p:nvPr/>
        </p:nvSpPr>
        <p:spPr>
          <a:xfrm>
            <a:off x="4430687" y="2903264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6BF67F84-19A8-3DAE-5738-10EA59AC35E3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4704625" y="2222184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4B52EB55-97BB-D2C7-02BA-4E77C0387ADF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 flipH="1">
            <a:off x="4704624" y="2713255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ttangolo 48">
            <a:extLst>
              <a:ext uri="{FF2B5EF4-FFF2-40B4-BE49-F238E27FC236}">
                <a16:creationId xmlns:a16="http://schemas.microsoft.com/office/drawing/2014/main" id="{447BA683-2CE3-9095-FF02-83D1832506CA}"/>
              </a:ext>
            </a:extLst>
          </p:cNvPr>
          <p:cNvSpPr/>
          <p:nvPr/>
        </p:nvSpPr>
        <p:spPr>
          <a:xfrm>
            <a:off x="5742095" y="1842167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65060147-C90A-50F3-C585-92F749AE09B6}"/>
              </a:ext>
            </a:extLst>
          </p:cNvPr>
          <p:cNvSpPr/>
          <p:nvPr/>
        </p:nvSpPr>
        <p:spPr>
          <a:xfrm>
            <a:off x="5742095" y="2412193"/>
            <a:ext cx="944113" cy="301062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2DDE5F29-28C2-0540-5105-9E82DBAB3491}"/>
              </a:ext>
            </a:extLst>
          </p:cNvPr>
          <p:cNvSpPr/>
          <p:nvPr/>
        </p:nvSpPr>
        <p:spPr>
          <a:xfrm>
            <a:off x="5940214" y="2903264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FD82D0BC-AE36-459B-7B7E-C28627FB4B79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>
            <a:off x="6214152" y="2222184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76B1E5B9-3616-0AB0-F8C4-14304EA13407}"/>
              </a:ext>
            </a:extLst>
          </p:cNvPr>
          <p:cNvCxnSpPr>
            <a:stCxn id="50" idx="2"/>
            <a:endCxn id="51" idx="0"/>
          </p:cNvCxnSpPr>
          <p:nvPr/>
        </p:nvCxnSpPr>
        <p:spPr>
          <a:xfrm flipH="1">
            <a:off x="6214151" y="2713255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a gomito 54">
            <a:extLst>
              <a:ext uri="{FF2B5EF4-FFF2-40B4-BE49-F238E27FC236}">
                <a16:creationId xmlns:a16="http://schemas.microsoft.com/office/drawing/2014/main" id="{53C97E0B-4900-686D-1AAB-04CE2DB24A62}"/>
              </a:ext>
            </a:extLst>
          </p:cNvPr>
          <p:cNvCxnSpPr>
            <a:stCxn id="16" idx="2"/>
            <a:endCxn id="42" idx="0"/>
          </p:cNvCxnSpPr>
          <p:nvPr/>
        </p:nvCxnSpPr>
        <p:spPr>
          <a:xfrm rot="5400000" flipH="1" flipV="1">
            <a:off x="3110294" y="1609996"/>
            <a:ext cx="1362159" cy="1826502"/>
          </a:xfrm>
          <a:prstGeom prst="bentConnector5">
            <a:avLst>
              <a:gd name="adj1" fmla="val -16782"/>
              <a:gd name="adj2" fmla="val 44576"/>
              <a:gd name="adj3" fmla="val 1167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a gomito 56">
            <a:extLst>
              <a:ext uri="{FF2B5EF4-FFF2-40B4-BE49-F238E27FC236}">
                <a16:creationId xmlns:a16="http://schemas.microsoft.com/office/drawing/2014/main" id="{497AEF10-F757-176A-9DF5-8AD2E5EF37C0}"/>
              </a:ext>
            </a:extLst>
          </p:cNvPr>
          <p:cNvCxnSpPr>
            <a:stCxn id="44" idx="2"/>
            <a:endCxn id="49" idx="0"/>
          </p:cNvCxnSpPr>
          <p:nvPr/>
        </p:nvCxnSpPr>
        <p:spPr>
          <a:xfrm rot="5400000" flipH="1" flipV="1">
            <a:off x="4778308" y="1768483"/>
            <a:ext cx="1362159" cy="1509528"/>
          </a:xfrm>
          <a:prstGeom prst="bentConnector5">
            <a:avLst>
              <a:gd name="adj1" fmla="val -16782"/>
              <a:gd name="adj2" fmla="val 43438"/>
              <a:gd name="adj3" fmla="val 1167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e 57">
            <a:extLst>
              <a:ext uri="{FF2B5EF4-FFF2-40B4-BE49-F238E27FC236}">
                <a16:creationId xmlns:a16="http://schemas.microsoft.com/office/drawing/2014/main" id="{3D6EC7C3-ADFB-8F3F-2EB0-6431987BB5DA}"/>
              </a:ext>
            </a:extLst>
          </p:cNvPr>
          <p:cNvSpPr/>
          <p:nvPr/>
        </p:nvSpPr>
        <p:spPr>
          <a:xfrm>
            <a:off x="7276253" y="2157307"/>
            <a:ext cx="292336" cy="2548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63" name="Connettore a gomito 62">
            <a:extLst>
              <a:ext uri="{FF2B5EF4-FFF2-40B4-BE49-F238E27FC236}">
                <a16:creationId xmlns:a16="http://schemas.microsoft.com/office/drawing/2014/main" id="{D7B1136B-83BC-6F92-5610-7C2D658205C5}"/>
              </a:ext>
            </a:extLst>
          </p:cNvPr>
          <p:cNvCxnSpPr>
            <a:stCxn id="51" idx="2"/>
            <a:endCxn id="58" idx="4"/>
          </p:cNvCxnSpPr>
          <p:nvPr/>
        </p:nvCxnSpPr>
        <p:spPr>
          <a:xfrm rot="5400000" flipH="1" flipV="1">
            <a:off x="6422219" y="2204125"/>
            <a:ext cx="792133" cy="1208270"/>
          </a:xfrm>
          <a:prstGeom prst="bentConnector3">
            <a:avLst>
              <a:gd name="adj1" fmla="val -288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ttangolo con angoli arrotondati 63">
            <a:extLst>
              <a:ext uri="{FF2B5EF4-FFF2-40B4-BE49-F238E27FC236}">
                <a16:creationId xmlns:a16="http://schemas.microsoft.com/office/drawing/2014/main" id="{1D5FC79F-E686-C869-A6C5-75ECE55F0629}"/>
              </a:ext>
            </a:extLst>
          </p:cNvPr>
          <p:cNvSpPr/>
          <p:nvPr/>
        </p:nvSpPr>
        <p:spPr>
          <a:xfrm>
            <a:off x="4136814" y="1324187"/>
            <a:ext cx="3586480" cy="235204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89BB7CC2-ED07-2785-042B-EF79C6D2C563}"/>
              </a:ext>
            </a:extLst>
          </p:cNvPr>
          <p:cNvSpPr/>
          <p:nvPr/>
        </p:nvSpPr>
        <p:spPr>
          <a:xfrm>
            <a:off x="2231047" y="1749565"/>
            <a:ext cx="1265306" cy="156597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4" name="Connettore a gomito 73">
            <a:extLst>
              <a:ext uri="{FF2B5EF4-FFF2-40B4-BE49-F238E27FC236}">
                <a16:creationId xmlns:a16="http://schemas.microsoft.com/office/drawing/2014/main" id="{A7002D4E-E743-10BC-4FC4-AE8C9D0F8294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4704623" y="1448068"/>
            <a:ext cx="2717798" cy="709239"/>
          </a:xfrm>
          <a:prstGeom prst="bentConnector2">
            <a:avLst/>
          </a:prstGeom>
          <a:ln>
            <a:prstDash val="lgDashDot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Connettore diritto 77">
            <a:extLst>
              <a:ext uri="{FF2B5EF4-FFF2-40B4-BE49-F238E27FC236}">
                <a16:creationId xmlns:a16="http://schemas.microsoft.com/office/drawing/2014/main" id="{2E802D2D-6C4B-6E73-6399-D930D96C9A8E}"/>
              </a:ext>
            </a:extLst>
          </p:cNvPr>
          <p:cNvCxnSpPr/>
          <p:nvPr/>
        </p:nvCxnSpPr>
        <p:spPr>
          <a:xfrm flipV="1">
            <a:off x="4704623" y="1443567"/>
            <a:ext cx="0" cy="169863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Rettangolo 79">
            <a:extLst>
              <a:ext uri="{FF2B5EF4-FFF2-40B4-BE49-F238E27FC236}">
                <a16:creationId xmlns:a16="http://schemas.microsoft.com/office/drawing/2014/main" id="{5D8F0FB2-B7DA-A002-9CE2-47A462453BED}"/>
              </a:ext>
            </a:extLst>
          </p:cNvPr>
          <p:cNvSpPr/>
          <p:nvPr/>
        </p:nvSpPr>
        <p:spPr>
          <a:xfrm>
            <a:off x="8030211" y="2134219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AD85D190-8444-A7D4-8CFA-EAA8E9C22B8D}"/>
              </a:ext>
            </a:extLst>
          </p:cNvPr>
          <p:cNvCxnSpPr>
            <a:stCxn id="58" idx="6"/>
            <a:endCxn id="80" idx="1"/>
          </p:cNvCxnSpPr>
          <p:nvPr/>
        </p:nvCxnSpPr>
        <p:spPr>
          <a:xfrm>
            <a:off x="7568589" y="2284750"/>
            <a:ext cx="4616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Segnaposto contenuto 2">
            <a:extLst>
              <a:ext uri="{FF2B5EF4-FFF2-40B4-BE49-F238E27FC236}">
                <a16:creationId xmlns:a16="http://schemas.microsoft.com/office/drawing/2014/main" id="{1249419B-DB49-23FE-F3D0-FD70483758E8}"/>
              </a:ext>
            </a:extLst>
          </p:cNvPr>
          <p:cNvSpPr txBox="1">
            <a:spLocks/>
          </p:cNvSpPr>
          <p:nvPr/>
        </p:nvSpPr>
        <p:spPr bwMode="auto">
          <a:xfrm>
            <a:off x="2226733" y="1518431"/>
            <a:ext cx="1265306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 err="1"/>
              <a:t>Initial</a:t>
            </a:r>
            <a:r>
              <a:rPr lang="it-IT" sz="1100" dirty="0"/>
              <a:t> Block</a:t>
            </a:r>
          </a:p>
        </p:txBody>
      </p:sp>
      <p:sp>
        <p:nvSpPr>
          <p:cNvPr id="87" name="Segnaposto contenuto 2">
            <a:extLst>
              <a:ext uri="{FF2B5EF4-FFF2-40B4-BE49-F238E27FC236}">
                <a16:creationId xmlns:a16="http://schemas.microsoft.com/office/drawing/2014/main" id="{3A0277FC-6252-A486-A715-4F694F0DE1B8}"/>
              </a:ext>
            </a:extLst>
          </p:cNvPr>
          <p:cNvSpPr txBox="1">
            <a:spLocks/>
          </p:cNvSpPr>
          <p:nvPr/>
        </p:nvSpPr>
        <p:spPr bwMode="auto">
          <a:xfrm>
            <a:off x="4136814" y="1051897"/>
            <a:ext cx="3586479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3 X </a:t>
            </a:r>
            <a:r>
              <a:rPr lang="it-IT" sz="1100" dirty="0" err="1"/>
              <a:t>Residual</a:t>
            </a:r>
            <a:r>
              <a:rPr lang="it-IT" sz="1100" dirty="0"/>
              <a:t> Block</a:t>
            </a:r>
          </a:p>
        </p:txBody>
      </p:sp>
      <p:sp>
        <p:nvSpPr>
          <p:cNvPr id="89" name="Segnaposto contenuto 2">
            <a:extLst>
              <a:ext uri="{FF2B5EF4-FFF2-40B4-BE49-F238E27FC236}">
                <a16:creationId xmlns:a16="http://schemas.microsoft.com/office/drawing/2014/main" id="{A172E627-0428-9535-D15A-9A75B93EE12C}"/>
              </a:ext>
            </a:extLst>
          </p:cNvPr>
          <p:cNvSpPr txBox="1">
            <a:spLocks/>
          </p:cNvSpPr>
          <p:nvPr/>
        </p:nvSpPr>
        <p:spPr bwMode="auto">
          <a:xfrm>
            <a:off x="6733076" y="1535515"/>
            <a:ext cx="654087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 err="1"/>
              <a:t>Residual</a:t>
            </a:r>
            <a:endParaRPr lang="it-IT" sz="1000" dirty="0"/>
          </a:p>
        </p:txBody>
      </p:sp>
      <p:sp>
        <p:nvSpPr>
          <p:cNvPr id="92" name="Segnaposto contenuto 2">
            <a:extLst>
              <a:ext uri="{FF2B5EF4-FFF2-40B4-BE49-F238E27FC236}">
                <a16:creationId xmlns:a16="http://schemas.microsoft.com/office/drawing/2014/main" id="{570FB1CF-6E0B-CC59-7636-DB1CB70EA3A2}"/>
              </a:ext>
            </a:extLst>
          </p:cNvPr>
          <p:cNvSpPr txBox="1">
            <a:spLocks/>
          </p:cNvSpPr>
          <p:nvPr/>
        </p:nvSpPr>
        <p:spPr bwMode="auto">
          <a:xfrm>
            <a:off x="7819048" y="1866387"/>
            <a:ext cx="970198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/>
              <a:t>(128, 16, 16)</a:t>
            </a:r>
          </a:p>
        </p:txBody>
      </p:sp>
      <p:sp>
        <p:nvSpPr>
          <p:cNvPr id="93" name="Rettangolo 92">
            <a:extLst>
              <a:ext uri="{FF2B5EF4-FFF2-40B4-BE49-F238E27FC236}">
                <a16:creationId xmlns:a16="http://schemas.microsoft.com/office/drawing/2014/main" id="{9A35E297-1B6A-C4D3-9200-9C5316A2B37A}"/>
              </a:ext>
            </a:extLst>
          </p:cNvPr>
          <p:cNvSpPr/>
          <p:nvPr/>
        </p:nvSpPr>
        <p:spPr>
          <a:xfrm>
            <a:off x="9396406" y="1404982"/>
            <a:ext cx="1480870" cy="3800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AvgPool2D</a:t>
            </a:r>
          </a:p>
          <a:p>
            <a:pPr algn="ctr"/>
            <a:r>
              <a:rPr lang="it-IT" sz="1100" dirty="0"/>
              <a:t>(128, 1, 1)</a:t>
            </a:r>
          </a:p>
        </p:txBody>
      </p:sp>
      <p:sp>
        <p:nvSpPr>
          <p:cNvPr id="94" name="Rettangolo 93">
            <a:extLst>
              <a:ext uri="{FF2B5EF4-FFF2-40B4-BE49-F238E27FC236}">
                <a16:creationId xmlns:a16="http://schemas.microsoft.com/office/drawing/2014/main" id="{4042E2B5-3B63-ADED-BDBD-14670ABBA233}"/>
              </a:ext>
            </a:extLst>
          </p:cNvPr>
          <p:cNvSpPr/>
          <p:nvPr/>
        </p:nvSpPr>
        <p:spPr>
          <a:xfrm>
            <a:off x="9396406" y="1975008"/>
            <a:ext cx="1480870" cy="301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16</a:t>
            </a:r>
            <a:endParaRPr lang="it-IT" sz="1100" dirty="0"/>
          </a:p>
        </p:txBody>
      </p:sp>
      <p:sp>
        <p:nvSpPr>
          <p:cNvPr id="95" name="Rettangolo 94">
            <a:extLst>
              <a:ext uri="{FF2B5EF4-FFF2-40B4-BE49-F238E27FC236}">
                <a16:creationId xmlns:a16="http://schemas.microsoft.com/office/drawing/2014/main" id="{669815C7-59AD-5E11-478F-EA8389FC1DAC}"/>
              </a:ext>
            </a:extLst>
          </p:cNvPr>
          <p:cNvSpPr/>
          <p:nvPr/>
        </p:nvSpPr>
        <p:spPr>
          <a:xfrm>
            <a:off x="9863241" y="2466079"/>
            <a:ext cx="547200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96" name="Connettore 2 95">
            <a:extLst>
              <a:ext uri="{FF2B5EF4-FFF2-40B4-BE49-F238E27FC236}">
                <a16:creationId xmlns:a16="http://schemas.microsoft.com/office/drawing/2014/main" id="{C5A24D7A-39A7-007D-F0EE-88C41668C062}"/>
              </a:ext>
            </a:extLst>
          </p:cNvPr>
          <p:cNvCxnSpPr>
            <a:cxnSpLocks/>
            <a:stCxn id="93" idx="2"/>
            <a:endCxn id="94" idx="0"/>
          </p:cNvCxnSpPr>
          <p:nvPr/>
        </p:nvCxnSpPr>
        <p:spPr>
          <a:xfrm>
            <a:off x="10136841" y="1784999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CAC41C73-E1EC-696A-9237-9FB4AB9EE9F3}"/>
              </a:ext>
            </a:extLst>
          </p:cNvPr>
          <p:cNvCxnSpPr>
            <a:cxnSpLocks/>
            <a:stCxn id="94" idx="2"/>
            <a:endCxn id="95" idx="0"/>
          </p:cNvCxnSpPr>
          <p:nvPr/>
        </p:nvCxnSpPr>
        <p:spPr>
          <a:xfrm>
            <a:off x="10136841" y="2276070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15219C61-75B2-5FC5-8A42-73B1F033F62A}"/>
              </a:ext>
            </a:extLst>
          </p:cNvPr>
          <p:cNvSpPr/>
          <p:nvPr/>
        </p:nvSpPr>
        <p:spPr>
          <a:xfrm>
            <a:off x="9217072" y="1280629"/>
            <a:ext cx="1804835" cy="260262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9" name="Segnaposto contenuto 2">
            <a:extLst>
              <a:ext uri="{FF2B5EF4-FFF2-40B4-BE49-F238E27FC236}">
                <a16:creationId xmlns:a16="http://schemas.microsoft.com/office/drawing/2014/main" id="{C32F8FE3-15A0-F6BA-092C-A32343A43904}"/>
              </a:ext>
            </a:extLst>
          </p:cNvPr>
          <p:cNvSpPr txBox="1">
            <a:spLocks/>
          </p:cNvSpPr>
          <p:nvPr/>
        </p:nvSpPr>
        <p:spPr bwMode="auto">
          <a:xfrm>
            <a:off x="9217072" y="995169"/>
            <a:ext cx="180483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Channel </a:t>
            </a:r>
            <a:r>
              <a:rPr lang="it-IT" sz="1100" dirty="0" err="1"/>
              <a:t>Attention</a:t>
            </a:r>
            <a:endParaRPr lang="it-IT" sz="1100" dirty="0"/>
          </a:p>
        </p:txBody>
      </p:sp>
      <p:sp>
        <p:nvSpPr>
          <p:cNvPr id="103" name="Rettangolo 102">
            <a:extLst>
              <a:ext uri="{FF2B5EF4-FFF2-40B4-BE49-F238E27FC236}">
                <a16:creationId xmlns:a16="http://schemas.microsoft.com/office/drawing/2014/main" id="{D2437FC0-9416-B4AF-C414-197A8F14ADCF}"/>
              </a:ext>
            </a:extLst>
          </p:cNvPr>
          <p:cNvSpPr/>
          <p:nvPr/>
        </p:nvSpPr>
        <p:spPr>
          <a:xfrm>
            <a:off x="9395015" y="2957347"/>
            <a:ext cx="1480870" cy="301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16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endParaRPr lang="it-IT" sz="1100" dirty="0"/>
          </a:p>
        </p:txBody>
      </p:sp>
      <p:sp>
        <p:nvSpPr>
          <p:cNvPr id="104" name="Rettangolo 103">
            <a:extLst>
              <a:ext uri="{FF2B5EF4-FFF2-40B4-BE49-F238E27FC236}">
                <a16:creationId xmlns:a16="http://schemas.microsoft.com/office/drawing/2014/main" id="{1CAD8CED-D8A0-F96E-9283-CE0BFFE26B66}"/>
              </a:ext>
            </a:extLst>
          </p:cNvPr>
          <p:cNvSpPr/>
          <p:nvPr/>
        </p:nvSpPr>
        <p:spPr>
          <a:xfrm>
            <a:off x="9705772" y="3467530"/>
            <a:ext cx="859355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Sigmoid</a:t>
            </a:r>
            <a:endParaRPr lang="it-IT" sz="1100" dirty="0"/>
          </a:p>
        </p:txBody>
      </p:sp>
      <p:cxnSp>
        <p:nvCxnSpPr>
          <p:cNvPr id="105" name="Connettore 2 104">
            <a:extLst>
              <a:ext uri="{FF2B5EF4-FFF2-40B4-BE49-F238E27FC236}">
                <a16:creationId xmlns:a16="http://schemas.microsoft.com/office/drawing/2014/main" id="{A9A4BDD9-5110-4953-4E88-5AA277648865}"/>
              </a:ext>
            </a:extLst>
          </p:cNvPr>
          <p:cNvCxnSpPr>
            <a:cxnSpLocks/>
            <a:stCxn id="103" idx="2"/>
            <a:endCxn id="104" idx="0"/>
          </p:cNvCxnSpPr>
          <p:nvPr/>
        </p:nvCxnSpPr>
        <p:spPr>
          <a:xfrm>
            <a:off x="10135450" y="3258409"/>
            <a:ext cx="0" cy="209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ttore 2 106">
            <a:extLst>
              <a:ext uri="{FF2B5EF4-FFF2-40B4-BE49-F238E27FC236}">
                <a16:creationId xmlns:a16="http://schemas.microsoft.com/office/drawing/2014/main" id="{0B7D4403-6A4B-DC59-A9B6-D8F12BE44F24}"/>
              </a:ext>
            </a:extLst>
          </p:cNvPr>
          <p:cNvCxnSpPr>
            <a:stCxn id="95" idx="2"/>
            <a:endCxn id="103" idx="0"/>
          </p:cNvCxnSpPr>
          <p:nvPr/>
        </p:nvCxnSpPr>
        <p:spPr>
          <a:xfrm flipH="1">
            <a:off x="10135450" y="2767141"/>
            <a:ext cx="1391" cy="190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ttore a gomito 111">
            <a:extLst>
              <a:ext uri="{FF2B5EF4-FFF2-40B4-BE49-F238E27FC236}">
                <a16:creationId xmlns:a16="http://schemas.microsoft.com/office/drawing/2014/main" id="{A1AADE31-360B-7E50-5419-9C2203B4EE3C}"/>
              </a:ext>
            </a:extLst>
          </p:cNvPr>
          <p:cNvCxnSpPr>
            <a:stCxn id="80" idx="3"/>
            <a:endCxn id="93" idx="1"/>
          </p:cNvCxnSpPr>
          <p:nvPr/>
        </p:nvCxnSpPr>
        <p:spPr>
          <a:xfrm flipV="1">
            <a:off x="8578084" y="1594991"/>
            <a:ext cx="818322" cy="6897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F1A22F41-4375-DD8D-C136-A6266F29711E}"/>
              </a:ext>
            </a:extLst>
          </p:cNvPr>
          <p:cNvSpPr/>
          <p:nvPr/>
        </p:nvSpPr>
        <p:spPr>
          <a:xfrm>
            <a:off x="9233031" y="4424091"/>
            <a:ext cx="1804835" cy="391879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Modulation</a:t>
            </a:r>
            <a:endParaRPr lang="it-IT" sz="1100" dirty="0"/>
          </a:p>
          <a:p>
            <a:pPr algn="ctr"/>
            <a:r>
              <a:rPr lang="it-IT" sz="1100" dirty="0"/>
              <a:t>(</a:t>
            </a:r>
            <a:r>
              <a:rPr lang="it-IT" sz="1100" dirty="0" err="1"/>
              <a:t>Element</a:t>
            </a:r>
            <a:r>
              <a:rPr lang="it-IT" sz="1100" dirty="0"/>
              <a:t>-wise </a:t>
            </a:r>
            <a:r>
              <a:rPr lang="it-IT" sz="1100" dirty="0" err="1"/>
              <a:t>multiply</a:t>
            </a:r>
            <a:r>
              <a:rPr lang="it-IT" sz="1100" dirty="0"/>
              <a:t>)</a:t>
            </a:r>
          </a:p>
        </p:txBody>
      </p:sp>
      <p:sp>
        <p:nvSpPr>
          <p:cNvPr id="119" name="Segnaposto contenuto 2">
            <a:extLst>
              <a:ext uri="{FF2B5EF4-FFF2-40B4-BE49-F238E27FC236}">
                <a16:creationId xmlns:a16="http://schemas.microsoft.com/office/drawing/2014/main" id="{87CC163D-71CF-7548-6EAB-9C9067E337C1}"/>
              </a:ext>
            </a:extLst>
          </p:cNvPr>
          <p:cNvSpPr txBox="1">
            <a:spLocks/>
          </p:cNvSpPr>
          <p:nvPr/>
        </p:nvSpPr>
        <p:spPr bwMode="auto">
          <a:xfrm>
            <a:off x="9678985" y="4834751"/>
            <a:ext cx="91292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/>
              <a:t>(128, 16, 16)</a:t>
            </a:r>
          </a:p>
        </p:txBody>
      </p:sp>
      <p:cxnSp>
        <p:nvCxnSpPr>
          <p:cNvPr id="121" name="Connettore 2 120">
            <a:extLst>
              <a:ext uri="{FF2B5EF4-FFF2-40B4-BE49-F238E27FC236}">
                <a16:creationId xmlns:a16="http://schemas.microsoft.com/office/drawing/2014/main" id="{0E052548-FE3E-AF22-D4C9-7612682FB8BC}"/>
              </a:ext>
            </a:extLst>
          </p:cNvPr>
          <p:cNvCxnSpPr>
            <a:cxnSpLocks/>
            <a:stCxn id="104" idx="2"/>
            <a:endCxn id="117" idx="0"/>
          </p:cNvCxnSpPr>
          <p:nvPr/>
        </p:nvCxnSpPr>
        <p:spPr>
          <a:xfrm flipH="1">
            <a:off x="10135449" y="3768592"/>
            <a:ext cx="1" cy="65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ttore a gomito 124">
            <a:extLst>
              <a:ext uri="{FF2B5EF4-FFF2-40B4-BE49-F238E27FC236}">
                <a16:creationId xmlns:a16="http://schemas.microsoft.com/office/drawing/2014/main" id="{78FC3626-2980-BC63-31EA-32A2A250CAF0}"/>
              </a:ext>
            </a:extLst>
          </p:cNvPr>
          <p:cNvCxnSpPr>
            <a:cxnSpLocks/>
            <a:stCxn id="93" idx="3"/>
            <a:endCxn id="117" idx="3"/>
          </p:cNvCxnSpPr>
          <p:nvPr/>
        </p:nvCxnSpPr>
        <p:spPr>
          <a:xfrm>
            <a:off x="10877276" y="1594991"/>
            <a:ext cx="160590" cy="3025040"/>
          </a:xfrm>
          <a:prstGeom prst="bentConnector3">
            <a:avLst>
              <a:gd name="adj1" fmla="val 2423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ttangolo 128">
            <a:extLst>
              <a:ext uri="{FF2B5EF4-FFF2-40B4-BE49-F238E27FC236}">
                <a16:creationId xmlns:a16="http://schemas.microsoft.com/office/drawing/2014/main" id="{68F3FEF5-601A-8C74-8177-F96AD1D98C98}"/>
              </a:ext>
            </a:extLst>
          </p:cNvPr>
          <p:cNvSpPr/>
          <p:nvPr/>
        </p:nvSpPr>
        <p:spPr>
          <a:xfrm>
            <a:off x="7060119" y="4096342"/>
            <a:ext cx="1208700" cy="335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</a:t>
            </a:r>
          </a:p>
          <a:p>
            <a:pPr algn="ctr"/>
            <a:r>
              <a:rPr lang="it-IT" sz="1100" dirty="0"/>
              <a:t>AvgPool2D</a:t>
            </a:r>
          </a:p>
        </p:txBody>
      </p:sp>
      <p:sp>
        <p:nvSpPr>
          <p:cNvPr id="131" name="Rettangolo 130">
            <a:extLst>
              <a:ext uri="{FF2B5EF4-FFF2-40B4-BE49-F238E27FC236}">
                <a16:creationId xmlns:a16="http://schemas.microsoft.com/office/drawing/2014/main" id="{1B1C5530-9CC6-A902-4153-CAD802033B70}"/>
              </a:ext>
            </a:extLst>
          </p:cNvPr>
          <p:cNvSpPr/>
          <p:nvPr/>
        </p:nvSpPr>
        <p:spPr>
          <a:xfrm>
            <a:off x="7060119" y="4820384"/>
            <a:ext cx="1208700" cy="335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</a:t>
            </a:r>
          </a:p>
          <a:p>
            <a:pPr algn="ctr"/>
            <a:r>
              <a:rPr lang="it-IT" sz="1100" dirty="0"/>
              <a:t>MaxPool2D</a:t>
            </a:r>
          </a:p>
        </p:txBody>
      </p:sp>
      <p:sp>
        <p:nvSpPr>
          <p:cNvPr id="133" name="Rettangolo 132">
            <a:extLst>
              <a:ext uri="{FF2B5EF4-FFF2-40B4-BE49-F238E27FC236}">
                <a16:creationId xmlns:a16="http://schemas.microsoft.com/office/drawing/2014/main" id="{29849007-68B3-E47F-50F6-CEAE864FCFEC}"/>
              </a:ext>
            </a:extLst>
          </p:cNvPr>
          <p:cNvSpPr/>
          <p:nvPr/>
        </p:nvSpPr>
        <p:spPr>
          <a:xfrm>
            <a:off x="5701238" y="4485264"/>
            <a:ext cx="912925" cy="3351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Concatenate</a:t>
            </a:r>
          </a:p>
          <a:p>
            <a:pPr algn="ctr"/>
            <a:r>
              <a:rPr lang="it-IT" sz="1100" dirty="0"/>
              <a:t>(256 </a:t>
            </a:r>
            <a:r>
              <a:rPr lang="it-IT" sz="1100" dirty="0" err="1"/>
              <a:t>values</a:t>
            </a:r>
            <a:r>
              <a:rPr lang="it-IT" sz="1100" dirty="0"/>
              <a:t>)</a:t>
            </a:r>
          </a:p>
        </p:txBody>
      </p:sp>
      <p:cxnSp>
        <p:nvCxnSpPr>
          <p:cNvPr id="137" name="Connettore a gomito 136">
            <a:extLst>
              <a:ext uri="{FF2B5EF4-FFF2-40B4-BE49-F238E27FC236}">
                <a16:creationId xmlns:a16="http://schemas.microsoft.com/office/drawing/2014/main" id="{5E0C4E26-B2E2-91BF-2F77-8211713980FE}"/>
              </a:ext>
            </a:extLst>
          </p:cNvPr>
          <p:cNvCxnSpPr>
            <a:cxnSpLocks/>
            <a:stCxn id="117" idx="1"/>
            <a:endCxn id="129" idx="3"/>
          </p:cNvCxnSpPr>
          <p:nvPr/>
        </p:nvCxnSpPr>
        <p:spPr>
          <a:xfrm rot="10800000">
            <a:off x="8268819" y="4263903"/>
            <a:ext cx="964212" cy="3561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ttore a gomito 138">
            <a:extLst>
              <a:ext uri="{FF2B5EF4-FFF2-40B4-BE49-F238E27FC236}">
                <a16:creationId xmlns:a16="http://schemas.microsoft.com/office/drawing/2014/main" id="{E0BF470F-0D10-3EB7-6260-A1C0C7CD5EF3}"/>
              </a:ext>
            </a:extLst>
          </p:cNvPr>
          <p:cNvCxnSpPr>
            <a:cxnSpLocks/>
            <a:stCxn id="117" idx="1"/>
            <a:endCxn id="131" idx="3"/>
          </p:cNvCxnSpPr>
          <p:nvPr/>
        </p:nvCxnSpPr>
        <p:spPr>
          <a:xfrm rot="10800000" flipV="1">
            <a:off x="8268819" y="4620030"/>
            <a:ext cx="964212" cy="3679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ttore a gomito 140">
            <a:extLst>
              <a:ext uri="{FF2B5EF4-FFF2-40B4-BE49-F238E27FC236}">
                <a16:creationId xmlns:a16="http://schemas.microsoft.com/office/drawing/2014/main" id="{1996F041-9595-BA93-0F93-C94A1BEF6F5A}"/>
              </a:ext>
            </a:extLst>
          </p:cNvPr>
          <p:cNvCxnSpPr>
            <a:stCxn id="129" idx="1"/>
            <a:endCxn id="133" idx="0"/>
          </p:cNvCxnSpPr>
          <p:nvPr/>
        </p:nvCxnSpPr>
        <p:spPr>
          <a:xfrm rot="10800000" flipV="1">
            <a:off x="6157701" y="4263902"/>
            <a:ext cx="902418" cy="2213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ttore a gomito 142">
            <a:extLst>
              <a:ext uri="{FF2B5EF4-FFF2-40B4-BE49-F238E27FC236}">
                <a16:creationId xmlns:a16="http://schemas.microsoft.com/office/drawing/2014/main" id="{E9234F3A-F5D5-AF9F-B2A6-1D1C6D8D7CD6}"/>
              </a:ext>
            </a:extLst>
          </p:cNvPr>
          <p:cNvCxnSpPr>
            <a:stCxn id="131" idx="1"/>
            <a:endCxn id="133" idx="2"/>
          </p:cNvCxnSpPr>
          <p:nvPr/>
        </p:nvCxnSpPr>
        <p:spPr>
          <a:xfrm rot="10800000">
            <a:off x="6157701" y="4820384"/>
            <a:ext cx="902418" cy="1675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ttangolo 144">
            <a:extLst>
              <a:ext uri="{FF2B5EF4-FFF2-40B4-BE49-F238E27FC236}">
                <a16:creationId xmlns:a16="http://schemas.microsoft.com/office/drawing/2014/main" id="{C64FE195-7159-5DBE-5F7C-3485A11E3D0C}"/>
              </a:ext>
            </a:extLst>
          </p:cNvPr>
          <p:cNvSpPr/>
          <p:nvPr/>
        </p:nvSpPr>
        <p:spPr>
          <a:xfrm>
            <a:off x="4141215" y="5114774"/>
            <a:ext cx="547200" cy="302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sp>
        <p:nvSpPr>
          <p:cNvPr id="147" name="Rettangolo 146">
            <a:extLst>
              <a:ext uri="{FF2B5EF4-FFF2-40B4-BE49-F238E27FC236}">
                <a16:creationId xmlns:a16="http://schemas.microsoft.com/office/drawing/2014/main" id="{AE08AE4B-26F8-3FEF-0BDA-BB769653996B}"/>
              </a:ext>
            </a:extLst>
          </p:cNvPr>
          <p:cNvSpPr/>
          <p:nvPr/>
        </p:nvSpPr>
        <p:spPr>
          <a:xfrm>
            <a:off x="3810466" y="4480851"/>
            <a:ext cx="1208700" cy="335120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Linear </a:t>
            </a:r>
          </a:p>
          <a:p>
            <a:pPr algn="ctr"/>
            <a:r>
              <a:rPr lang="it-IT" sz="1100" dirty="0"/>
              <a:t>256 </a:t>
            </a:r>
            <a:r>
              <a:rPr lang="it-IT" sz="1100" dirty="0">
                <a:sym typeface="Wingdings" panose="05000000000000000000" pitchFamily="2" charset="2"/>
              </a:rPr>
              <a:t> 60</a:t>
            </a:r>
            <a:endParaRPr lang="it-IT" sz="1100" dirty="0"/>
          </a:p>
        </p:txBody>
      </p:sp>
      <p:sp>
        <p:nvSpPr>
          <p:cNvPr id="149" name="Rettangolo 148">
            <a:extLst>
              <a:ext uri="{FF2B5EF4-FFF2-40B4-BE49-F238E27FC236}">
                <a16:creationId xmlns:a16="http://schemas.microsoft.com/office/drawing/2014/main" id="{E3D9201C-356B-067D-2C81-82442D114190}"/>
              </a:ext>
            </a:extLst>
          </p:cNvPr>
          <p:cNvSpPr/>
          <p:nvPr/>
        </p:nvSpPr>
        <p:spPr>
          <a:xfrm>
            <a:off x="2040176" y="4491919"/>
            <a:ext cx="1208700" cy="33512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Dropout 0.30</a:t>
            </a:r>
          </a:p>
        </p:txBody>
      </p:sp>
      <p:sp>
        <p:nvSpPr>
          <p:cNvPr id="151" name="Rettangolo 150">
            <a:extLst>
              <a:ext uri="{FF2B5EF4-FFF2-40B4-BE49-F238E27FC236}">
                <a16:creationId xmlns:a16="http://schemas.microsoft.com/office/drawing/2014/main" id="{96826A75-C991-2DDF-337D-5F6FF050250D}"/>
              </a:ext>
            </a:extLst>
          </p:cNvPr>
          <p:cNvSpPr/>
          <p:nvPr/>
        </p:nvSpPr>
        <p:spPr>
          <a:xfrm>
            <a:off x="2040176" y="5071195"/>
            <a:ext cx="1208700" cy="33512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Linear</a:t>
            </a:r>
          </a:p>
          <a:p>
            <a:pPr algn="ctr"/>
            <a:r>
              <a:rPr lang="it-IT" sz="1100" dirty="0"/>
              <a:t>64 </a:t>
            </a:r>
            <a:r>
              <a:rPr lang="it-IT" sz="1100" dirty="0">
                <a:sym typeface="Wingdings" panose="05000000000000000000" pitchFamily="2" charset="2"/>
              </a:rPr>
              <a:t> 1</a:t>
            </a:r>
            <a:endParaRPr lang="it-IT" sz="1100" dirty="0"/>
          </a:p>
        </p:txBody>
      </p:sp>
      <p:sp>
        <p:nvSpPr>
          <p:cNvPr id="155" name="Rettangolo 154">
            <a:extLst>
              <a:ext uri="{FF2B5EF4-FFF2-40B4-BE49-F238E27FC236}">
                <a16:creationId xmlns:a16="http://schemas.microsoft.com/office/drawing/2014/main" id="{5C13E161-8E80-68D4-FA05-B61A3A47D503}"/>
              </a:ext>
            </a:extLst>
          </p:cNvPr>
          <p:cNvSpPr/>
          <p:nvPr/>
        </p:nvSpPr>
        <p:spPr>
          <a:xfrm>
            <a:off x="484201" y="5071195"/>
            <a:ext cx="774502" cy="3351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Logit</a:t>
            </a:r>
            <a:r>
              <a:rPr lang="it-IT" sz="1100" dirty="0"/>
              <a:t> Loss</a:t>
            </a:r>
          </a:p>
        </p:txBody>
      </p:sp>
      <p:sp>
        <p:nvSpPr>
          <p:cNvPr id="157" name="Rettangolo 156">
            <a:extLst>
              <a:ext uri="{FF2B5EF4-FFF2-40B4-BE49-F238E27FC236}">
                <a16:creationId xmlns:a16="http://schemas.microsoft.com/office/drawing/2014/main" id="{1740FED5-3593-FE4E-17C2-F7E75886CD59}"/>
              </a:ext>
            </a:extLst>
          </p:cNvPr>
          <p:cNvSpPr/>
          <p:nvPr/>
        </p:nvSpPr>
        <p:spPr>
          <a:xfrm>
            <a:off x="489770" y="4491919"/>
            <a:ext cx="768933" cy="3351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Sigmoid</a:t>
            </a:r>
            <a:endParaRPr lang="it-IT" sz="1100" dirty="0"/>
          </a:p>
        </p:txBody>
      </p:sp>
      <p:sp>
        <p:nvSpPr>
          <p:cNvPr id="159" name="Rettangolo con angoli arrotondati 158">
            <a:extLst>
              <a:ext uri="{FF2B5EF4-FFF2-40B4-BE49-F238E27FC236}">
                <a16:creationId xmlns:a16="http://schemas.microsoft.com/office/drawing/2014/main" id="{563500BC-84A5-8F14-C979-CE191FAFDD44}"/>
              </a:ext>
            </a:extLst>
          </p:cNvPr>
          <p:cNvSpPr/>
          <p:nvPr/>
        </p:nvSpPr>
        <p:spPr>
          <a:xfrm>
            <a:off x="1753111" y="4150339"/>
            <a:ext cx="3586480" cy="167067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1" name="Segnaposto contenuto 2">
            <a:extLst>
              <a:ext uri="{FF2B5EF4-FFF2-40B4-BE49-F238E27FC236}">
                <a16:creationId xmlns:a16="http://schemas.microsoft.com/office/drawing/2014/main" id="{8DFE6F0A-80A3-002E-2F58-B116220900B2}"/>
              </a:ext>
            </a:extLst>
          </p:cNvPr>
          <p:cNvSpPr txBox="1">
            <a:spLocks/>
          </p:cNvSpPr>
          <p:nvPr/>
        </p:nvSpPr>
        <p:spPr bwMode="auto">
          <a:xfrm>
            <a:off x="1753111" y="3910539"/>
            <a:ext cx="3586480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FFNN </a:t>
            </a:r>
            <a:r>
              <a:rPr lang="it-IT" sz="1100" dirty="0" err="1"/>
              <a:t>Classifier</a:t>
            </a:r>
            <a:endParaRPr lang="it-IT" sz="1100" dirty="0"/>
          </a:p>
        </p:txBody>
      </p:sp>
      <p:sp>
        <p:nvSpPr>
          <p:cNvPr id="163" name="Segnaposto contenuto 2">
            <a:extLst>
              <a:ext uri="{FF2B5EF4-FFF2-40B4-BE49-F238E27FC236}">
                <a16:creationId xmlns:a16="http://schemas.microsoft.com/office/drawing/2014/main" id="{BCD4B916-0D12-E45D-E144-FA7275369479}"/>
              </a:ext>
            </a:extLst>
          </p:cNvPr>
          <p:cNvSpPr txBox="1">
            <a:spLocks/>
          </p:cNvSpPr>
          <p:nvPr/>
        </p:nvSpPr>
        <p:spPr bwMode="auto">
          <a:xfrm>
            <a:off x="681486" y="1479447"/>
            <a:ext cx="1050793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Input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447B301A-EDEE-0ECA-0655-9DFE2A5C5966}"/>
              </a:ext>
            </a:extLst>
          </p:cNvPr>
          <p:cNvCxnSpPr>
            <a:stCxn id="133" idx="1"/>
            <a:endCxn id="147" idx="3"/>
          </p:cNvCxnSpPr>
          <p:nvPr/>
        </p:nvCxnSpPr>
        <p:spPr>
          <a:xfrm flipH="1" flipV="1">
            <a:off x="5019166" y="4648411"/>
            <a:ext cx="682072" cy="4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ttore 2 167">
            <a:extLst>
              <a:ext uri="{FF2B5EF4-FFF2-40B4-BE49-F238E27FC236}">
                <a16:creationId xmlns:a16="http://schemas.microsoft.com/office/drawing/2014/main" id="{A363BEFA-4905-9B3F-D9F3-7C8042F2BD90}"/>
              </a:ext>
            </a:extLst>
          </p:cNvPr>
          <p:cNvCxnSpPr>
            <a:stCxn id="147" idx="2"/>
            <a:endCxn id="145" idx="0"/>
          </p:cNvCxnSpPr>
          <p:nvPr/>
        </p:nvCxnSpPr>
        <p:spPr>
          <a:xfrm flipH="1">
            <a:off x="4414815" y="4815971"/>
            <a:ext cx="1" cy="298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ttore a gomito 169">
            <a:extLst>
              <a:ext uri="{FF2B5EF4-FFF2-40B4-BE49-F238E27FC236}">
                <a16:creationId xmlns:a16="http://schemas.microsoft.com/office/drawing/2014/main" id="{5DDEAE3F-8E3E-3B5D-BAE2-77817C92211E}"/>
              </a:ext>
            </a:extLst>
          </p:cNvPr>
          <p:cNvCxnSpPr>
            <a:stCxn id="145" idx="2"/>
            <a:endCxn id="149" idx="0"/>
          </p:cNvCxnSpPr>
          <p:nvPr/>
        </p:nvCxnSpPr>
        <p:spPr>
          <a:xfrm rot="5400000" flipH="1">
            <a:off x="3067043" y="4069403"/>
            <a:ext cx="925255" cy="1770289"/>
          </a:xfrm>
          <a:prstGeom prst="bentConnector5">
            <a:avLst>
              <a:gd name="adj1" fmla="val -24707"/>
              <a:gd name="adj2" fmla="val 40658"/>
              <a:gd name="adj3" fmla="val 1247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ttore 2 171">
            <a:extLst>
              <a:ext uri="{FF2B5EF4-FFF2-40B4-BE49-F238E27FC236}">
                <a16:creationId xmlns:a16="http://schemas.microsoft.com/office/drawing/2014/main" id="{47E5E24A-F5DC-050A-7296-E5D02210B3DD}"/>
              </a:ext>
            </a:extLst>
          </p:cNvPr>
          <p:cNvCxnSpPr>
            <a:stCxn id="149" idx="2"/>
            <a:endCxn id="151" idx="0"/>
          </p:cNvCxnSpPr>
          <p:nvPr/>
        </p:nvCxnSpPr>
        <p:spPr>
          <a:xfrm>
            <a:off x="2644526" y="4827039"/>
            <a:ext cx="0" cy="244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ttore a gomito 173">
            <a:extLst>
              <a:ext uri="{FF2B5EF4-FFF2-40B4-BE49-F238E27FC236}">
                <a16:creationId xmlns:a16="http://schemas.microsoft.com/office/drawing/2014/main" id="{72D8D910-E9A8-BDF5-4C28-1936412A511B}"/>
              </a:ext>
            </a:extLst>
          </p:cNvPr>
          <p:cNvCxnSpPr>
            <a:cxnSpLocks/>
            <a:stCxn id="151" idx="2"/>
            <a:endCxn id="155" idx="2"/>
          </p:cNvCxnSpPr>
          <p:nvPr/>
        </p:nvCxnSpPr>
        <p:spPr>
          <a:xfrm rot="5400000">
            <a:off x="1757989" y="4519778"/>
            <a:ext cx="12700" cy="1773074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ttore 2 177">
            <a:extLst>
              <a:ext uri="{FF2B5EF4-FFF2-40B4-BE49-F238E27FC236}">
                <a16:creationId xmlns:a16="http://schemas.microsoft.com/office/drawing/2014/main" id="{B4D87199-E0CF-4B54-281E-1B43BA765A01}"/>
              </a:ext>
            </a:extLst>
          </p:cNvPr>
          <p:cNvCxnSpPr>
            <a:cxnSpLocks/>
            <a:stCxn id="155" idx="0"/>
            <a:endCxn id="157" idx="2"/>
          </p:cNvCxnSpPr>
          <p:nvPr/>
        </p:nvCxnSpPr>
        <p:spPr>
          <a:xfrm flipV="1">
            <a:off x="871452" y="4827039"/>
            <a:ext cx="2785" cy="244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ttore a gomito 179">
            <a:extLst>
              <a:ext uri="{FF2B5EF4-FFF2-40B4-BE49-F238E27FC236}">
                <a16:creationId xmlns:a16="http://schemas.microsoft.com/office/drawing/2014/main" id="{6F5E73CC-4502-02E6-BDE4-218D121D0603}"/>
              </a:ext>
            </a:extLst>
          </p:cNvPr>
          <p:cNvCxnSpPr>
            <a:stCxn id="151" idx="1"/>
            <a:endCxn id="157" idx="3"/>
          </p:cNvCxnSpPr>
          <p:nvPr/>
        </p:nvCxnSpPr>
        <p:spPr>
          <a:xfrm rot="10800000">
            <a:off x="1258704" y="4659479"/>
            <a:ext cx="781473" cy="579276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Segnaposto contenuto 2">
            <a:extLst>
              <a:ext uri="{FF2B5EF4-FFF2-40B4-BE49-F238E27FC236}">
                <a16:creationId xmlns:a16="http://schemas.microsoft.com/office/drawing/2014/main" id="{986B5EA1-5DC9-2346-CC41-F56237572E2D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951222" y="4564589"/>
            <a:ext cx="1079369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 err="1">
                <a:solidFill>
                  <a:srgbClr val="ACCCE9"/>
                </a:solidFill>
              </a:rPr>
              <a:t>Inference</a:t>
            </a:r>
            <a:r>
              <a:rPr lang="it-IT" sz="1000" dirty="0">
                <a:solidFill>
                  <a:srgbClr val="ACCCE9"/>
                </a:solidFill>
              </a:rPr>
              <a:t> </a:t>
            </a:r>
            <a:r>
              <a:rPr lang="it-IT" sz="1000" dirty="0" err="1">
                <a:solidFill>
                  <a:srgbClr val="ACCCE9"/>
                </a:solidFill>
              </a:rPr>
              <a:t>only</a:t>
            </a:r>
            <a:endParaRPr lang="it-IT" sz="1000" dirty="0">
              <a:solidFill>
                <a:srgbClr val="ACCCE9"/>
              </a:solidFill>
            </a:endParaRPr>
          </a:p>
        </p:txBody>
      </p:sp>
      <p:sp>
        <p:nvSpPr>
          <p:cNvPr id="198" name="Titolo 1">
            <a:extLst>
              <a:ext uri="{FF2B5EF4-FFF2-40B4-BE49-F238E27FC236}">
                <a16:creationId xmlns:a16="http://schemas.microsoft.com/office/drawing/2014/main" id="{EB62B2BA-54B6-B6FA-E4DD-675B34FD886F}"/>
              </a:ext>
            </a:extLst>
          </p:cNvPr>
          <p:cNvSpPr txBox="1">
            <a:spLocks/>
          </p:cNvSpPr>
          <p:nvPr/>
        </p:nvSpPr>
        <p:spPr bwMode="auto">
          <a:xfrm>
            <a:off x="11449733" y="138154"/>
            <a:ext cx="428417" cy="644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it-IT" sz="3200" dirty="0"/>
              <a:t>1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4A84E83C-1B7A-4DC8-C287-72CBD5D80B56}"/>
              </a:ext>
            </a:extLst>
          </p:cNvPr>
          <p:cNvSpPr txBox="1">
            <a:spLocks/>
          </p:cNvSpPr>
          <p:nvPr/>
        </p:nvSpPr>
        <p:spPr bwMode="auto">
          <a:xfrm>
            <a:off x="595221" y="5992126"/>
            <a:ext cx="10910978" cy="500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400" baseline="30000" dirty="0"/>
              <a:t>5</a:t>
            </a:r>
            <a:r>
              <a:rPr lang="it-IT" sz="1400" dirty="0"/>
              <a:t>Used </a:t>
            </a:r>
            <a:r>
              <a:rPr lang="it-IT" sz="1400" b="1" dirty="0" err="1"/>
              <a:t>GroupNorm</a:t>
            </a:r>
            <a:r>
              <a:rPr lang="it-IT" sz="1400" dirty="0"/>
              <a:t> for </a:t>
            </a:r>
            <a:r>
              <a:rPr lang="it-IT" sz="1400" dirty="0" err="1"/>
              <a:t>memory</a:t>
            </a:r>
            <a:r>
              <a:rPr lang="it-IT" sz="1400" dirty="0"/>
              <a:t> </a:t>
            </a:r>
            <a:r>
              <a:rPr lang="it-IT" sz="1400" dirty="0" err="1"/>
              <a:t>saving</a:t>
            </a:r>
            <a:r>
              <a:rPr lang="it-IT" sz="1400" dirty="0"/>
              <a:t> </a:t>
            </a:r>
            <a:r>
              <a:rPr lang="it-IT" sz="1400" dirty="0" err="1"/>
              <a:t>purposes</a:t>
            </a:r>
            <a:r>
              <a:rPr lang="it-IT" sz="1400" dirty="0"/>
              <a:t>. </a:t>
            </a:r>
            <a:r>
              <a:rPr lang="it-IT" sz="1400" dirty="0" err="1"/>
              <a:t>It</a:t>
            </a:r>
            <a:r>
              <a:rPr lang="it-IT" sz="1400" dirty="0"/>
              <a:t> </a:t>
            </a:r>
            <a:r>
              <a:rPr lang="it-IT" sz="1400" dirty="0" err="1"/>
              <a:t>normalizes</a:t>
            </a:r>
            <a:r>
              <a:rPr lang="it-IT" sz="1400" dirty="0"/>
              <a:t> </a:t>
            </a:r>
            <a:r>
              <a:rPr lang="it-IT" sz="1400" dirty="0" err="1"/>
              <a:t>each</a:t>
            </a:r>
            <a:r>
              <a:rPr lang="it-IT" sz="1400" dirty="0"/>
              <a:t> </a:t>
            </a:r>
            <a:r>
              <a:rPr lang="it-IT" sz="1400" dirty="0" err="1"/>
              <a:t>example</a:t>
            </a:r>
            <a:r>
              <a:rPr lang="it-IT" sz="1400" dirty="0"/>
              <a:t> one </a:t>
            </a:r>
            <a:r>
              <a:rPr lang="it-IT" sz="1400" dirty="0" err="1"/>
              <a:t>at</a:t>
            </a:r>
            <a:r>
              <a:rPr lang="it-IT" sz="1400" dirty="0"/>
              <a:t> the time </a:t>
            </a:r>
            <a:r>
              <a:rPr lang="it-IT" sz="1400" dirty="0" err="1"/>
              <a:t>instead</a:t>
            </a:r>
            <a:r>
              <a:rPr lang="it-IT" sz="1400" dirty="0"/>
              <a:t> of </a:t>
            </a:r>
            <a:r>
              <a:rPr lang="it-IT" sz="1400" dirty="0" err="1"/>
              <a:t>BatchNorm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normalizes</a:t>
            </a:r>
            <a:r>
              <a:rPr lang="it-IT" sz="1400" dirty="0"/>
              <a:t> a batch of </a:t>
            </a:r>
            <a:r>
              <a:rPr lang="it-IT" sz="1400" dirty="0" err="1"/>
              <a:t>examples</a:t>
            </a:r>
            <a:r>
              <a:rPr lang="it-IT" sz="1400" dirty="0"/>
              <a:t>.  </a:t>
            </a:r>
            <a:r>
              <a:rPr lang="it-IT" sz="1400" dirty="0" err="1"/>
              <a:t>GroupNorm</a:t>
            </a:r>
            <a:r>
              <a:rPr lang="it-IT" sz="1400" dirty="0"/>
              <a:t>, after Conv1x1 </a:t>
            </a:r>
            <a:r>
              <a:rPr lang="it-IT" sz="1400" dirty="0" err="1"/>
              <a:t>divides</a:t>
            </a:r>
            <a:r>
              <a:rPr lang="it-IT" sz="1400" dirty="0"/>
              <a:t> a single </a:t>
            </a:r>
            <a:r>
              <a:rPr lang="it-IT" sz="1400" dirty="0" err="1"/>
              <a:t>example</a:t>
            </a:r>
            <a:r>
              <a:rPr lang="it-IT" sz="1400" dirty="0"/>
              <a:t> (128, 16, 16) </a:t>
            </a:r>
            <a:r>
              <a:rPr lang="it-IT" sz="1400" dirty="0" err="1"/>
              <a:t>into</a:t>
            </a:r>
            <a:r>
              <a:rPr lang="it-IT" sz="1400" dirty="0"/>
              <a:t> 8 groups of (16, 16, 16) and </a:t>
            </a:r>
            <a:r>
              <a:rPr lang="it-IT" sz="1400" dirty="0" err="1"/>
              <a:t>normalizes</a:t>
            </a:r>
            <a:r>
              <a:rPr lang="it-IT" sz="1400" dirty="0"/>
              <a:t> </a:t>
            </a:r>
            <a:r>
              <a:rPr lang="it-IT" sz="1400" dirty="0" err="1"/>
              <a:t>each</a:t>
            </a:r>
            <a:r>
              <a:rPr lang="it-IT" sz="1400" dirty="0"/>
              <a:t> of </a:t>
            </a:r>
            <a:r>
              <a:rPr lang="it-IT" sz="1400" dirty="0" err="1"/>
              <a:t>them</a:t>
            </a:r>
            <a:r>
              <a:rPr lang="it-IT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7833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43D95-05D0-5158-77B8-B1374DD28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3EF00F-9413-A7D5-A423-DB4B281E9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477"/>
            <a:ext cx="3298614" cy="644166"/>
          </a:xfrm>
        </p:spPr>
        <p:txBody>
          <a:bodyPr/>
          <a:lstStyle/>
          <a:p>
            <a:r>
              <a:rPr lang="it-IT" sz="3200" dirty="0"/>
              <a:t>CNN </a:t>
            </a:r>
            <a:r>
              <a:rPr lang="it-IT" sz="3200" dirty="0" err="1"/>
              <a:t>Spatial</a:t>
            </a:r>
            <a:r>
              <a:rPr lang="it-IT" sz="3200" dirty="0"/>
              <a:t> Head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6C939B4-5FA1-B753-14E7-C317E3FAFC1D}"/>
              </a:ext>
            </a:extLst>
          </p:cNvPr>
          <p:cNvSpPr/>
          <p:nvPr/>
        </p:nvSpPr>
        <p:spPr>
          <a:xfrm>
            <a:off x="681487" y="1207698"/>
            <a:ext cx="1050793" cy="5652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Feature </a:t>
            </a:r>
            <a:r>
              <a:rPr lang="it-IT" sz="1100" dirty="0" err="1"/>
              <a:t>Map</a:t>
            </a:r>
            <a:r>
              <a:rPr lang="it-IT" sz="1100" dirty="0"/>
              <a:t> Normalizzata</a:t>
            </a:r>
          </a:p>
          <a:p>
            <a:pPr algn="ctr"/>
            <a:r>
              <a:rPr lang="it-IT" sz="1100" dirty="0"/>
              <a:t>(1280, 16, 16)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FB567C5-919F-9E66-93CE-076B27C54044}"/>
              </a:ext>
            </a:extLst>
          </p:cNvPr>
          <p:cNvSpPr/>
          <p:nvPr/>
        </p:nvSpPr>
        <p:spPr>
          <a:xfrm>
            <a:off x="2406067" y="1300300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1280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A4F52176-2C0A-53EE-188B-D16DC6AB8FC8}"/>
              </a:ext>
            </a:extLst>
          </p:cNvPr>
          <p:cNvSpPr/>
          <p:nvPr/>
        </p:nvSpPr>
        <p:spPr>
          <a:xfrm>
            <a:off x="2406067" y="1870326"/>
            <a:ext cx="944113" cy="30106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3B4C2FF7-20D7-1108-9A3C-35B1115FFE3F}"/>
              </a:ext>
            </a:extLst>
          </p:cNvPr>
          <p:cNvSpPr/>
          <p:nvPr/>
        </p:nvSpPr>
        <p:spPr>
          <a:xfrm>
            <a:off x="2604186" y="2361397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55DD8B38-3C2A-5915-A548-286A676A101A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732280" y="1490309"/>
            <a:ext cx="6737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407C0718-27F0-B95B-A102-A2C71C72C455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2878124" y="1680317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FBF78D42-9175-0D0B-C402-44F7B8219CD0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flipH="1">
            <a:off x="2878123" y="2171388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ttangolo 41">
            <a:extLst>
              <a:ext uri="{FF2B5EF4-FFF2-40B4-BE49-F238E27FC236}">
                <a16:creationId xmlns:a16="http://schemas.microsoft.com/office/drawing/2014/main" id="{8802CC55-CC56-EB2D-A8D3-C14EA8272C63}"/>
              </a:ext>
            </a:extLst>
          </p:cNvPr>
          <p:cNvSpPr/>
          <p:nvPr/>
        </p:nvSpPr>
        <p:spPr>
          <a:xfrm>
            <a:off x="4232568" y="1300300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Conv3x3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08F93CAA-0631-F9DB-0E9E-34992B454959}"/>
              </a:ext>
            </a:extLst>
          </p:cNvPr>
          <p:cNvSpPr/>
          <p:nvPr/>
        </p:nvSpPr>
        <p:spPr>
          <a:xfrm>
            <a:off x="4232568" y="1870326"/>
            <a:ext cx="944113" cy="301062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93B2B4E9-0D87-0226-3BC6-B8A80B7AD56B}"/>
              </a:ext>
            </a:extLst>
          </p:cNvPr>
          <p:cNvSpPr/>
          <p:nvPr/>
        </p:nvSpPr>
        <p:spPr>
          <a:xfrm>
            <a:off x="4430687" y="2361397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C5CD8B28-65DA-8294-6447-A086E2245675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4704625" y="1680317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8F120AF5-DD4A-46E4-7577-C271C22C20A4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 flipH="1">
            <a:off x="4704624" y="2171388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ttangolo 48">
            <a:extLst>
              <a:ext uri="{FF2B5EF4-FFF2-40B4-BE49-F238E27FC236}">
                <a16:creationId xmlns:a16="http://schemas.microsoft.com/office/drawing/2014/main" id="{92C91157-74D2-6FE6-50D4-DD16668C953C}"/>
              </a:ext>
            </a:extLst>
          </p:cNvPr>
          <p:cNvSpPr/>
          <p:nvPr/>
        </p:nvSpPr>
        <p:spPr>
          <a:xfrm>
            <a:off x="5742095" y="1300300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68D36D30-C2E1-D85D-F3E3-055190CE7410}"/>
              </a:ext>
            </a:extLst>
          </p:cNvPr>
          <p:cNvSpPr/>
          <p:nvPr/>
        </p:nvSpPr>
        <p:spPr>
          <a:xfrm>
            <a:off x="5742095" y="1870326"/>
            <a:ext cx="944113" cy="301062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3793B3CF-6F80-EE17-6ADA-B19CC92787BC}"/>
              </a:ext>
            </a:extLst>
          </p:cNvPr>
          <p:cNvSpPr/>
          <p:nvPr/>
        </p:nvSpPr>
        <p:spPr>
          <a:xfrm>
            <a:off x="5940214" y="2361397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D9743C78-6954-9C56-DC01-6EA624FD636B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>
            <a:off x="6214152" y="1680317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B050632D-61FB-29EA-EA80-17C98AC01D8D}"/>
              </a:ext>
            </a:extLst>
          </p:cNvPr>
          <p:cNvCxnSpPr>
            <a:stCxn id="50" idx="2"/>
            <a:endCxn id="51" idx="0"/>
          </p:cNvCxnSpPr>
          <p:nvPr/>
        </p:nvCxnSpPr>
        <p:spPr>
          <a:xfrm flipH="1">
            <a:off x="6214151" y="2171388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a gomito 54">
            <a:extLst>
              <a:ext uri="{FF2B5EF4-FFF2-40B4-BE49-F238E27FC236}">
                <a16:creationId xmlns:a16="http://schemas.microsoft.com/office/drawing/2014/main" id="{FA129345-116A-5B2A-FC46-E3498E499638}"/>
              </a:ext>
            </a:extLst>
          </p:cNvPr>
          <p:cNvCxnSpPr>
            <a:stCxn id="16" idx="2"/>
            <a:endCxn id="42" idx="0"/>
          </p:cNvCxnSpPr>
          <p:nvPr/>
        </p:nvCxnSpPr>
        <p:spPr>
          <a:xfrm rot="5400000" flipH="1" flipV="1">
            <a:off x="3110294" y="1068129"/>
            <a:ext cx="1362159" cy="1826502"/>
          </a:xfrm>
          <a:prstGeom prst="bentConnector5">
            <a:avLst>
              <a:gd name="adj1" fmla="val -16782"/>
              <a:gd name="adj2" fmla="val 44576"/>
              <a:gd name="adj3" fmla="val 1167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a gomito 56">
            <a:extLst>
              <a:ext uri="{FF2B5EF4-FFF2-40B4-BE49-F238E27FC236}">
                <a16:creationId xmlns:a16="http://schemas.microsoft.com/office/drawing/2014/main" id="{2557822F-58BB-6CCE-E714-82F8ACE3CE35}"/>
              </a:ext>
            </a:extLst>
          </p:cNvPr>
          <p:cNvCxnSpPr>
            <a:stCxn id="44" idx="2"/>
            <a:endCxn id="49" idx="0"/>
          </p:cNvCxnSpPr>
          <p:nvPr/>
        </p:nvCxnSpPr>
        <p:spPr>
          <a:xfrm rot="5400000" flipH="1" flipV="1">
            <a:off x="4778308" y="1226616"/>
            <a:ext cx="1362159" cy="1509528"/>
          </a:xfrm>
          <a:prstGeom prst="bentConnector5">
            <a:avLst>
              <a:gd name="adj1" fmla="val -16782"/>
              <a:gd name="adj2" fmla="val 43438"/>
              <a:gd name="adj3" fmla="val 1167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e 57">
            <a:extLst>
              <a:ext uri="{FF2B5EF4-FFF2-40B4-BE49-F238E27FC236}">
                <a16:creationId xmlns:a16="http://schemas.microsoft.com/office/drawing/2014/main" id="{C6B03F9F-2397-09E6-FDD8-31C0D3D8B991}"/>
              </a:ext>
            </a:extLst>
          </p:cNvPr>
          <p:cNvSpPr/>
          <p:nvPr/>
        </p:nvSpPr>
        <p:spPr>
          <a:xfrm>
            <a:off x="7276253" y="1615440"/>
            <a:ext cx="292336" cy="2548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63" name="Connettore a gomito 62">
            <a:extLst>
              <a:ext uri="{FF2B5EF4-FFF2-40B4-BE49-F238E27FC236}">
                <a16:creationId xmlns:a16="http://schemas.microsoft.com/office/drawing/2014/main" id="{5CD0F84D-B895-CAEB-475F-B598D90D8664}"/>
              </a:ext>
            </a:extLst>
          </p:cNvPr>
          <p:cNvCxnSpPr>
            <a:stCxn id="51" idx="2"/>
            <a:endCxn id="58" idx="4"/>
          </p:cNvCxnSpPr>
          <p:nvPr/>
        </p:nvCxnSpPr>
        <p:spPr>
          <a:xfrm rot="5400000" flipH="1" flipV="1">
            <a:off x="6422219" y="1662258"/>
            <a:ext cx="792133" cy="1208270"/>
          </a:xfrm>
          <a:prstGeom prst="bentConnector3">
            <a:avLst>
              <a:gd name="adj1" fmla="val -288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ttangolo con angoli arrotondati 63">
            <a:extLst>
              <a:ext uri="{FF2B5EF4-FFF2-40B4-BE49-F238E27FC236}">
                <a16:creationId xmlns:a16="http://schemas.microsoft.com/office/drawing/2014/main" id="{B9A011B9-B3A4-44BC-A250-BCB1A8495C02}"/>
              </a:ext>
            </a:extLst>
          </p:cNvPr>
          <p:cNvSpPr/>
          <p:nvPr/>
        </p:nvSpPr>
        <p:spPr>
          <a:xfrm>
            <a:off x="4136814" y="782320"/>
            <a:ext cx="3586480" cy="235204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B37731EE-2600-0864-6187-FE3898CBB402}"/>
              </a:ext>
            </a:extLst>
          </p:cNvPr>
          <p:cNvSpPr/>
          <p:nvPr/>
        </p:nvSpPr>
        <p:spPr>
          <a:xfrm>
            <a:off x="2231047" y="1207698"/>
            <a:ext cx="1265306" cy="156597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4" name="Connettore a gomito 73">
            <a:extLst>
              <a:ext uri="{FF2B5EF4-FFF2-40B4-BE49-F238E27FC236}">
                <a16:creationId xmlns:a16="http://schemas.microsoft.com/office/drawing/2014/main" id="{A7A275D1-A400-FB13-35D6-D635F45EAEE0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4704623" y="906201"/>
            <a:ext cx="2717798" cy="709239"/>
          </a:xfrm>
          <a:prstGeom prst="bentConnector2">
            <a:avLst/>
          </a:prstGeom>
          <a:ln>
            <a:prstDash val="lgDashDot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Connettore diritto 77">
            <a:extLst>
              <a:ext uri="{FF2B5EF4-FFF2-40B4-BE49-F238E27FC236}">
                <a16:creationId xmlns:a16="http://schemas.microsoft.com/office/drawing/2014/main" id="{BC777637-21B7-35E9-9961-62475C16C5F8}"/>
              </a:ext>
            </a:extLst>
          </p:cNvPr>
          <p:cNvCxnSpPr/>
          <p:nvPr/>
        </p:nvCxnSpPr>
        <p:spPr>
          <a:xfrm flipV="1">
            <a:off x="4704623" y="901700"/>
            <a:ext cx="0" cy="169863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Rettangolo 79">
            <a:extLst>
              <a:ext uri="{FF2B5EF4-FFF2-40B4-BE49-F238E27FC236}">
                <a16:creationId xmlns:a16="http://schemas.microsoft.com/office/drawing/2014/main" id="{C6B7DEBD-D05B-5D3B-64FC-4695563C9953}"/>
              </a:ext>
            </a:extLst>
          </p:cNvPr>
          <p:cNvSpPr/>
          <p:nvPr/>
        </p:nvSpPr>
        <p:spPr>
          <a:xfrm>
            <a:off x="8030211" y="1592352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50351EED-B88F-FBF3-61CA-8D25D41E57D6}"/>
              </a:ext>
            </a:extLst>
          </p:cNvPr>
          <p:cNvCxnSpPr>
            <a:stCxn id="58" idx="6"/>
            <a:endCxn id="80" idx="1"/>
          </p:cNvCxnSpPr>
          <p:nvPr/>
        </p:nvCxnSpPr>
        <p:spPr>
          <a:xfrm>
            <a:off x="7568589" y="1742883"/>
            <a:ext cx="4616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Segnaposto contenuto 2">
            <a:extLst>
              <a:ext uri="{FF2B5EF4-FFF2-40B4-BE49-F238E27FC236}">
                <a16:creationId xmlns:a16="http://schemas.microsoft.com/office/drawing/2014/main" id="{0DFA1806-BBBE-2837-FE1E-F1B4E8358869}"/>
              </a:ext>
            </a:extLst>
          </p:cNvPr>
          <p:cNvSpPr txBox="1">
            <a:spLocks/>
          </p:cNvSpPr>
          <p:nvPr/>
        </p:nvSpPr>
        <p:spPr bwMode="auto">
          <a:xfrm>
            <a:off x="2226733" y="976564"/>
            <a:ext cx="1265306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 err="1"/>
              <a:t>Initial</a:t>
            </a:r>
            <a:r>
              <a:rPr lang="it-IT" sz="1100" dirty="0"/>
              <a:t> Block</a:t>
            </a:r>
          </a:p>
        </p:txBody>
      </p:sp>
      <p:sp>
        <p:nvSpPr>
          <p:cNvPr id="87" name="Segnaposto contenuto 2">
            <a:extLst>
              <a:ext uri="{FF2B5EF4-FFF2-40B4-BE49-F238E27FC236}">
                <a16:creationId xmlns:a16="http://schemas.microsoft.com/office/drawing/2014/main" id="{C3D96E42-3E46-9BE4-E9C5-49B35E288D49}"/>
              </a:ext>
            </a:extLst>
          </p:cNvPr>
          <p:cNvSpPr txBox="1">
            <a:spLocks/>
          </p:cNvSpPr>
          <p:nvPr/>
        </p:nvSpPr>
        <p:spPr bwMode="auto">
          <a:xfrm>
            <a:off x="4136814" y="510030"/>
            <a:ext cx="3586479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3 X </a:t>
            </a:r>
            <a:r>
              <a:rPr lang="it-IT" sz="1100" dirty="0" err="1"/>
              <a:t>Residual</a:t>
            </a:r>
            <a:r>
              <a:rPr lang="it-IT" sz="1100" dirty="0"/>
              <a:t> Block</a:t>
            </a:r>
          </a:p>
        </p:txBody>
      </p:sp>
      <p:sp>
        <p:nvSpPr>
          <p:cNvPr id="89" name="Segnaposto contenuto 2">
            <a:extLst>
              <a:ext uri="{FF2B5EF4-FFF2-40B4-BE49-F238E27FC236}">
                <a16:creationId xmlns:a16="http://schemas.microsoft.com/office/drawing/2014/main" id="{938EB237-1E77-AEDE-B437-6AAE55DEABFD}"/>
              </a:ext>
            </a:extLst>
          </p:cNvPr>
          <p:cNvSpPr txBox="1">
            <a:spLocks/>
          </p:cNvSpPr>
          <p:nvPr/>
        </p:nvSpPr>
        <p:spPr bwMode="auto">
          <a:xfrm>
            <a:off x="6733076" y="993648"/>
            <a:ext cx="654087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 err="1"/>
              <a:t>Residual</a:t>
            </a:r>
            <a:endParaRPr lang="it-IT" sz="1000" dirty="0"/>
          </a:p>
        </p:txBody>
      </p:sp>
      <p:sp>
        <p:nvSpPr>
          <p:cNvPr id="92" name="Segnaposto contenuto 2">
            <a:extLst>
              <a:ext uri="{FF2B5EF4-FFF2-40B4-BE49-F238E27FC236}">
                <a16:creationId xmlns:a16="http://schemas.microsoft.com/office/drawing/2014/main" id="{72D85653-8574-1712-8C82-1EC9DCBB727A}"/>
              </a:ext>
            </a:extLst>
          </p:cNvPr>
          <p:cNvSpPr txBox="1">
            <a:spLocks/>
          </p:cNvSpPr>
          <p:nvPr/>
        </p:nvSpPr>
        <p:spPr bwMode="auto">
          <a:xfrm>
            <a:off x="7819048" y="1324520"/>
            <a:ext cx="970198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/>
              <a:t>(128, 16, 16)</a:t>
            </a:r>
          </a:p>
        </p:txBody>
      </p:sp>
      <p:sp>
        <p:nvSpPr>
          <p:cNvPr id="93" name="Rettangolo 92">
            <a:extLst>
              <a:ext uri="{FF2B5EF4-FFF2-40B4-BE49-F238E27FC236}">
                <a16:creationId xmlns:a16="http://schemas.microsoft.com/office/drawing/2014/main" id="{A07F4CC9-221B-B2A4-20B0-25A65292F1CC}"/>
              </a:ext>
            </a:extLst>
          </p:cNvPr>
          <p:cNvSpPr/>
          <p:nvPr/>
        </p:nvSpPr>
        <p:spPr>
          <a:xfrm>
            <a:off x="9396406" y="863115"/>
            <a:ext cx="1480870" cy="3800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AvgPool2D</a:t>
            </a:r>
          </a:p>
          <a:p>
            <a:pPr algn="ctr"/>
            <a:r>
              <a:rPr lang="it-IT" sz="1100" dirty="0"/>
              <a:t>(128, 1, 1)</a:t>
            </a:r>
          </a:p>
        </p:txBody>
      </p:sp>
      <p:sp>
        <p:nvSpPr>
          <p:cNvPr id="94" name="Rettangolo 93">
            <a:extLst>
              <a:ext uri="{FF2B5EF4-FFF2-40B4-BE49-F238E27FC236}">
                <a16:creationId xmlns:a16="http://schemas.microsoft.com/office/drawing/2014/main" id="{B52E08D7-5D8E-4310-3FBB-64A0B0E8E26D}"/>
              </a:ext>
            </a:extLst>
          </p:cNvPr>
          <p:cNvSpPr/>
          <p:nvPr/>
        </p:nvSpPr>
        <p:spPr>
          <a:xfrm>
            <a:off x="9396406" y="1433141"/>
            <a:ext cx="1480870" cy="301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16</a:t>
            </a:r>
            <a:endParaRPr lang="it-IT" sz="1100" dirty="0"/>
          </a:p>
        </p:txBody>
      </p:sp>
      <p:sp>
        <p:nvSpPr>
          <p:cNvPr id="95" name="Rettangolo 94">
            <a:extLst>
              <a:ext uri="{FF2B5EF4-FFF2-40B4-BE49-F238E27FC236}">
                <a16:creationId xmlns:a16="http://schemas.microsoft.com/office/drawing/2014/main" id="{4351B11F-7441-D883-6B56-908C0CF60971}"/>
              </a:ext>
            </a:extLst>
          </p:cNvPr>
          <p:cNvSpPr/>
          <p:nvPr/>
        </p:nvSpPr>
        <p:spPr>
          <a:xfrm>
            <a:off x="9863241" y="1924212"/>
            <a:ext cx="547200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96" name="Connettore 2 95">
            <a:extLst>
              <a:ext uri="{FF2B5EF4-FFF2-40B4-BE49-F238E27FC236}">
                <a16:creationId xmlns:a16="http://schemas.microsoft.com/office/drawing/2014/main" id="{CBAD5E6A-85DD-6F92-50F2-AA0F9F5364F9}"/>
              </a:ext>
            </a:extLst>
          </p:cNvPr>
          <p:cNvCxnSpPr>
            <a:cxnSpLocks/>
            <a:stCxn id="93" idx="2"/>
            <a:endCxn id="94" idx="0"/>
          </p:cNvCxnSpPr>
          <p:nvPr/>
        </p:nvCxnSpPr>
        <p:spPr>
          <a:xfrm>
            <a:off x="10136841" y="1243132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685EBF5D-FF42-9478-A9CC-590E85ED1D21}"/>
              </a:ext>
            </a:extLst>
          </p:cNvPr>
          <p:cNvCxnSpPr>
            <a:cxnSpLocks/>
            <a:stCxn id="94" idx="2"/>
            <a:endCxn id="95" idx="0"/>
          </p:cNvCxnSpPr>
          <p:nvPr/>
        </p:nvCxnSpPr>
        <p:spPr>
          <a:xfrm>
            <a:off x="10136841" y="1734203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E2381893-F473-BA02-D70B-92FC8788204A}"/>
              </a:ext>
            </a:extLst>
          </p:cNvPr>
          <p:cNvSpPr/>
          <p:nvPr/>
        </p:nvSpPr>
        <p:spPr>
          <a:xfrm>
            <a:off x="9217072" y="738762"/>
            <a:ext cx="1804835" cy="260262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9" name="Segnaposto contenuto 2">
            <a:extLst>
              <a:ext uri="{FF2B5EF4-FFF2-40B4-BE49-F238E27FC236}">
                <a16:creationId xmlns:a16="http://schemas.microsoft.com/office/drawing/2014/main" id="{3D6FD71A-BA8B-C146-008B-F5680B99401E}"/>
              </a:ext>
            </a:extLst>
          </p:cNvPr>
          <p:cNvSpPr txBox="1">
            <a:spLocks/>
          </p:cNvSpPr>
          <p:nvPr/>
        </p:nvSpPr>
        <p:spPr bwMode="auto">
          <a:xfrm>
            <a:off x="9217072" y="453302"/>
            <a:ext cx="180483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Channel </a:t>
            </a:r>
            <a:r>
              <a:rPr lang="it-IT" sz="1100" dirty="0" err="1"/>
              <a:t>Attention</a:t>
            </a:r>
            <a:endParaRPr lang="it-IT" sz="1100" dirty="0"/>
          </a:p>
        </p:txBody>
      </p:sp>
      <p:sp>
        <p:nvSpPr>
          <p:cNvPr id="103" name="Rettangolo 102">
            <a:extLst>
              <a:ext uri="{FF2B5EF4-FFF2-40B4-BE49-F238E27FC236}">
                <a16:creationId xmlns:a16="http://schemas.microsoft.com/office/drawing/2014/main" id="{8B073699-6912-16C6-1F8B-F2C994DD43E9}"/>
              </a:ext>
            </a:extLst>
          </p:cNvPr>
          <p:cNvSpPr/>
          <p:nvPr/>
        </p:nvSpPr>
        <p:spPr>
          <a:xfrm>
            <a:off x="9395015" y="2415480"/>
            <a:ext cx="1480870" cy="301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16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endParaRPr lang="it-IT" sz="1100" dirty="0"/>
          </a:p>
        </p:txBody>
      </p:sp>
      <p:sp>
        <p:nvSpPr>
          <p:cNvPr id="104" name="Rettangolo 103">
            <a:extLst>
              <a:ext uri="{FF2B5EF4-FFF2-40B4-BE49-F238E27FC236}">
                <a16:creationId xmlns:a16="http://schemas.microsoft.com/office/drawing/2014/main" id="{4547CF0F-DC2C-0DCB-4E0E-BBE4C1CD2708}"/>
              </a:ext>
            </a:extLst>
          </p:cNvPr>
          <p:cNvSpPr/>
          <p:nvPr/>
        </p:nvSpPr>
        <p:spPr>
          <a:xfrm>
            <a:off x="9705772" y="2925663"/>
            <a:ext cx="859355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Sigmoid</a:t>
            </a:r>
            <a:endParaRPr lang="it-IT" sz="1100" dirty="0"/>
          </a:p>
        </p:txBody>
      </p:sp>
      <p:cxnSp>
        <p:nvCxnSpPr>
          <p:cNvPr id="105" name="Connettore 2 104">
            <a:extLst>
              <a:ext uri="{FF2B5EF4-FFF2-40B4-BE49-F238E27FC236}">
                <a16:creationId xmlns:a16="http://schemas.microsoft.com/office/drawing/2014/main" id="{1B00F8CD-3176-A1AF-AFCD-80CAE5F38A3B}"/>
              </a:ext>
            </a:extLst>
          </p:cNvPr>
          <p:cNvCxnSpPr>
            <a:cxnSpLocks/>
            <a:stCxn id="103" idx="2"/>
            <a:endCxn id="104" idx="0"/>
          </p:cNvCxnSpPr>
          <p:nvPr/>
        </p:nvCxnSpPr>
        <p:spPr>
          <a:xfrm>
            <a:off x="10135450" y="2716542"/>
            <a:ext cx="0" cy="209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ttore 2 106">
            <a:extLst>
              <a:ext uri="{FF2B5EF4-FFF2-40B4-BE49-F238E27FC236}">
                <a16:creationId xmlns:a16="http://schemas.microsoft.com/office/drawing/2014/main" id="{42AC0301-CD8F-5C47-C195-B430EDC7D2FC}"/>
              </a:ext>
            </a:extLst>
          </p:cNvPr>
          <p:cNvCxnSpPr>
            <a:stCxn id="95" idx="2"/>
            <a:endCxn id="103" idx="0"/>
          </p:cNvCxnSpPr>
          <p:nvPr/>
        </p:nvCxnSpPr>
        <p:spPr>
          <a:xfrm flipH="1">
            <a:off x="10135450" y="2225274"/>
            <a:ext cx="1391" cy="190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ttore a gomito 111">
            <a:extLst>
              <a:ext uri="{FF2B5EF4-FFF2-40B4-BE49-F238E27FC236}">
                <a16:creationId xmlns:a16="http://schemas.microsoft.com/office/drawing/2014/main" id="{F8F7ED8B-E28F-2CB4-182F-241C9E4C153A}"/>
              </a:ext>
            </a:extLst>
          </p:cNvPr>
          <p:cNvCxnSpPr>
            <a:stCxn id="80" idx="3"/>
            <a:endCxn id="93" idx="1"/>
          </p:cNvCxnSpPr>
          <p:nvPr/>
        </p:nvCxnSpPr>
        <p:spPr>
          <a:xfrm flipV="1">
            <a:off x="8578084" y="1053124"/>
            <a:ext cx="818322" cy="6897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AA2BE073-2B03-A4DF-06F1-4372BA8E34AE}"/>
              </a:ext>
            </a:extLst>
          </p:cNvPr>
          <p:cNvSpPr/>
          <p:nvPr/>
        </p:nvSpPr>
        <p:spPr>
          <a:xfrm>
            <a:off x="9233031" y="3882224"/>
            <a:ext cx="1804835" cy="391879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Modulation</a:t>
            </a:r>
            <a:endParaRPr lang="it-IT" sz="1100" dirty="0"/>
          </a:p>
          <a:p>
            <a:pPr algn="ctr"/>
            <a:r>
              <a:rPr lang="it-IT" sz="1100" dirty="0"/>
              <a:t>(</a:t>
            </a:r>
            <a:r>
              <a:rPr lang="it-IT" sz="1100" dirty="0" err="1"/>
              <a:t>Element</a:t>
            </a:r>
            <a:r>
              <a:rPr lang="it-IT" sz="1100" dirty="0"/>
              <a:t>-wise </a:t>
            </a:r>
            <a:r>
              <a:rPr lang="it-IT" sz="1100" dirty="0" err="1"/>
              <a:t>multiply</a:t>
            </a:r>
            <a:r>
              <a:rPr lang="it-IT" sz="1100" dirty="0"/>
              <a:t>)</a:t>
            </a:r>
          </a:p>
        </p:txBody>
      </p:sp>
      <p:sp>
        <p:nvSpPr>
          <p:cNvPr id="119" name="Segnaposto contenuto 2">
            <a:extLst>
              <a:ext uri="{FF2B5EF4-FFF2-40B4-BE49-F238E27FC236}">
                <a16:creationId xmlns:a16="http://schemas.microsoft.com/office/drawing/2014/main" id="{A3AAFAD4-0624-735E-3760-FF3719659CD7}"/>
              </a:ext>
            </a:extLst>
          </p:cNvPr>
          <p:cNvSpPr txBox="1">
            <a:spLocks/>
          </p:cNvSpPr>
          <p:nvPr/>
        </p:nvSpPr>
        <p:spPr bwMode="auto">
          <a:xfrm>
            <a:off x="9678985" y="4292884"/>
            <a:ext cx="91292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/>
              <a:t>(128, 16, 16)</a:t>
            </a:r>
          </a:p>
        </p:txBody>
      </p:sp>
      <p:cxnSp>
        <p:nvCxnSpPr>
          <p:cNvPr id="121" name="Connettore 2 120">
            <a:extLst>
              <a:ext uri="{FF2B5EF4-FFF2-40B4-BE49-F238E27FC236}">
                <a16:creationId xmlns:a16="http://schemas.microsoft.com/office/drawing/2014/main" id="{A57D34B1-4305-5F62-E639-402A0EB53CB2}"/>
              </a:ext>
            </a:extLst>
          </p:cNvPr>
          <p:cNvCxnSpPr>
            <a:cxnSpLocks/>
            <a:stCxn id="104" idx="2"/>
            <a:endCxn id="117" idx="0"/>
          </p:cNvCxnSpPr>
          <p:nvPr/>
        </p:nvCxnSpPr>
        <p:spPr>
          <a:xfrm flipH="1">
            <a:off x="10135449" y="3226725"/>
            <a:ext cx="1" cy="65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ttore a gomito 124">
            <a:extLst>
              <a:ext uri="{FF2B5EF4-FFF2-40B4-BE49-F238E27FC236}">
                <a16:creationId xmlns:a16="http://schemas.microsoft.com/office/drawing/2014/main" id="{6B5EA312-1155-2C97-278D-3C1A48B273B7}"/>
              </a:ext>
            </a:extLst>
          </p:cNvPr>
          <p:cNvCxnSpPr>
            <a:cxnSpLocks/>
            <a:stCxn id="93" idx="3"/>
            <a:endCxn id="117" idx="3"/>
          </p:cNvCxnSpPr>
          <p:nvPr/>
        </p:nvCxnSpPr>
        <p:spPr>
          <a:xfrm>
            <a:off x="10877276" y="1053124"/>
            <a:ext cx="160590" cy="3025040"/>
          </a:xfrm>
          <a:prstGeom prst="bentConnector3">
            <a:avLst>
              <a:gd name="adj1" fmla="val 2423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ttangolo 128">
            <a:extLst>
              <a:ext uri="{FF2B5EF4-FFF2-40B4-BE49-F238E27FC236}">
                <a16:creationId xmlns:a16="http://schemas.microsoft.com/office/drawing/2014/main" id="{69379F27-76F2-900E-7486-1B46017C77AD}"/>
              </a:ext>
            </a:extLst>
          </p:cNvPr>
          <p:cNvSpPr/>
          <p:nvPr/>
        </p:nvSpPr>
        <p:spPr>
          <a:xfrm>
            <a:off x="7060119" y="3554475"/>
            <a:ext cx="1208700" cy="335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</a:t>
            </a:r>
          </a:p>
          <a:p>
            <a:pPr algn="ctr"/>
            <a:r>
              <a:rPr lang="it-IT" sz="1100" dirty="0"/>
              <a:t>AvgPool2D</a:t>
            </a:r>
          </a:p>
        </p:txBody>
      </p:sp>
      <p:sp>
        <p:nvSpPr>
          <p:cNvPr id="131" name="Rettangolo 130">
            <a:extLst>
              <a:ext uri="{FF2B5EF4-FFF2-40B4-BE49-F238E27FC236}">
                <a16:creationId xmlns:a16="http://schemas.microsoft.com/office/drawing/2014/main" id="{91A67CB3-270D-B7ED-C6F7-3CBEB4D05654}"/>
              </a:ext>
            </a:extLst>
          </p:cNvPr>
          <p:cNvSpPr/>
          <p:nvPr/>
        </p:nvSpPr>
        <p:spPr>
          <a:xfrm>
            <a:off x="7060119" y="4278517"/>
            <a:ext cx="1208700" cy="335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</a:t>
            </a:r>
          </a:p>
          <a:p>
            <a:pPr algn="ctr"/>
            <a:r>
              <a:rPr lang="it-IT" sz="1100" dirty="0"/>
              <a:t>MaxPool2D</a:t>
            </a:r>
          </a:p>
        </p:txBody>
      </p:sp>
      <p:sp>
        <p:nvSpPr>
          <p:cNvPr id="133" name="Rettangolo 132">
            <a:extLst>
              <a:ext uri="{FF2B5EF4-FFF2-40B4-BE49-F238E27FC236}">
                <a16:creationId xmlns:a16="http://schemas.microsoft.com/office/drawing/2014/main" id="{46395ADC-4528-4F68-9199-E4744600917F}"/>
              </a:ext>
            </a:extLst>
          </p:cNvPr>
          <p:cNvSpPr/>
          <p:nvPr/>
        </p:nvSpPr>
        <p:spPr>
          <a:xfrm>
            <a:off x="5701238" y="3943397"/>
            <a:ext cx="912925" cy="3351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Concatenate</a:t>
            </a:r>
          </a:p>
          <a:p>
            <a:pPr algn="ctr"/>
            <a:r>
              <a:rPr lang="it-IT" sz="1100" dirty="0"/>
              <a:t>(256 </a:t>
            </a:r>
            <a:r>
              <a:rPr lang="it-IT" sz="1100" dirty="0" err="1"/>
              <a:t>values</a:t>
            </a:r>
            <a:r>
              <a:rPr lang="it-IT" sz="1100" dirty="0"/>
              <a:t>)</a:t>
            </a:r>
          </a:p>
        </p:txBody>
      </p:sp>
      <p:cxnSp>
        <p:nvCxnSpPr>
          <p:cNvPr id="137" name="Connettore a gomito 136">
            <a:extLst>
              <a:ext uri="{FF2B5EF4-FFF2-40B4-BE49-F238E27FC236}">
                <a16:creationId xmlns:a16="http://schemas.microsoft.com/office/drawing/2014/main" id="{937933F9-253D-579A-77C8-B6AA8D27B53E}"/>
              </a:ext>
            </a:extLst>
          </p:cNvPr>
          <p:cNvCxnSpPr>
            <a:cxnSpLocks/>
            <a:stCxn id="117" idx="1"/>
            <a:endCxn id="129" idx="3"/>
          </p:cNvCxnSpPr>
          <p:nvPr/>
        </p:nvCxnSpPr>
        <p:spPr>
          <a:xfrm rot="10800000">
            <a:off x="8268819" y="3722036"/>
            <a:ext cx="964212" cy="3561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ttore a gomito 138">
            <a:extLst>
              <a:ext uri="{FF2B5EF4-FFF2-40B4-BE49-F238E27FC236}">
                <a16:creationId xmlns:a16="http://schemas.microsoft.com/office/drawing/2014/main" id="{50872672-E869-B4E2-B7CA-2451DBFCB1F2}"/>
              </a:ext>
            </a:extLst>
          </p:cNvPr>
          <p:cNvCxnSpPr>
            <a:cxnSpLocks/>
            <a:stCxn id="117" idx="1"/>
            <a:endCxn id="131" idx="3"/>
          </p:cNvCxnSpPr>
          <p:nvPr/>
        </p:nvCxnSpPr>
        <p:spPr>
          <a:xfrm rot="10800000" flipV="1">
            <a:off x="8268819" y="4078163"/>
            <a:ext cx="964212" cy="3679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ttore a gomito 140">
            <a:extLst>
              <a:ext uri="{FF2B5EF4-FFF2-40B4-BE49-F238E27FC236}">
                <a16:creationId xmlns:a16="http://schemas.microsoft.com/office/drawing/2014/main" id="{C2759B97-010F-A423-D1E2-34AC9200E021}"/>
              </a:ext>
            </a:extLst>
          </p:cNvPr>
          <p:cNvCxnSpPr>
            <a:stCxn id="129" idx="1"/>
            <a:endCxn id="133" idx="0"/>
          </p:cNvCxnSpPr>
          <p:nvPr/>
        </p:nvCxnSpPr>
        <p:spPr>
          <a:xfrm rot="10800000" flipV="1">
            <a:off x="6157701" y="3722035"/>
            <a:ext cx="902418" cy="2213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ttore a gomito 142">
            <a:extLst>
              <a:ext uri="{FF2B5EF4-FFF2-40B4-BE49-F238E27FC236}">
                <a16:creationId xmlns:a16="http://schemas.microsoft.com/office/drawing/2014/main" id="{C9DD6EFE-0661-24DE-19F1-C0DA78E131A0}"/>
              </a:ext>
            </a:extLst>
          </p:cNvPr>
          <p:cNvCxnSpPr>
            <a:stCxn id="131" idx="1"/>
            <a:endCxn id="133" idx="2"/>
          </p:cNvCxnSpPr>
          <p:nvPr/>
        </p:nvCxnSpPr>
        <p:spPr>
          <a:xfrm rot="10800000">
            <a:off x="6157701" y="4278517"/>
            <a:ext cx="902418" cy="1675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ttangolo 144">
            <a:extLst>
              <a:ext uri="{FF2B5EF4-FFF2-40B4-BE49-F238E27FC236}">
                <a16:creationId xmlns:a16="http://schemas.microsoft.com/office/drawing/2014/main" id="{D2425FA3-A063-9A4C-502B-6171A8388995}"/>
              </a:ext>
            </a:extLst>
          </p:cNvPr>
          <p:cNvSpPr/>
          <p:nvPr/>
        </p:nvSpPr>
        <p:spPr>
          <a:xfrm>
            <a:off x="4141215" y="4572907"/>
            <a:ext cx="547200" cy="302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sp>
        <p:nvSpPr>
          <p:cNvPr id="147" name="Rettangolo 146">
            <a:extLst>
              <a:ext uri="{FF2B5EF4-FFF2-40B4-BE49-F238E27FC236}">
                <a16:creationId xmlns:a16="http://schemas.microsoft.com/office/drawing/2014/main" id="{329715EA-9D18-E3E8-2936-298CE8E4E93B}"/>
              </a:ext>
            </a:extLst>
          </p:cNvPr>
          <p:cNvSpPr/>
          <p:nvPr/>
        </p:nvSpPr>
        <p:spPr>
          <a:xfrm>
            <a:off x="3810466" y="3938984"/>
            <a:ext cx="1208700" cy="335120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Linear </a:t>
            </a:r>
          </a:p>
          <a:p>
            <a:pPr algn="ctr"/>
            <a:r>
              <a:rPr lang="it-IT" sz="1100" dirty="0"/>
              <a:t>256 </a:t>
            </a:r>
            <a:r>
              <a:rPr lang="it-IT" sz="1100" dirty="0">
                <a:sym typeface="Wingdings" panose="05000000000000000000" pitchFamily="2" charset="2"/>
              </a:rPr>
              <a:t> 60</a:t>
            </a:r>
            <a:endParaRPr lang="it-IT" sz="1100" dirty="0"/>
          </a:p>
        </p:txBody>
      </p:sp>
      <p:sp>
        <p:nvSpPr>
          <p:cNvPr id="149" name="Rettangolo 148">
            <a:extLst>
              <a:ext uri="{FF2B5EF4-FFF2-40B4-BE49-F238E27FC236}">
                <a16:creationId xmlns:a16="http://schemas.microsoft.com/office/drawing/2014/main" id="{4E276001-A6AD-8E2D-79C7-45617FEBFF06}"/>
              </a:ext>
            </a:extLst>
          </p:cNvPr>
          <p:cNvSpPr/>
          <p:nvPr/>
        </p:nvSpPr>
        <p:spPr>
          <a:xfrm>
            <a:off x="2040176" y="3950052"/>
            <a:ext cx="1208700" cy="33512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Dropout 0.30</a:t>
            </a:r>
          </a:p>
        </p:txBody>
      </p:sp>
      <p:sp>
        <p:nvSpPr>
          <p:cNvPr id="151" name="Rettangolo 150">
            <a:extLst>
              <a:ext uri="{FF2B5EF4-FFF2-40B4-BE49-F238E27FC236}">
                <a16:creationId xmlns:a16="http://schemas.microsoft.com/office/drawing/2014/main" id="{BCE03618-192B-D09A-9B63-385E142060FC}"/>
              </a:ext>
            </a:extLst>
          </p:cNvPr>
          <p:cNvSpPr/>
          <p:nvPr/>
        </p:nvSpPr>
        <p:spPr>
          <a:xfrm>
            <a:off x="2040176" y="4529328"/>
            <a:ext cx="1208700" cy="33512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Linear</a:t>
            </a:r>
          </a:p>
          <a:p>
            <a:pPr algn="ctr"/>
            <a:r>
              <a:rPr lang="it-IT" sz="1100" dirty="0"/>
              <a:t>64 </a:t>
            </a:r>
            <a:r>
              <a:rPr lang="it-IT" sz="1100" dirty="0">
                <a:sym typeface="Wingdings" panose="05000000000000000000" pitchFamily="2" charset="2"/>
              </a:rPr>
              <a:t> 1</a:t>
            </a:r>
            <a:endParaRPr lang="it-IT" sz="1100" dirty="0"/>
          </a:p>
        </p:txBody>
      </p:sp>
      <p:sp>
        <p:nvSpPr>
          <p:cNvPr id="155" name="Rettangolo 154">
            <a:extLst>
              <a:ext uri="{FF2B5EF4-FFF2-40B4-BE49-F238E27FC236}">
                <a16:creationId xmlns:a16="http://schemas.microsoft.com/office/drawing/2014/main" id="{94BA926B-F700-9102-13FF-13CC663C6D5E}"/>
              </a:ext>
            </a:extLst>
          </p:cNvPr>
          <p:cNvSpPr/>
          <p:nvPr/>
        </p:nvSpPr>
        <p:spPr>
          <a:xfrm>
            <a:off x="484201" y="4529328"/>
            <a:ext cx="774502" cy="3351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Logit</a:t>
            </a:r>
            <a:r>
              <a:rPr lang="it-IT" sz="1100" dirty="0"/>
              <a:t> Loss</a:t>
            </a:r>
          </a:p>
        </p:txBody>
      </p:sp>
      <p:sp>
        <p:nvSpPr>
          <p:cNvPr id="157" name="Rettangolo 156">
            <a:extLst>
              <a:ext uri="{FF2B5EF4-FFF2-40B4-BE49-F238E27FC236}">
                <a16:creationId xmlns:a16="http://schemas.microsoft.com/office/drawing/2014/main" id="{164F2FAB-67B1-5D10-50CD-64FBE677D5A0}"/>
              </a:ext>
            </a:extLst>
          </p:cNvPr>
          <p:cNvSpPr/>
          <p:nvPr/>
        </p:nvSpPr>
        <p:spPr>
          <a:xfrm>
            <a:off x="489770" y="3950052"/>
            <a:ext cx="768933" cy="3351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Sigmoid</a:t>
            </a:r>
            <a:endParaRPr lang="it-IT" sz="1100" dirty="0"/>
          </a:p>
        </p:txBody>
      </p:sp>
      <p:sp>
        <p:nvSpPr>
          <p:cNvPr id="159" name="Rettangolo con angoli arrotondati 158">
            <a:extLst>
              <a:ext uri="{FF2B5EF4-FFF2-40B4-BE49-F238E27FC236}">
                <a16:creationId xmlns:a16="http://schemas.microsoft.com/office/drawing/2014/main" id="{00E1BD6E-01CE-FCA2-E32C-43F9FAA02603}"/>
              </a:ext>
            </a:extLst>
          </p:cNvPr>
          <p:cNvSpPr/>
          <p:nvPr/>
        </p:nvSpPr>
        <p:spPr>
          <a:xfrm>
            <a:off x="1753111" y="3608472"/>
            <a:ext cx="3586480" cy="167067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1" name="Segnaposto contenuto 2">
            <a:extLst>
              <a:ext uri="{FF2B5EF4-FFF2-40B4-BE49-F238E27FC236}">
                <a16:creationId xmlns:a16="http://schemas.microsoft.com/office/drawing/2014/main" id="{4B3469D3-7CD5-C289-4A8A-D8A6622EE87E}"/>
              </a:ext>
            </a:extLst>
          </p:cNvPr>
          <p:cNvSpPr txBox="1">
            <a:spLocks/>
          </p:cNvSpPr>
          <p:nvPr/>
        </p:nvSpPr>
        <p:spPr bwMode="auto">
          <a:xfrm>
            <a:off x="1753111" y="3368672"/>
            <a:ext cx="3586480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FFNN </a:t>
            </a:r>
            <a:r>
              <a:rPr lang="it-IT" sz="1100" dirty="0" err="1"/>
              <a:t>Classifier</a:t>
            </a:r>
            <a:endParaRPr lang="it-IT" sz="1100" dirty="0"/>
          </a:p>
        </p:txBody>
      </p:sp>
      <p:sp>
        <p:nvSpPr>
          <p:cNvPr id="163" name="Segnaposto contenuto 2">
            <a:extLst>
              <a:ext uri="{FF2B5EF4-FFF2-40B4-BE49-F238E27FC236}">
                <a16:creationId xmlns:a16="http://schemas.microsoft.com/office/drawing/2014/main" id="{9E43237D-2417-3E59-67C5-54DB9C9C89BC}"/>
              </a:ext>
            </a:extLst>
          </p:cNvPr>
          <p:cNvSpPr txBox="1">
            <a:spLocks/>
          </p:cNvSpPr>
          <p:nvPr/>
        </p:nvSpPr>
        <p:spPr bwMode="auto">
          <a:xfrm>
            <a:off x="681486" y="937580"/>
            <a:ext cx="1050793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Input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816911EF-FB27-99C0-41DE-923E17076930}"/>
              </a:ext>
            </a:extLst>
          </p:cNvPr>
          <p:cNvCxnSpPr>
            <a:stCxn id="133" idx="1"/>
            <a:endCxn id="147" idx="3"/>
          </p:cNvCxnSpPr>
          <p:nvPr/>
        </p:nvCxnSpPr>
        <p:spPr>
          <a:xfrm flipH="1" flipV="1">
            <a:off x="5019166" y="4106544"/>
            <a:ext cx="682072" cy="4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ttore 2 167">
            <a:extLst>
              <a:ext uri="{FF2B5EF4-FFF2-40B4-BE49-F238E27FC236}">
                <a16:creationId xmlns:a16="http://schemas.microsoft.com/office/drawing/2014/main" id="{8F5C63C2-05EF-7EBB-B18B-8DF862F72A4B}"/>
              </a:ext>
            </a:extLst>
          </p:cNvPr>
          <p:cNvCxnSpPr>
            <a:stCxn id="147" idx="2"/>
            <a:endCxn id="145" idx="0"/>
          </p:cNvCxnSpPr>
          <p:nvPr/>
        </p:nvCxnSpPr>
        <p:spPr>
          <a:xfrm flipH="1">
            <a:off x="4414815" y="4274104"/>
            <a:ext cx="1" cy="298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ttore a gomito 169">
            <a:extLst>
              <a:ext uri="{FF2B5EF4-FFF2-40B4-BE49-F238E27FC236}">
                <a16:creationId xmlns:a16="http://schemas.microsoft.com/office/drawing/2014/main" id="{5F727B5A-E8D1-68DE-83A8-116D82169CCB}"/>
              </a:ext>
            </a:extLst>
          </p:cNvPr>
          <p:cNvCxnSpPr>
            <a:stCxn id="145" idx="2"/>
            <a:endCxn id="149" idx="0"/>
          </p:cNvCxnSpPr>
          <p:nvPr/>
        </p:nvCxnSpPr>
        <p:spPr>
          <a:xfrm rot="5400000" flipH="1">
            <a:off x="3067043" y="3527536"/>
            <a:ext cx="925255" cy="1770289"/>
          </a:xfrm>
          <a:prstGeom prst="bentConnector5">
            <a:avLst>
              <a:gd name="adj1" fmla="val -24707"/>
              <a:gd name="adj2" fmla="val 40658"/>
              <a:gd name="adj3" fmla="val 1247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ttore 2 171">
            <a:extLst>
              <a:ext uri="{FF2B5EF4-FFF2-40B4-BE49-F238E27FC236}">
                <a16:creationId xmlns:a16="http://schemas.microsoft.com/office/drawing/2014/main" id="{04217E77-F03A-8DBF-5F5F-BAD5252A0D89}"/>
              </a:ext>
            </a:extLst>
          </p:cNvPr>
          <p:cNvCxnSpPr>
            <a:stCxn id="149" idx="2"/>
            <a:endCxn id="151" idx="0"/>
          </p:cNvCxnSpPr>
          <p:nvPr/>
        </p:nvCxnSpPr>
        <p:spPr>
          <a:xfrm>
            <a:off x="2644526" y="4285172"/>
            <a:ext cx="0" cy="244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ttore a gomito 173">
            <a:extLst>
              <a:ext uri="{FF2B5EF4-FFF2-40B4-BE49-F238E27FC236}">
                <a16:creationId xmlns:a16="http://schemas.microsoft.com/office/drawing/2014/main" id="{293765B2-603E-5879-0CB5-1BCB9763500E}"/>
              </a:ext>
            </a:extLst>
          </p:cNvPr>
          <p:cNvCxnSpPr>
            <a:cxnSpLocks/>
            <a:stCxn id="151" idx="2"/>
            <a:endCxn id="155" idx="2"/>
          </p:cNvCxnSpPr>
          <p:nvPr/>
        </p:nvCxnSpPr>
        <p:spPr>
          <a:xfrm rot="5400000">
            <a:off x="1757989" y="3977911"/>
            <a:ext cx="12700" cy="1773074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ttore 2 177">
            <a:extLst>
              <a:ext uri="{FF2B5EF4-FFF2-40B4-BE49-F238E27FC236}">
                <a16:creationId xmlns:a16="http://schemas.microsoft.com/office/drawing/2014/main" id="{BCCAF75E-06BD-5424-68FA-0E56730DC2BA}"/>
              </a:ext>
            </a:extLst>
          </p:cNvPr>
          <p:cNvCxnSpPr>
            <a:cxnSpLocks/>
            <a:stCxn id="155" idx="0"/>
            <a:endCxn id="157" idx="2"/>
          </p:cNvCxnSpPr>
          <p:nvPr/>
        </p:nvCxnSpPr>
        <p:spPr>
          <a:xfrm flipV="1">
            <a:off x="871452" y="4285172"/>
            <a:ext cx="2785" cy="244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ttore a gomito 179">
            <a:extLst>
              <a:ext uri="{FF2B5EF4-FFF2-40B4-BE49-F238E27FC236}">
                <a16:creationId xmlns:a16="http://schemas.microsoft.com/office/drawing/2014/main" id="{AD70A0AC-5CBA-D5FD-8C7C-BACC6FA8558D}"/>
              </a:ext>
            </a:extLst>
          </p:cNvPr>
          <p:cNvCxnSpPr>
            <a:stCxn id="151" idx="1"/>
            <a:endCxn id="157" idx="3"/>
          </p:cNvCxnSpPr>
          <p:nvPr/>
        </p:nvCxnSpPr>
        <p:spPr>
          <a:xfrm rot="10800000">
            <a:off x="1258704" y="4117612"/>
            <a:ext cx="781473" cy="579276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Segnaposto contenuto 2">
            <a:extLst>
              <a:ext uri="{FF2B5EF4-FFF2-40B4-BE49-F238E27FC236}">
                <a16:creationId xmlns:a16="http://schemas.microsoft.com/office/drawing/2014/main" id="{E052F0A3-8015-9CDB-3433-BE3B1FE704C3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951222" y="4022722"/>
            <a:ext cx="1079369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 err="1">
                <a:solidFill>
                  <a:srgbClr val="ACCCE9"/>
                </a:solidFill>
              </a:rPr>
              <a:t>Inference</a:t>
            </a:r>
            <a:r>
              <a:rPr lang="it-IT" sz="1000" dirty="0">
                <a:solidFill>
                  <a:srgbClr val="ACCCE9"/>
                </a:solidFill>
              </a:rPr>
              <a:t> </a:t>
            </a:r>
            <a:r>
              <a:rPr lang="it-IT" sz="1000" dirty="0" err="1">
                <a:solidFill>
                  <a:srgbClr val="ACCCE9"/>
                </a:solidFill>
              </a:rPr>
              <a:t>only</a:t>
            </a:r>
            <a:endParaRPr lang="it-IT" sz="1000" dirty="0">
              <a:solidFill>
                <a:srgbClr val="ACCCE9"/>
              </a:solidFill>
            </a:endParaRPr>
          </a:p>
        </p:txBody>
      </p:sp>
      <p:sp>
        <p:nvSpPr>
          <p:cNvPr id="198" name="Titolo 1">
            <a:extLst>
              <a:ext uri="{FF2B5EF4-FFF2-40B4-BE49-F238E27FC236}">
                <a16:creationId xmlns:a16="http://schemas.microsoft.com/office/drawing/2014/main" id="{10492FF7-2F9F-DA60-DE92-EFC973D5B471}"/>
              </a:ext>
            </a:extLst>
          </p:cNvPr>
          <p:cNvSpPr txBox="1">
            <a:spLocks/>
          </p:cNvSpPr>
          <p:nvPr/>
        </p:nvSpPr>
        <p:spPr bwMode="auto">
          <a:xfrm>
            <a:off x="11449733" y="138154"/>
            <a:ext cx="428417" cy="644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it-IT" sz="3200" dirty="0"/>
              <a:t>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A94545-256F-CBCC-39CB-ED1307821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095" y="4946077"/>
            <a:ext cx="5733444" cy="1586296"/>
          </a:xfrm>
        </p:spPr>
        <p:txBody>
          <a:bodyPr/>
          <a:lstStyle/>
          <a:p>
            <a:pPr marL="0" indent="0">
              <a:buNone/>
            </a:pPr>
            <a:r>
              <a:rPr lang="it-IT" sz="1800" b="1" dirty="0" err="1"/>
              <a:t>Initial</a:t>
            </a:r>
            <a:r>
              <a:rPr lang="it-IT" sz="1800" b="1" dirty="0"/>
              <a:t> Block: </a:t>
            </a:r>
            <a:r>
              <a:rPr lang="it-IT" sz="1800" dirty="0" err="1"/>
              <a:t>Projection</a:t>
            </a:r>
            <a:r>
              <a:rPr lang="it-IT" sz="1800" dirty="0"/>
              <a:t> in a more compact feature </a:t>
            </a:r>
            <a:r>
              <a:rPr lang="it-IT" sz="1800" dirty="0" err="1"/>
              <a:t>space</a:t>
            </a:r>
            <a:r>
              <a:rPr lang="it-IT" sz="1800" dirty="0"/>
              <a:t>.</a:t>
            </a:r>
            <a:endParaRPr lang="it-IT" sz="1800" b="1" dirty="0"/>
          </a:p>
          <a:p>
            <a:r>
              <a:rPr lang="it-IT" sz="1800" dirty="0"/>
              <a:t>Channel </a:t>
            </a:r>
            <a:r>
              <a:rPr lang="it-IT" sz="1800" dirty="0" err="1"/>
              <a:t>compression</a:t>
            </a:r>
            <a:r>
              <a:rPr lang="it-IT" sz="1800" dirty="0"/>
              <a:t> (1280 </a:t>
            </a:r>
            <a:r>
              <a:rPr lang="it-IT" sz="1800" dirty="0">
                <a:sym typeface="Wingdings" panose="05000000000000000000" pitchFamily="2" charset="2"/>
              </a:rPr>
              <a:t> 128</a:t>
            </a:r>
            <a:r>
              <a:rPr lang="it-IT" sz="1800" dirty="0"/>
              <a:t>) Conv1x1</a:t>
            </a:r>
          </a:p>
          <a:p>
            <a:r>
              <a:rPr lang="it-IT" sz="1800" dirty="0" err="1"/>
              <a:t>GroupNorm</a:t>
            </a:r>
            <a:r>
              <a:rPr lang="it-IT" sz="1800" dirty="0"/>
              <a:t> </a:t>
            </a:r>
            <a:r>
              <a:rPr lang="it-IT" sz="1800" dirty="0" err="1"/>
              <a:t>stabilizes</a:t>
            </a:r>
            <a:r>
              <a:rPr lang="it-IT" sz="1800" dirty="0"/>
              <a:t> the </a:t>
            </a:r>
            <a:r>
              <a:rPr lang="it-IT" sz="1800" dirty="0" err="1"/>
              <a:t>distributions</a:t>
            </a:r>
            <a:endParaRPr lang="it-IT" sz="1800" dirty="0"/>
          </a:p>
          <a:p>
            <a:r>
              <a:rPr lang="it-IT" sz="1800" dirty="0"/>
              <a:t>GELU </a:t>
            </a:r>
            <a:r>
              <a:rPr lang="it-IT" sz="1800" dirty="0" err="1"/>
              <a:t>allows</a:t>
            </a:r>
            <a:r>
              <a:rPr lang="it-IT" sz="1800" dirty="0"/>
              <a:t> non-linear </a:t>
            </a:r>
            <a:r>
              <a:rPr lang="it-IT" sz="1800" dirty="0" err="1"/>
              <a:t>transformations</a:t>
            </a:r>
            <a:endParaRPr lang="it-IT" sz="1800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151A16F3-DE9F-A9EA-4D8D-C533AAA0006F}"/>
              </a:ext>
            </a:extLst>
          </p:cNvPr>
          <p:cNvSpPr txBox="1">
            <a:spLocks/>
          </p:cNvSpPr>
          <p:nvPr/>
        </p:nvSpPr>
        <p:spPr bwMode="auto">
          <a:xfrm>
            <a:off x="484202" y="5523304"/>
            <a:ext cx="4855390" cy="116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1800" i="1" dirty="0" err="1"/>
              <a:t>GroupNorm</a:t>
            </a:r>
            <a:r>
              <a:rPr lang="it-IT" sz="1800" i="1" dirty="0"/>
              <a:t> </a:t>
            </a:r>
            <a:r>
              <a:rPr lang="it-IT" sz="1800" i="1" dirty="0" err="1"/>
              <a:t>normalizes</a:t>
            </a:r>
            <a:r>
              <a:rPr lang="it-IT" sz="1800" i="1" dirty="0"/>
              <a:t> </a:t>
            </a:r>
            <a:r>
              <a:rPr lang="it-IT" sz="1800" i="1" dirty="0" err="1"/>
              <a:t>each</a:t>
            </a:r>
            <a:r>
              <a:rPr lang="it-IT" sz="1800" i="1" dirty="0"/>
              <a:t> </a:t>
            </a:r>
            <a:r>
              <a:rPr lang="it-IT" sz="1800" i="1" dirty="0" err="1"/>
              <a:t>example</a:t>
            </a:r>
            <a:r>
              <a:rPr lang="it-IT" sz="1800" i="1" dirty="0"/>
              <a:t> </a:t>
            </a:r>
            <a:r>
              <a:rPr lang="it-IT" sz="1800" i="1" dirty="0" err="1"/>
              <a:t>independelty</a:t>
            </a:r>
            <a:r>
              <a:rPr lang="it-IT" sz="1800" i="1" dirty="0"/>
              <a:t>. </a:t>
            </a:r>
            <a:r>
              <a:rPr lang="it-IT" sz="1800" i="1" dirty="0" err="1"/>
              <a:t>Used</a:t>
            </a:r>
            <a:r>
              <a:rPr lang="it-IT" sz="1800" i="1" dirty="0"/>
              <a:t> </a:t>
            </a:r>
            <a:r>
              <a:rPr lang="it-IT" sz="1800" i="1" dirty="0" err="1"/>
              <a:t>because</a:t>
            </a:r>
            <a:r>
              <a:rPr lang="it-IT" sz="1800" i="1" dirty="0"/>
              <a:t> the batch </a:t>
            </a:r>
            <a:r>
              <a:rPr lang="it-IT" sz="1800" i="1" dirty="0" err="1"/>
              <a:t>is</a:t>
            </a:r>
            <a:r>
              <a:rPr lang="it-IT" sz="1800" i="1" dirty="0"/>
              <a:t> small due to limited </a:t>
            </a:r>
            <a:r>
              <a:rPr lang="it-IT" sz="1800" i="1" dirty="0" err="1"/>
              <a:t>computational</a:t>
            </a:r>
            <a:r>
              <a:rPr lang="it-IT" sz="1800" i="1" dirty="0"/>
              <a:t> </a:t>
            </a:r>
            <a:r>
              <a:rPr lang="it-IT" sz="1800" i="1" dirty="0" err="1"/>
              <a:t>capabilites</a:t>
            </a:r>
            <a:r>
              <a:rPr lang="it-IT" sz="18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2832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EC2CF-4475-4E71-44FB-B9A4EF05A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AD3FDC-E6A1-82AA-39F7-3C797391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477"/>
            <a:ext cx="3298614" cy="644166"/>
          </a:xfrm>
        </p:spPr>
        <p:txBody>
          <a:bodyPr/>
          <a:lstStyle/>
          <a:p>
            <a:r>
              <a:rPr lang="it-IT" sz="3200" dirty="0"/>
              <a:t>CNN </a:t>
            </a:r>
            <a:r>
              <a:rPr lang="it-IT" sz="3200" dirty="0" err="1"/>
              <a:t>Spatial</a:t>
            </a:r>
            <a:r>
              <a:rPr lang="it-IT" sz="3200" dirty="0"/>
              <a:t> Head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8C1BF6A-C6A9-2DE3-C668-19E0BC920FC7}"/>
              </a:ext>
            </a:extLst>
          </p:cNvPr>
          <p:cNvSpPr/>
          <p:nvPr/>
        </p:nvSpPr>
        <p:spPr>
          <a:xfrm>
            <a:off x="681487" y="1207698"/>
            <a:ext cx="1050793" cy="5652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Feature </a:t>
            </a:r>
            <a:r>
              <a:rPr lang="it-IT" sz="1100" dirty="0" err="1"/>
              <a:t>Map</a:t>
            </a:r>
            <a:r>
              <a:rPr lang="it-IT" sz="1100" dirty="0"/>
              <a:t> Normalizzata</a:t>
            </a:r>
          </a:p>
          <a:p>
            <a:pPr algn="ctr"/>
            <a:r>
              <a:rPr lang="it-IT" sz="1100" dirty="0"/>
              <a:t>(1280, 16, 16)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C275431-F845-728A-2E3D-920AE53C9963}"/>
              </a:ext>
            </a:extLst>
          </p:cNvPr>
          <p:cNvSpPr/>
          <p:nvPr/>
        </p:nvSpPr>
        <p:spPr>
          <a:xfrm>
            <a:off x="2406067" y="1300300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1280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2B0B7B65-FC94-F79D-1B1D-785A5CD1B336}"/>
              </a:ext>
            </a:extLst>
          </p:cNvPr>
          <p:cNvSpPr/>
          <p:nvPr/>
        </p:nvSpPr>
        <p:spPr>
          <a:xfrm>
            <a:off x="2406067" y="1870326"/>
            <a:ext cx="944113" cy="30106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3303BE54-BC27-81CB-E089-7818505FA7C3}"/>
              </a:ext>
            </a:extLst>
          </p:cNvPr>
          <p:cNvSpPr/>
          <p:nvPr/>
        </p:nvSpPr>
        <p:spPr>
          <a:xfrm>
            <a:off x="2604186" y="2361397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45D4153E-EB71-8E35-7D4B-27FFCDF7D032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732280" y="1490309"/>
            <a:ext cx="6737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B1AECCDD-16C5-CF22-A748-8EA68246E421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2878124" y="1680317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810ABC59-EC75-285E-3C0A-2ECA0447FCD7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flipH="1">
            <a:off x="2878123" y="2171388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ttangolo 41">
            <a:extLst>
              <a:ext uri="{FF2B5EF4-FFF2-40B4-BE49-F238E27FC236}">
                <a16:creationId xmlns:a16="http://schemas.microsoft.com/office/drawing/2014/main" id="{FB644710-0299-2881-30A8-0C3AADAE9932}"/>
              </a:ext>
            </a:extLst>
          </p:cNvPr>
          <p:cNvSpPr/>
          <p:nvPr/>
        </p:nvSpPr>
        <p:spPr>
          <a:xfrm>
            <a:off x="4232568" y="1300300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Conv3x3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CA9A63E8-8481-ADD1-9CBF-0990F853366E}"/>
              </a:ext>
            </a:extLst>
          </p:cNvPr>
          <p:cNvSpPr/>
          <p:nvPr/>
        </p:nvSpPr>
        <p:spPr>
          <a:xfrm>
            <a:off x="4232568" y="1870326"/>
            <a:ext cx="944113" cy="301062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4DB56673-778C-7893-7702-43A1389E05E3}"/>
              </a:ext>
            </a:extLst>
          </p:cNvPr>
          <p:cNvSpPr/>
          <p:nvPr/>
        </p:nvSpPr>
        <p:spPr>
          <a:xfrm>
            <a:off x="4430687" y="2361397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8A34C932-EF38-4D15-7BBB-8E871D6D3FBA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4704625" y="1680317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DD1822C4-10DF-D5E2-9BC1-AF920AE24847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 flipH="1">
            <a:off x="4704624" y="2171388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ttangolo 48">
            <a:extLst>
              <a:ext uri="{FF2B5EF4-FFF2-40B4-BE49-F238E27FC236}">
                <a16:creationId xmlns:a16="http://schemas.microsoft.com/office/drawing/2014/main" id="{3D6D3C89-61BB-ECCC-74B1-20BF08DAF7D4}"/>
              </a:ext>
            </a:extLst>
          </p:cNvPr>
          <p:cNvSpPr/>
          <p:nvPr/>
        </p:nvSpPr>
        <p:spPr>
          <a:xfrm>
            <a:off x="5742095" y="1300300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A60E895C-0AAD-496C-1980-B8A603CB35C4}"/>
              </a:ext>
            </a:extLst>
          </p:cNvPr>
          <p:cNvSpPr/>
          <p:nvPr/>
        </p:nvSpPr>
        <p:spPr>
          <a:xfrm>
            <a:off x="5742095" y="1870326"/>
            <a:ext cx="944113" cy="301062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97F12D3F-DDF9-91E7-25C8-D5C95B981287}"/>
              </a:ext>
            </a:extLst>
          </p:cNvPr>
          <p:cNvSpPr/>
          <p:nvPr/>
        </p:nvSpPr>
        <p:spPr>
          <a:xfrm>
            <a:off x="5940214" y="2361397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D3585E55-56C3-1351-8371-467B71283BC9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>
            <a:off x="6214152" y="1680317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D3F23AA5-7978-898E-E710-601CDBD710C2}"/>
              </a:ext>
            </a:extLst>
          </p:cNvPr>
          <p:cNvCxnSpPr>
            <a:stCxn id="50" idx="2"/>
            <a:endCxn id="51" idx="0"/>
          </p:cNvCxnSpPr>
          <p:nvPr/>
        </p:nvCxnSpPr>
        <p:spPr>
          <a:xfrm flipH="1">
            <a:off x="6214151" y="2171388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a gomito 54">
            <a:extLst>
              <a:ext uri="{FF2B5EF4-FFF2-40B4-BE49-F238E27FC236}">
                <a16:creationId xmlns:a16="http://schemas.microsoft.com/office/drawing/2014/main" id="{331554E2-0036-7184-09FA-AA546A7A354A}"/>
              </a:ext>
            </a:extLst>
          </p:cNvPr>
          <p:cNvCxnSpPr>
            <a:stCxn id="16" idx="2"/>
            <a:endCxn id="42" idx="0"/>
          </p:cNvCxnSpPr>
          <p:nvPr/>
        </p:nvCxnSpPr>
        <p:spPr>
          <a:xfrm rot="5400000" flipH="1" flipV="1">
            <a:off x="3110294" y="1068129"/>
            <a:ext cx="1362159" cy="1826502"/>
          </a:xfrm>
          <a:prstGeom prst="bentConnector5">
            <a:avLst>
              <a:gd name="adj1" fmla="val -16782"/>
              <a:gd name="adj2" fmla="val 44576"/>
              <a:gd name="adj3" fmla="val 1167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a gomito 56">
            <a:extLst>
              <a:ext uri="{FF2B5EF4-FFF2-40B4-BE49-F238E27FC236}">
                <a16:creationId xmlns:a16="http://schemas.microsoft.com/office/drawing/2014/main" id="{743590C7-2D9F-4AAE-0FFC-B8DEC308089A}"/>
              </a:ext>
            </a:extLst>
          </p:cNvPr>
          <p:cNvCxnSpPr>
            <a:stCxn id="44" idx="2"/>
            <a:endCxn id="49" idx="0"/>
          </p:cNvCxnSpPr>
          <p:nvPr/>
        </p:nvCxnSpPr>
        <p:spPr>
          <a:xfrm rot="5400000" flipH="1" flipV="1">
            <a:off x="4778308" y="1226616"/>
            <a:ext cx="1362159" cy="1509528"/>
          </a:xfrm>
          <a:prstGeom prst="bentConnector5">
            <a:avLst>
              <a:gd name="adj1" fmla="val -16782"/>
              <a:gd name="adj2" fmla="val 43438"/>
              <a:gd name="adj3" fmla="val 1167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e 57">
            <a:extLst>
              <a:ext uri="{FF2B5EF4-FFF2-40B4-BE49-F238E27FC236}">
                <a16:creationId xmlns:a16="http://schemas.microsoft.com/office/drawing/2014/main" id="{49EE4906-E63D-D4F5-5AF1-8BEA2AB65C88}"/>
              </a:ext>
            </a:extLst>
          </p:cNvPr>
          <p:cNvSpPr/>
          <p:nvPr/>
        </p:nvSpPr>
        <p:spPr>
          <a:xfrm>
            <a:off x="7276253" y="1615440"/>
            <a:ext cx="292336" cy="2548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63" name="Connettore a gomito 62">
            <a:extLst>
              <a:ext uri="{FF2B5EF4-FFF2-40B4-BE49-F238E27FC236}">
                <a16:creationId xmlns:a16="http://schemas.microsoft.com/office/drawing/2014/main" id="{7C7F2BFA-657F-397B-9FCD-5160AF1FEAD7}"/>
              </a:ext>
            </a:extLst>
          </p:cNvPr>
          <p:cNvCxnSpPr>
            <a:stCxn id="51" idx="2"/>
            <a:endCxn id="58" idx="4"/>
          </p:cNvCxnSpPr>
          <p:nvPr/>
        </p:nvCxnSpPr>
        <p:spPr>
          <a:xfrm rot="5400000" flipH="1" flipV="1">
            <a:off x="6422219" y="1662258"/>
            <a:ext cx="792133" cy="1208270"/>
          </a:xfrm>
          <a:prstGeom prst="bentConnector3">
            <a:avLst>
              <a:gd name="adj1" fmla="val -288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ttangolo con angoli arrotondati 63">
            <a:extLst>
              <a:ext uri="{FF2B5EF4-FFF2-40B4-BE49-F238E27FC236}">
                <a16:creationId xmlns:a16="http://schemas.microsoft.com/office/drawing/2014/main" id="{B317123C-D9A4-4B2B-78FC-89EF452E7345}"/>
              </a:ext>
            </a:extLst>
          </p:cNvPr>
          <p:cNvSpPr/>
          <p:nvPr/>
        </p:nvSpPr>
        <p:spPr>
          <a:xfrm>
            <a:off x="4136814" y="782320"/>
            <a:ext cx="3586480" cy="235204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5182A822-DC85-CFA6-C9F5-BFBE5AC33CEE}"/>
              </a:ext>
            </a:extLst>
          </p:cNvPr>
          <p:cNvSpPr/>
          <p:nvPr/>
        </p:nvSpPr>
        <p:spPr>
          <a:xfrm>
            <a:off x="2231047" y="1207698"/>
            <a:ext cx="1265306" cy="156597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4" name="Connettore a gomito 73">
            <a:extLst>
              <a:ext uri="{FF2B5EF4-FFF2-40B4-BE49-F238E27FC236}">
                <a16:creationId xmlns:a16="http://schemas.microsoft.com/office/drawing/2014/main" id="{46E9B2BA-A4D5-9BE8-4E2B-F206A2CA34A7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4704623" y="906201"/>
            <a:ext cx="2717798" cy="709239"/>
          </a:xfrm>
          <a:prstGeom prst="bentConnector2">
            <a:avLst/>
          </a:prstGeom>
          <a:ln>
            <a:prstDash val="lgDashDot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Connettore diritto 77">
            <a:extLst>
              <a:ext uri="{FF2B5EF4-FFF2-40B4-BE49-F238E27FC236}">
                <a16:creationId xmlns:a16="http://schemas.microsoft.com/office/drawing/2014/main" id="{7CDE9305-5AE2-7F10-5614-C05997C0ED29}"/>
              </a:ext>
            </a:extLst>
          </p:cNvPr>
          <p:cNvCxnSpPr/>
          <p:nvPr/>
        </p:nvCxnSpPr>
        <p:spPr>
          <a:xfrm flipV="1">
            <a:off x="4704623" y="901700"/>
            <a:ext cx="0" cy="169863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Rettangolo 79">
            <a:extLst>
              <a:ext uri="{FF2B5EF4-FFF2-40B4-BE49-F238E27FC236}">
                <a16:creationId xmlns:a16="http://schemas.microsoft.com/office/drawing/2014/main" id="{6C11F977-2EF2-E443-8761-EF3FEC20E579}"/>
              </a:ext>
            </a:extLst>
          </p:cNvPr>
          <p:cNvSpPr/>
          <p:nvPr/>
        </p:nvSpPr>
        <p:spPr>
          <a:xfrm>
            <a:off x="8030211" y="1592352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EE59622C-5895-3391-2B16-2787DC9EF064}"/>
              </a:ext>
            </a:extLst>
          </p:cNvPr>
          <p:cNvCxnSpPr>
            <a:stCxn id="58" idx="6"/>
            <a:endCxn id="80" idx="1"/>
          </p:cNvCxnSpPr>
          <p:nvPr/>
        </p:nvCxnSpPr>
        <p:spPr>
          <a:xfrm>
            <a:off x="7568589" y="1742883"/>
            <a:ext cx="4616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Segnaposto contenuto 2">
            <a:extLst>
              <a:ext uri="{FF2B5EF4-FFF2-40B4-BE49-F238E27FC236}">
                <a16:creationId xmlns:a16="http://schemas.microsoft.com/office/drawing/2014/main" id="{B1B7903D-6B27-EEDA-712C-F63E79C8E7A1}"/>
              </a:ext>
            </a:extLst>
          </p:cNvPr>
          <p:cNvSpPr txBox="1">
            <a:spLocks/>
          </p:cNvSpPr>
          <p:nvPr/>
        </p:nvSpPr>
        <p:spPr bwMode="auto">
          <a:xfrm>
            <a:off x="2226733" y="976564"/>
            <a:ext cx="1265306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 err="1"/>
              <a:t>Initial</a:t>
            </a:r>
            <a:r>
              <a:rPr lang="it-IT" sz="1100" dirty="0"/>
              <a:t> Block</a:t>
            </a:r>
          </a:p>
        </p:txBody>
      </p:sp>
      <p:sp>
        <p:nvSpPr>
          <p:cNvPr id="87" name="Segnaposto contenuto 2">
            <a:extLst>
              <a:ext uri="{FF2B5EF4-FFF2-40B4-BE49-F238E27FC236}">
                <a16:creationId xmlns:a16="http://schemas.microsoft.com/office/drawing/2014/main" id="{0ED13796-2BAF-0471-C596-D4C4CA00249F}"/>
              </a:ext>
            </a:extLst>
          </p:cNvPr>
          <p:cNvSpPr txBox="1">
            <a:spLocks/>
          </p:cNvSpPr>
          <p:nvPr/>
        </p:nvSpPr>
        <p:spPr bwMode="auto">
          <a:xfrm>
            <a:off x="4136814" y="510030"/>
            <a:ext cx="3586479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3 X </a:t>
            </a:r>
            <a:r>
              <a:rPr lang="it-IT" sz="1100" dirty="0" err="1"/>
              <a:t>Residual</a:t>
            </a:r>
            <a:r>
              <a:rPr lang="it-IT" sz="1100" dirty="0"/>
              <a:t> Block</a:t>
            </a:r>
          </a:p>
        </p:txBody>
      </p:sp>
      <p:sp>
        <p:nvSpPr>
          <p:cNvPr id="89" name="Segnaposto contenuto 2">
            <a:extLst>
              <a:ext uri="{FF2B5EF4-FFF2-40B4-BE49-F238E27FC236}">
                <a16:creationId xmlns:a16="http://schemas.microsoft.com/office/drawing/2014/main" id="{7DB01580-A42A-1393-9585-88CF9CC302E2}"/>
              </a:ext>
            </a:extLst>
          </p:cNvPr>
          <p:cNvSpPr txBox="1">
            <a:spLocks/>
          </p:cNvSpPr>
          <p:nvPr/>
        </p:nvSpPr>
        <p:spPr bwMode="auto">
          <a:xfrm>
            <a:off x="6733076" y="993648"/>
            <a:ext cx="654087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 err="1"/>
              <a:t>Residual</a:t>
            </a:r>
            <a:endParaRPr lang="it-IT" sz="1000" dirty="0"/>
          </a:p>
        </p:txBody>
      </p:sp>
      <p:sp>
        <p:nvSpPr>
          <p:cNvPr id="92" name="Segnaposto contenuto 2">
            <a:extLst>
              <a:ext uri="{FF2B5EF4-FFF2-40B4-BE49-F238E27FC236}">
                <a16:creationId xmlns:a16="http://schemas.microsoft.com/office/drawing/2014/main" id="{DE28C55A-5CB9-BCD3-F9BC-B60180CE1F4E}"/>
              </a:ext>
            </a:extLst>
          </p:cNvPr>
          <p:cNvSpPr txBox="1">
            <a:spLocks/>
          </p:cNvSpPr>
          <p:nvPr/>
        </p:nvSpPr>
        <p:spPr bwMode="auto">
          <a:xfrm>
            <a:off x="7819048" y="1324520"/>
            <a:ext cx="970198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/>
              <a:t>(128, 16, 16)</a:t>
            </a:r>
          </a:p>
        </p:txBody>
      </p:sp>
      <p:sp>
        <p:nvSpPr>
          <p:cNvPr id="93" name="Rettangolo 92">
            <a:extLst>
              <a:ext uri="{FF2B5EF4-FFF2-40B4-BE49-F238E27FC236}">
                <a16:creationId xmlns:a16="http://schemas.microsoft.com/office/drawing/2014/main" id="{5CB83A13-2640-929E-ADC0-5329A9B6DAB0}"/>
              </a:ext>
            </a:extLst>
          </p:cNvPr>
          <p:cNvSpPr/>
          <p:nvPr/>
        </p:nvSpPr>
        <p:spPr>
          <a:xfrm>
            <a:off x="9396406" y="863115"/>
            <a:ext cx="1480870" cy="3800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AvgPool2D</a:t>
            </a:r>
          </a:p>
          <a:p>
            <a:pPr algn="ctr"/>
            <a:r>
              <a:rPr lang="it-IT" sz="1100" dirty="0"/>
              <a:t>(128, 1, 1)</a:t>
            </a:r>
          </a:p>
        </p:txBody>
      </p:sp>
      <p:sp>
        <p:nvSpPr>
          <p:cNvPr id="94" name="Rettangolo 93">
            <a:extLst>
              <a:ext uri="{FF2B5EF4-FFF2-40B4-BE49-F238E27FC236}">
                <a16:creationId xmlns:a16="http://schemas.microsoft.com/office/drawing/2014/main" id="{C28EDFCE-C28A-9F84-723A-2D0DF852F2D1}"/>
              </a:ext>
            </a:extLst>
          </p:cNvPr>
          <p:cNvSpPr/>
          <p:nvPr/>
        </p:nvSpPr>
        <p:spPr>
          <a:xfrm>
            <a:off x="9396406" y="1433141"/>
            <a:ext cx="1480870" cy="301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16</a:t>
            </a:r>
            <a:endParaRPr lang="it-IT" sz="1100" dirty="0"/>
          </a:p>
        </p:txBody>
      </p:sp>
      <p:sp>
        <p:nvSpPr>
          <p:cNvPr id="95" name="Rettangolo 94">
            <a:extLst>
              <a:ext uri="{FF2B5EF4-FFF2-40B4-BE49-F238E27FC236}">
                <a16:creationId xmlns:a16="http://schemas.microsoft.com/office/drawing/2014/main" id="{0E08455D-CAFE-06F3-016E-0A9A67B88CAF}"/>
              </a:ext>
            </a:extLst>
          </p:cNvPr>
          <p:cNvSpPr/>
          <p:nvPr/>
        </p:nvSpPr>
        <p:spPr>
          <a:xfrm>
            <a:off x="9863241" y="1924212"/>
            <a:ext cx="547200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96" name="Connettore 2 95">
            <a:extLst>
              <a:ext uri="{FF2B5EF4-FFF2-40B4-BE49-F238E27FC236}">
                <a16:creationId xmlns:a16="http://schemas.microsoft.com/office/drawing/2014/main" id="{713FD4D0-7E42-047C-9119-ECEA4ADBB0E4}"/>
              </a:ext>
            </a:extLst>
          </p:cNvPr>
          <p:cNvCxnSpPr>
            <a:cxnSpLocks/>
            <a:stCxn id="93" idx="2"/>
            <a:endCxn id="94" idx="0"/>
          </p:cNvCxnSpPr>
          <p:nvPr/>
        </p:nvCxnSpPr>
        <p:spPr>
          <a:xfrm>
            <a:off x="10136841" y="1243132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659E4A19-EA31-467D-EF0F-F80E5DCEF19B}"/>
              </a:ext>
            </a:extLst>
          </p:cNvPr>
          <p:cNvCxnSpPr>
            <a:cxnSpLocks/>
            <a:stCxn id="94" idx="2"/>
            <a:endCxn id="95" idx="0"/>
          </p:cNvCxnSpPr>
          <p:nvPr/>
        </p:nvCxnSpPr>
        <p:spPr>
          <a:xfrm>
            <a:off x="10136841" y="1734203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73979C04-AC5E-1784-EC81-EF0A7DAF7F2B}"/>
              </a:ext>
            </a:extLst>
          </p:cNvPr>
          <p:cNvSpPr/>
          <p:nvPr/>
        </p:nvSpPr>
        <p:spPr>
          <a:xfrm>
            <a:off x="9217072" y="738762"/>
            <a:ext cx="1804835" cy="260262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9" name="Segnaposto contenuto 2">
            <a:extLst>
              <a:ext uri="{FF2B5EF4-FFF2-40B4-BE49-F238E27FC236}">
                <a16:creationId xmlns:a16="http://schemas.microsoft.com/office/drawing/2014/main" id="{40CA589A-45D7-5C3A-2217-1079A44AEC17}"/>
              </a:ext>
            </a:extLst>
          </p:cNvPr>
          <p:cNvSpPr txBox="1">
            <a:spLocks/>
          </p:cNvSpPr>
          <p:nvPr/>
        </p:nvSpPr>
        <p:spPr bwMode="auto">
          <a:xfrm>
            <a:off x="9217072" y="453302"/>
            <a:ext cx="180483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Channel </a:t>
            </a:r>
            <a:r>
              <a:rPr lang="it-IT" sz="1100" dirty="0" err="1"/>
              <a:t>Attention</a:t>
            </a:r>
            <a:endParaRPr lang="it-IT" sz="1100" dirty="0"/>
          </a:p>
        </p:txBody>
      </p:sp>
      <p:sp>
        <p:nvSpPr>
          <p:cNvPr id="103" name="Rettangolo 102">
            <a:extLst>
              <a:ext uri="{FF2B5EF4-FFF2-40B4-BE49-F238E27FC236}">
                <a16:creationId xmlns:a16="http://schemas.microsoft.com/office/drawing/2014/main" id="{83C96E5C-D303-CF16-93AF-6EC3A509CB46}"/>
              </a:ext>
            </a:extLst>
          </p:cNvPr>
          <p:cNvSpPr/>
          <p:nvPr/>
        </p:nvSpPr>
        <p:spPr>
          <a:xfrm>
            <a:off x="9395015" y="2415480"/>
            <a:ext cx="1480870" cy="301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16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endParaRPr lang="it-IT" sz="1100" dirty="0"/>
          </a:p>
        </p:txBody>
      </p:sp>
      <p:sp>
        <p:nvSpPr>
          <p:cNvPr id="104" name="Rettangolo 103">
            <a:extLst>
              <a:ext uri="{FF2B5EF4-FFF2-40B4-BE49-F238E27FC236}">
                <a16:creationId xmlns:a16="http://schemas.microsoft.com/office/drawing/2014/main" id="{39B021E4-1188-3494-A86B-D3246BD5B367}"/>
              </a:ext>
            </a:extLst>
          </p:cNvPr>
          <p:cNvSpPr/>
          <p:nvPr/>
        </p:nvSpPr>
        <p:spPr>
          <a:xfrm>
            <a:off x="9705772" y="2925663"/>
            <a:ext cx="859355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Sigmoid</a:t>
            </a:r>
            <a:endParaRPr lang="it-IT" sz="1100" dirty="0"/>
          </a:p>
        </p:txBody>
      </p:sp>
      <p:cxnSp>
        <p:nvCxnSpPr>
          <p:cNvPr id="105" name="Connettore 2 104">
            <a:extLst>
              <a:ext uri="{FF2B5EF4-FFF2-40B4-BE49-F238E27FC236}">
                <a16:creationId xmlns:a16="http://schemas.microsoft.com/office/drawing/2014/main" id="{E1722B7B-82B4-A4B4-F035-369E3B12FF03}"/>
              </a:ext>
            </a:extLst>
          </p:cNvPr>
          <p:cNvCxnSpPr>
            <a:cxnSpLocks/>
            <a:stCxn id="103" idx="2"/>
            <a:endCxn id="104" idx="0"/>
          </p:cNvCxnSpPr>
          <p:nvPr/>
        </p:nvCxnSpPr>
        <p:spPr>
          <a:xfrm>
            <a:off x="10135450" y="2716542"/>
            <a:ext cx="0" cy="209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ttore 2 106">
            <a:extLst>
              <a:ext uri="{FF2B5EF4-FFF2-40B4-BE49-F238E27FC236}">
                <a16:creationId xmlns:a16="http://schemas.microsoft.com/office/drawing/2014/main" id="{0D555BED-DCB2-6E6F-EA59-8FFD29465BCA}"/>
              </a:ext>
            </a:extLst>
          </p:cNvPr>
          <p:cNvCxnSpPr>
            <a:stCxn id="95" idx="2"/>
            <a:endCxn id="103" idx="0"/>
          </p:cNvCxnSpPr>
          <p:nvPr/>
        </p:nvCxnSpPr>
        <p:spPr>
          <a:xfrm flipH="1">
            <a:off x="10135450" y="2225274"/>
            <a:ext cx="1391" cy="190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ttore a gomito 111">
            <a:extLst>
              <a:ext uri="{FF2B5EF4-FFF2-40B4-BE49-F238E27FC236}">
                <a16:creationId xmlns:a16="http://schemas.microsoft.com/office/drawing/2014/main" id="{01B8706A-5AD5-93B6-4A83-2BAF9CACEA9C}"/>
              </a:ext>
            </a:extLst>
          </p:cNvPr>
          <p:cNvCxnSpPr>
            <a:stCxn id="80" idx="3"/>
            <a:endCxn id="93" idx="1"/>
          </p:cNvCxnSpPr>
          <p:nvPr/>
        </p:nvCxnSpPr>
        <p:spPr>
          <a:xfrm flipV="1">
            <a:off x="8578084" y="1053124"/>
            <a:ext cx="818322" cy="6897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20BC5576-C7A8-57C9-AEFD-7F2529ECC486}"/>
              </a:ext>
            </a:extLst>
          </p:cNvPr>
          <p:cNvSpPr/>
          <p:nvPr/>
        </p:nvSpPr>
        <p:spPr>
          <a:xfrm>
            <a:off x="9233031" y="3882224"/>
            <a:ext cx="1804835" cy="391879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Modulation</a:t>
            </a:r>
            <a:endParaRPr lang="it-IT" sz="1100" dirty="0"/>
          </a:p>
          <a:p>
            <a:pPr algn="ctr"/>
            <a:r>
              <a:rPr lang="it-IT" sz="1100" dirty="0"/>
              <a:t>(</a:t>
            </a:r>
            <a:r>
              <a:rPr lang="it-IT" sz="1100" dirty="0" err="1"/>
              <a:t>Element</a:t>
            </a:r>
            <a:r>
              <a:rPr lang="it-IT" sz="1100" dirty="0"/>
              <a:t>-wise </a:t>
            </a:r>
            <a:r>
              <a:rPr lang="it-IT" sz="1100" dirty="0" err="1"/>
              <a:t>multiply</a:t>
            </a:r>
            <a:r>
              <a:rPr lang="it-IT" sz="1100" dirty="0"/>
              <a:t>)</a:t>
            </a:r>
          </a:p>
        </p:txBody>
      </p:sp>
      <p:sp>
        <p:nvSpPr>
          <p:cNvPr id="119" name="Segnaposto contenuto 2">
            <a:extLst>
              <a:ext uri="{FF2B5EF4-FFF2-40B4-BE49-F238E27FC236}">
                <a16:creationId xmlns:a16="http://schemas.microsoft.com/office/drawing/2014/main" id="{A3A51AB7-44C1-A69B-6823-B6935CDA0ECE}"/>
              </a:ext>
            </a:extLst>
          </p:cNvPr>
          <p:cNvSpPr txBox="1">
            <a:spLocks/>
          </p:cNvSpPr>
          <p:nvPr/>
        </p:nvSpPr>
        <p:spPr bwMode="auto">
          <a:xfrm>
            <a:off x="9678985" y="4292884"/>
            <a:ext cx="91292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/>
              <a:t>(128, 16, 16)</a:t>
            </a:r>
          </a:p>
        </p:txBody>
      </p:sp>
      <p:cxnSp>
        <p:nvCxnSpPr>
          <p:cNvPr id="121" name="Connettore 2 120">
            <a:extLst>
              <a:ext uri="{FF2B5EF4-FFF2-40B4-BE49-F238E27FC236}">
                <a16:creationId xmlns:a16="http://schemas.microsoft.com/office/drawing/2014/main" id="{2282B7EE-ECD0-C70F-D775-DE058215822B}"/>
              </a:ext>
            </a:extLst>
          </p:cNvPr>
          <p:cNvCxnSpPr>
            <a:cxnSpLocks/>
            <a:stCxn id="104" idx="2"/>
            <a:endCxn id="117" idx="0"/>
          </p:cNvCxnSpPr>
          <p:nvPr/>
        </p:nvCxnSpPr>
        <p:spPr>
          <a:xfrm flipH="1">
            <a:off x="10135449" y="3226725"/>
            <a:ext cx="1" cy="65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ttore a gomito 124">
            <a:extLst>
              <a:ext uri="{FF2B5EF4-FFF2-40B4-BE49-F238E27FC236}">
                <a16:creationId xmlns:a16="http://schemas.microsoft.com/office/drawing/2014/main" id="{62E217FB-09CF-7A6E-C6B4-966B491510E8}"/>
              </a:ext>
            </a:extLst>
          </p:cNvPr>
          <p:cNvCxnSpPr>
            <a:cxnSpLocks/>
            <a:stCxn id="93" idx="3"/>
            <a:endCxn id="117" idx="3"/>
          </p:cNvCxnSpPr>
          <p:nvPr/>
        </p:nvCxnSpPr>
        <p:spPr>
          <a:xfrm>
            <a:off x="10877276" y="1053124"/>
            <a:ext cx="160590" cy="3025040"/>
          </a:xfrm>
          <a:prstGeom prst="bentConnector3">
            <a:avLst>
              <a:gd name="adj1" fmla="val 2423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ttangolo 128">
            <a:extLst>
              <a:ext uri="{FF2B5EF4-FFF2-40B4-BE49-F238E27FC236}">
                <a16:creationId xmlns:a16="http://schemas.microsoft.com/office/drawing/2014/main" id="{F2696AC9-009F-D9BA-B8B2-2E7640DBE982}"/>
              </a:ext>
            </a:extLst>
          </p:cNvPr>
          <p:cNvSpPr/>
          <p:nvPr/>
        </p:nvSpPr>
        <p:spPr>
          <a:xfrm>
            <a:off x="7060119" y="3554475"/>
            <a:ext cx="1208700" cy="335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</a:t>
            </a:r>
          </a:p>
          <a:p>
            <a:pPr algn="ctr"/>
            <a:r>
              <a:rPr lang="it-IT" sz="1100" dirty="0"/>
              <a:t>AvgPool2D</a:t>
            </a:r>
          </a:p>
        </p:txBody>
      </p:sp>
      <p:sp>
        <p:nvSpPr>
          <p:cNvPr id="131" name="Rettangolo 130">
            <a:extLst>
              <a:ext uri="{FF2B5EF4-FFF2-40B4-BE49-F238E27FC236}">
                <a16:creationId xmlns:a16="http://schemas.microsoft.com/office/drawing/2014/main" id="{54763C62-FAFD-F41B-4E25-9095C4691BFB}"/>
              </a:ext>
            </a:extLst>
          </p:cNvPr>
          <p:cNvSpPr/>
          <p:nvPr/>
        </p:nvSpPr>
        <p:spPr>
          <a:xfrm>
            <a:off x="7060119" y="4278517"/>
            <a:ext cx="1208700" cy="335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</a:t>
            </a:r>
          </a:p>
          <a:p>
            <a:pPr algn="ctr"/>
            <a:r>
              <a:rPr lang="it-IT" sz="1100" dirty="0"/>
              <a:t>MaxPool2D</a:t>
            </a:r>
          </a:p>
        </p:txBody>
      </p:sp>
      <p:sp>
        <p:nvSpPr>
          <p:cNvPr id="133" name="Rettangolo 132">
            <a:extLst>
              <a:ext uri="{FF2B5EF4-FFF2-40B4-BE49-F238E27FC236}">
                <a16:creationId xmlns:a16="http://schemas.microsoft.com/office/drawing/2014/main" id="{5E903F7C-8D02-BD13-1C40-C0621A9494B3}"/>
              </a:ext>
            </a:extLst>
          </p:cNvPr>
          <p:cNvSpPr/>
          <p:nvPr/>
        </p:nvSpPr>
        <p:spPr>
          <a:xfrm>
            <a:off x="5701238" y="3943397"/>
            <a:ext cx="912925" cy="3351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Concatenate</a:t>
            </a:r>
          </a:p>
          <a:p>
            <a:pPr algn="ctr"/>
            <a:r>
              <a:rPr lang="it-IT" sz="1100" dirty="0"/>
              <a:t>(256 </a:t>
            </a:r>
            <a:r>
              <a:rPr lang="it-IT" sz="1100" dirty="0" err="1"/>
              <a:t>values</a:t>
            </a:r>
            <a:r>
              <a:rPr lang="it-IT" sz="1100" dirty="0"/>
              <a:t>)</a:t>
            </a:r>
          </a:p>
        </p:txBody>
      </p:sp>
      <p:cxnSp>
        <p:nvCxnSpPr>
          <p:cNvPr id="137" name="Connettore a gomito 136">
            <a:extLst>
              <a:ext uri="{FF2B5EF4-FFF2-40B4-BE49-F238E27FC236}">
                <a16:creationId xmlns:a16="http://schemas.microsoft.com/office/drawing/2014/main" id="{CCD4FC0E-2F1D-3D17-5B82-FBA15791DC34}"/>
              </a:ext>
            </a:extLst>
          </p:cNvPr>
          <p:cNvCxnSpPr>
            <a:cxnSpLocks/>
            <a:stCxn id="117" idx="1"/>
            <a:endCxn id="129" idx="3"/>
          </p:cNvCxnSpPr>
          <p:nvPr/>
        </p:nvCxnSpPr>
        <p:spPr>
          <a:xfrm rot="10800000">
            <a:off x="8268819" y="3722036"/>
            <a:ext cx="964212" cy="3561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ttore a gomito 138">
            <a:extLst>
              <a:ext uri="{FF2B5EF4-FFF2-40B4-BE49-F238E27FC236}">
                <a16:creationId xmlns:a16="http://schemas.microsoft.com/office/drawing/2014/main" id="{D2DB39C3-ACC6-5A42-6E31-7AB4A34B9B15}"/>
              </a:ext>
            </a:extLst>
          </p:cNvPr>
          <p:cNvCxnSpPr>
            <a:cxnSpLocks/>
            <a:stCxn id="117" idx="1"/>
            <a:endCxn id="131" idx="3"/>
          </p:cNvCxnSpPr>
          <p:nvPr/>
        </p:nvCxnSpPr>
        <p:spPr>
          <a:xfrm rot="10800000" flipV="1">
            <a:off x="8268819" y="4078163"/>
            <a:ext cx="964212" cy="3679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ttore a gomito 140">
            <a:extLst>
              <a:ext uri="{FF2B5EF4-FFF2-40B4-BE49-F238E27FC236}">
                <a16:creationId xmlns:a16="http://schemas.microsoft.com/office/drawing/2014/main" id="{11171E9B-7162-7339-8027-CC8D00FC2D1B}"/>
              </a:ext>
            </a:extLst>
          </p:cNvPr>
          <p:cNvCxnSpPr>
            <a:stCxn id="129" idx="1"/>
            <a:endCxn id="133" idx="0"/>
          </p:cNvCxnSpPr>
          <p:nvPr/>
        </p:nvCxnSpPr>
        <p:spPr>
          <a:xfrm rot="10800000" flipV="1">
            <a:off x="6157701" y="3722035"/>
            <a:ext cx="902418" cy="2213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ttore a gomito 142">
            <a:extLst>
              <a:ext uri="{FF2B5EF4-FFF2-40B4-BE49-F238E27FC236}">
                <a16:creationId xmlns:a16="http://schemas.microsoft.com/office/drawing/2014/main" id="{7465A96A-A03F-6FEA-713F-02636BF71566}"/>
              </a:ext>
            </a:extLst>
          </p:cNvPr>
          <p:cNvCxnSpPr>
            <a:stCxn id="131" idx="1"/>
            <a:endCxn id="133" idx="2"/>
          </p:cNvCxnSpPr>
          <p:nvPr/>
        </p:nvCxnSpPr>
        <p:spPr>
          <a:xfrm rot="10800000">
            <a:off x="6157701" y="4278517"/>
            <a:ext cx="902418" cy="1675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ttangolo 144">
            <a:extLst>
              <a:ext uri="{FF2B5EF4-FFF2-40B4-BE49-F238E27FC236}">
                <a16:creationId xmlns:a16="http://schemas.microsoft.com/office/drawing/2014/main" id="{8492310D-860E-7DD0-DA28-3C6E123C9CB1}"/>
              </a:ext>
            </a:extLst>
          </p:cNvPr>
          <p:cNvSpPr/>
          <p:nvPr/>
        </p:nvSpPr>
        <p:spPr>
          <a:xfrm>
            <a:off x="4141215" y="4572907"/>
            <a:ext cx="547200" cy="302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sp>
        <p:nvSpPr>
          <p:cNvPr id="147" name="Rettangolo 146">
            <a:extLst>
              <a:ext uri="{FF2B5EF4-FFF2-40B4-BE49-F238E27FC236}">
                <a16:creationId xmlns:a16="http://schemas.microsoft.com/office/drawing/2014/main" id="{FF51F110-F522-BDE3-99ED-916E583F0587}"/>
              </a:ext>
            </a:extLst>
          </p:cNvPr>
          <p:cNvSpPr/>
          <p:nvPr/>
        </p:nvSpPr>
        <p:spPr>
          <a:xfrm>
            <a:off x="3810466" y="3938984"/>
            <a:ext cx="1208700" cy="335120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Linear </a:t>
            </a:r>
          </a:p>
          <a:p>
            <a:pPr algn="ctr"/>
            <a:r>
              <a:rPr lang="it-IT" sz="1100" dirty="0"/>
              <a:t>256 </a:t>
            </a:r>
            <a:r>
              <a:rPr lang="it-IT" sz="1100" dirty="0">
                <a:sym typeface="Wingdings" panose="05000000000000000000" pitchFamily="2" charset="2"/>
              </a:rPr>
              <a:t> 60</a:t>
            </a:r>
            <a:endParaRPr lang="it-IT" sz="1100" dirty="0"/>
          </a:p>
        </p:txBody>
      </p:sp>
      <p:sp>
        <p:nvSpPr>
          <p:cNvPr id="149" name="Rettangolo 148">
            <a:extLst>
              <a:ext uri="{FF2B5EF4-FFF2-40B4-BE49-F238E27FC236}">
                <a16:creationId xmlns:a16="http://schemas.microsoft.com/office/drawing/2014/main" id="{CFF8EB64-2E0C-65F3-322E-617A6E353878}"/>
              </a:ext>
            </a:extLst>
          </p:cNvPr>
          <p:cNvSpPr/>
          <p:nvPr/>
        </p:nvSpPr>
        <p:spPr>
          <a:xfrm>
            <a:off x="2040176" y="3950052"/>
            <a:ext cx="1208700" cy="33512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Dropout 0.30</a:t>
            </a:r>
          </a:p>
        </p:txBody>
      </p:sp>
      <p:sp>
        <p:nvSpPr>
          <p:cNvPr id="151" name="Rettangolo 150">
            <a:extLst>
              <a:ext uri="{FF2B5EF4-FFF2-40B4-BE49-F238E27FC236}">
                <a16:creationId xmlns:a16="http://schemas.microsoft.com/office/drawing/2014/main" id="{1E05728E-4EC7-3B8F-FAED-A9F3C756AA14}"/>
              </a:ext>
            </a:extLst>
          </p:cNvPr>
          <p:cNvSpPr/>
          <p:nvPr/>
        </p:nvSpPr>
        <p:spPr>
          <a:xfrm>
            <a:off x="2040176" y="4529328"/>
            <a:ext cx="1208700" cy="33512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Linear</a:t>
            </a:r>
          </a:p>
          <a:p>
            <a:pPr algn="ctr"/>
            <a:r>
              <a:rPr lang="it-IT" sz="1100" dirty="0"/>
              <a:t>64 </a:t>
            </a:r>
            <a:r>
              <a:rPr lang="it-IT" sz="1100" dirty="0">
                <a:sym typeface="Wingdings" panose="05000000000000000000" pitchFamily="2" charset="2"/>
              </a:rPr>
              <a:t> 1</a:t>
            </a:r>
            <a:endParaRPr lang="it-IT" sz="1100" dirty="0"/>
          </a:p>
        </p:txBody>
      </p:sp>
      <p:sp>
        <p:nvSpPr>
          <p:cNvPr id="155" name="Rettangolo 154">
            <a:extLst>
              <a:ext uri="{FF2B5EF4-FFF2-40B4-BE49-F238E27FC236}">
                <a16:creationId xmlns:a16="http://schemas.microsoft.com/office/drawing/2014/main" id="{3F36A0ED-AF20-37BD-6C64-00627B4042F4}"/>
              </a:ext>
            </a:extLst>
          </p:cNvPr>
          <p:cNvSpPr/>
          <p:nvPr/>
        </p:nvSpPr>
        <p:spPr>
          <a:xfrm>
            <a:off x="484201" y="4529328"/>
            <a:ext cx="774502" cy="3351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Logit</a:t>
            </a:r>
            <a:r>
              <a:rPr lang="it-IT" sz="1100" dirty="0"/>
              <a:t> Loss</a:t>
            </a:r>
          </a:p>
        </p:txBody>
      </p:sp>
      <p:sp>
        <p:nvSpPr>
          <p:cNvPr id="157" name="Rettangolo 156">
            <a:extLst>
              <a:ext uri="{FF2B5EF4-FFF2-40B4-BE49-F238E27FC236}">
                <a16:creationId xmlns:a16="http://schemas.microsoft.com/office/drawing/2014/main" id="{20EA7B52-F805-1179-67A4-B2129178555E}"/>
              </a:ext>
            </a:extLst>
          </p:cNvPr>
          <p:cNvSpPr/>
          <p:nvPr/>
        </p:nvSpPr>
        <p:spPr>
          <a:xfrm>
            <a:off x="489770" y="3950052"/>
            <a:ext cx="768933" cy="3351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Sigmoid</a:t>
            </a:r>
            <a:endParaRPr lang="it-IT" sz="1100" dirty="0"/>
          </a:p>
        </p:txBody>
      </p:sp>
      <p:sp>
        <p:nvSpPr>
          <p:cNvPr id="159" name="Rettangolo con angoli arrotondati 158">
            <a:extLst>
              <a:ext uri="{FF2B5EF4-FFF2-40B4-BE49-F238E27FC236}">
                <a16:creationId xmlns:a16="http://schemas.microsoft.com/office/drawing/2014/main" id="{C9EC31E6-75EE-9906-CA56-8E8997CDF220}"/>
              </a:ext>
            </a:extLst>
          </p:cNvPr>
          <p:cNvSpPr/>
          <p:nvPr/>
        </p:nvSpPr>
        <p:spPr>
          <a:xfrm>
            <a:off x="1753111" y="3608472"/>
            <a:ext cx="3586480" cy="167067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1" name="Segnaposto contenuto 2">
            <a:extLst>
              <a:ext uri="{FF2B5EF4-FFF2-40B4-BE49-F238E27FC236}">
                <a16:creationId xmlns:a16="http://schemas.microsoft.com/office/drawing/2014/main" id="{53342CF0-8CAC-9C8B-E0AB-E6ADA8E441D7}"/>
              </a:ext>
            </a:extLst>
          </p:cNvPr>
          <p:cNvSpPr txBox="1">
            <a:spLocks/>
          </p:cNvSpPr>
          <p:nvPr/>
        </p:nvSpPr>
        <p:spPr bwMode="auto">
          <a:xfrm>
            <a:off x="1753111" y="3368672"/>
            <a:ext cx="3586480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FFNN </a:t>
            </a:r>
            <a:r>
              <a:rPr lang="it-IT" sz="1100" dirty="0" err="1"/>
              <a:t>Classifier</a:t>
            </a:r>
            <a:endParaRPr lang="it-IT" sz="1100" dirty="0"/>
          </a:p>
        </p:txBody>
      </p:sp>
      <p:sp>
        <p:nvSpPr>
          <p:cNvPr id="163" name="Segnaposto contenuto 2">
            <a:extLst>
              <a:ext uri="{FF2B5EF4-FFF2-40B4-BE49-F238E27FC236}">
                <a16:creationId xmlns:a16="http://schemas.microsoft.com/office/drawing/2014/main" id="{A809E75F-EB59-93C5-63D0-7C9661263C51}"/>
              </a:ext>
            </a:extLst>
          </p:cNvPr>
          <p:cNvSpPr txBox="1">
            <a:spLocks/>
          </p:cNvSpPr>
          <p:nvPr/>
        </p:nvSpPr>
        <p:spPr bwMode="auto">
          <a:xfrm>
            <a:off x="681486" y="937580"/>
            <a:ext cx="1050793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Input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0564EE06-3A2A-9BE1-8609-77B2094B395F}"/>
              </a:ext>
            </a:extLst>
          </p:cNvPr>
          <p:cNvCxnSpPr>
            <a:stCxn id="133" idx="1"/>
            <a:endCxn id="147" idx="3"/>
          </p:cNvCxnSpPr>
          <p:nvPr/>
        </p:nvCxnSpPr>
        <p:spPr>
          <a:xfrm flipH="1" flipV="1">
            <a:off x="5019166" y="4106544"/>
            <a:ext cx="682072" cy="4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ttore 2 167">
            <a:extLst>
              <a:ext uri="{FF2B5EF4-FFF2-40B4-BE49-F238E27FC236}">
                <a16:creationId xmlns:a16="http://schemas.microsoft.com/office/drawing/2014/main" id="{C5E2A542-AB71-7D03-785C-8F3AE3175446}"/>
              </a:ext>
            </a:extLst>
          </p:cNvPr>
          <p:cNvCxnSpPr>
            <a:stCxn id="147" idx="2"/>
            <a:endCxn id="145" idx="0"/>
          </p:cNvCxnSpPr>
          <p:nvPr/>
        </p:nvCxnSpPr>
        <p:spPr>
          <a:xfrm flipH="1">
            <a:off x="4414815" y="4274104"/>
            <a:ext cx="1" cy="298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ttore a gomito 169">
            <a:extLst>
              <a:ext uri="{FF2B5EF4-FFF2-40B4-BE49-F238E27FC236}">
                <a16:creationId xmlns:a16="http://schemas.microsoft.com/office/drawing/2014/main" id="{1322338E-BC63-A41D-0278-54150A3EF007}"/>
              </a:ext>
            </a:extLst>
          </p:cNvPr>
          <p:cNvCxnSpPr>
            <a:stCxn id="145" idx="2"/>
            <a:endCxn id="149" idx="0"/>
          </p:cNvCxnSpPr>
          <p:nvPr/>
        </p:nvCxnSpPr>
        <p:spPr>
          <a:xfrm rot="5400000" flipH="1">
            <a:off x="3067043" y="3527536"/>
            <a:ext cx="925255" cy="1770289"/>
          </a:xfrm>
          <a:prstGeom prst="bentConnector5">
            <a:avLst>
              <a:gd name="adj1" fmla="val -24707"/>
              <a:gd name="adj2" fmla="val 40658"/>
              <a:gd name="adj3" fmla="val 1247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ttore 2 171">
            <a:extLst>
              <a:ext uri="{FF2B5EF4-FFF2-40B4-BE49-F238E27FC236}">
                <a16:creationId xmlns:a16="http://schemas.microsoft.com/office/drawing/2014/main" id="{7E1E1CB4-5F46-BB77-689A-27B7BF1DA5F1}"/>
              </a:ext>
            </a:extLst>
          </p:cNvPr>
          <p:cNvCxnSpPr>
            <a:stCxn id="149" idx="2"/>
            <a:endCxn id="151" idx="0"/>
          </p:cNvCxnSpPr>
          <p:nvPr/>
        </p:nvCxnSpPr>
        <p:spPr>
          <a:xfrm>
            <a:off x="2644526" y="4285172"/>
            <a:ext cx="0" cy="244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ttore a gomito 173">
            <a:extLst>
              <a:ext uri="{FF2B5EF4-FFF2-40B4-BE49-F238E27FC236}">
                <a16:creationId xmlns:a16="http://schemas.microsoft.com/office/drawing/2014/main" id="{01E075E4-DADB-B14F-AE24-857480CC55E2}"/>
              </a:ext>
            </a:extLst>
          </p:cNvPr>
          <p:cNvCxnSpPr>
            <a:cxnSpLocks/>
            <a:stCxn id="151" idx="2"/>
            <a:endCxn id="155" idx="2"/>
          </p:cNvCxnSpPr>
          <p:nvPr/>
        </p:nvCxnSpPr>
        <p:spPr>
          <a:xfrm rot="5400000">
            <a:off x="1757989" y="3977911"/>
            <a:ext cx="12700" cy="1773074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ttore 2 177">
            <a:extLst>
              <a:ext uri="{FF2B5EF4-FFF2-40B4-BE49-F238E27FC236}">
                <a16:creationId xmlns:a16="http://schemas.microsoft.com/office/drawing/2014/main" id="{362DB51C-ED30-5F96-F10F-5E0EEBFDF32F}"/>
              </a:ext>
            </a:extLst>
          </p:cNvPr>
          <p:cNvCxnSpPr>
            <a:cxnSpLocks/>
            <a:stCxn id="155" idx="0"/>
            <a:endCxn id="157" idx="2"/>
          </p:cNvCxnSpPr>
          <p:nvPr/>
        </p:nvCxnSpPr>
        <p:spPr>
          <a:xfrm flipV="1">
            <a:off x="871452" y="4285172"/>
            <a:ext cx="2785" cy="244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ttore a gomito 179">
            <a:extLst>
              <a:ext uri="{FF2B5EF4-FFF2-40B4-BE49-F238E27FC236}">
                <a16:creationId xmlns:a16="http://schemas.microsoft.com/office/drawing/2014/main" id="{8AB96682-9D73-0D9A-1639-FDFC5C2D601F}"/>
              </a:ext>
            </a:extLst>
          </p:cNvPr>
          <p:cNvCxnSpPr>
            <a:stCxn id="151" idx="1"/>
            <a:endCxn id="157" idx="3"/>
          </p:cNvCxnSpPr>
          <p:nvPr/>
        </p:nvCxnSpPr>
        <p:spPr>
          <a:xfrm rot="10800000">
            <a:off x="1258704" y="4117612"/>
            <a:ext cx="781473" cy="579276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Segnaposto contenuto 2">
            <a:extLst>
              <a:ext uri="{FF2B5EF4-FFF2-40B4-BE49-F238E27FC236}">
                <a16:creationId xmlns:a16="http://schemas.microsoft.com/office/drawing/2014/main" id="{1C21C897-B6A0-3339-8D1B-ACF30F6FAC28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951222" y="4022722"/>
            <a:ext cx="1079369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 err="1">
                <a:solidFill>
                  <a:srgbClr val="ACCCE9"/>
                </a:solidFill>
              </a:rPr>
              <a:t>Inference</a:t>
            </a:r>
            <a:r>
              <a:rPr lang="it-IT" sz="1000" dirty="0">
                <a:solidFill>
                  <a:srgbClr val="ACCCE9"/>
                </a:solidFill>
              </a:rPr>
              <a:t> </a:t>
            </a:r>
            <a:r>
              <a:rPr lang="it-IT" sz="1000" dirty="0" err="1">
                <a:solidFill>
                  <a:srgbClr val="ACCCE9"/>
                </a:solidFill>
              </a:rPr>
              <a:t>only</a:t>
            </a:r>
            <a:endParaRPr lang="it-IT" sz="1000" dirty="0">
              <a:solidFill>
                <a:srgbClr val="ACCCE9"/>
              </a:solidFill>
            </a:endParaRPr>
          </a:p>
        </p:txBody>
      </p:sp>
      <p:sp>
        <p:nvSpPr>
          <p:cNvPr id="198" name="Titolo 1">
            <a:extLst>
              <a:ext uri="{FF2B5EF4-FFF2-40B4-BE49-F238E27FC236}">
                <a16:creationId xmlns:a16="http://schemas.microsoft.com/office/drawing/2014/main" id="{32FFC5C5-B12B-F250-9402-50AC2D17986E}"/>
              </a:ext>
            </a:extLst>
          </p:cNvPr>
          <p:cNvSpPr txBox="1">
            <a:spLocks/>
          </p:cNvSpPr>
          <p:nvPr/>
        </p:nvSpPr>
        <p:spPr bwMode="auto">
          <a:xfrm>
            <a:off x="11449733" y="138154"/>
            <a:ext cx="428417" cy="644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it-IT" sz="3200" dirty="0"/>
              <a:t>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2694DC4-B578-DFC9-59C1-48468E16A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095" y="4887200"/>
            <a:ext cx="5733444" cy="1670675"/>
          </a:xfrm>
        </p:spPr>
        <p:txBody>
          <a:bodyPr/>
          <a:lstStyle/>
          <a:p>
            <a:pPr marL="0" indent="0">
              <a:buNone/>
            </a:pPr>
            <a:r>
              <a:rPr lang="it-IT" sz="1800" b="1" dirty="0"/>
              <a:t>3 X </a:t>
            </a:r>
            <a:r>
              <a:rPr lang="it-IT" sz="1800" b="1" dirty="0" err="1"/>
              <a:t>Residual</a:t>
            </a:r>
            <a:r>
              <a:rPr lang="it-IT" sz="1800" b="1" dirty="0"/>
              <a:t> </a:t>
            </a:r>
            <a:r>
              <a:rPr lang="it-IT" sz="1800" b="1" dirty="0" err="1"/>
              <a:t>Blocks</a:t>
            </a:r>
            <a:r>
              <a:rPr lang="it-IT" sz="1800" b="1" dirty="0"/>
              <a:t> (</a:t>
            </a:r>
            <a:r>
              <a:rPr lang="it-IT" sz="1800" b="1" dirty="0" err="1"/>
              <a:t>cascade</a:t>
            </a:r>
            <a:r>
              <a:rPr lang="it-IT" sz="1800" b="1" dirty="0"/>
              <a:t>):</a:t>
            </a:r>
          </a:p>
          <a:p>
            <a:r>
              <a:rPr lang="it-IT" sz="1800" b="1" dirty="0"/>
              <a:t>DepthwiseConv3x3</a:t>
            </a:r>
            <a:r>
              <a:rPr lang="it-IT" sz="1800" dirty="0"/>
              <a:t> </a:t>
            </a:r>
            <a:r>
              <a:rPr lang="it-IT" sz="1800" dirty="0" err="1"/>
              <a:t>extracts</a:t>
            </a:r>
            <a:r>
              <a:rPr lang="it-IT" sz="1800" dirty="0"/>
              <a:t> patterns </a:t>
            </a:r>
            <a:r>
              <a:rPr lang="it-IT" sz="1800" dirty="0" err="1"/>
              <a:t>indepentently</a:t>
            </a:r>
            <a:r>
              <a:rPr lang="it-IT" sz="1800" dirty="0"/>
              <a:t> for </a:t>
            </a:r>
            <a:r>
              <a:rPr lang="it-IT" sz="1800" dirty="0" err="1"/>
              <a:t>every</a:t>
            </a:r>
            <a:r>
              <a:rPr lang="it-IT" sz="1800" dirty="0"/>
              <a:t> </a:t>
            </a:r>
            <a:r>
              <a:rPr lang="it-IT" sz="1800" dirty="0" err="1"/>
              <a:t>channel</a:t>
            </a:r>
            <a:r>
              <a:rPr lang="it-IT" sz="1800" dirty="0"/>
              <a:t> (</a:t>
            </a:r>
            <a:r>
              <a:rPr lang="it-IT" sz="1800" dirty="0" err="1"/>
              <a:t>less</a:t>
            </a:r>
            <a:r>
              <a:rPr lang="it-IT" sz="1800" dirty="0"/>
              <a:t> </a:t>
            </a:r>
            <a:r>
              <a:rPr lang="it-IT" sz="1800" dirty="0" err="1"/>
              <a:t>computations</a:t>
            </a:r>
            <a:r>
              <a:rPr lang="it-IT" sz="1800" dirty="0"/>
              <a:t>).</a:t>
            </a:r>
          </a:p>
          <a:p>
            <a:r>
              <a:rPr lang="it-IT" sz="1800" b="1" dirty="0"/>
              <a:t>PointwiseConv1x1 </a:t>
            </a:r>
            <a:r>
              <a:rPr lang="it-IT" sz="1800" dirty="0"/>
              <a:t>Combines the </a:t>
            </a:r>
            <a:r>
              <a:rPr lang="it-IT" sz="1800" dirty="0" err="1"/>
              <a:t>previously</a:t>
            </a:r>
            <a:r>
              <a:rPr lang="it-IT" sz="1800" dirty="0"/>
              <a:t> </a:t>
            </a:r>
            <a:r>
              <a:rPr lang="it-IT" sz="1800" dirty="0" err="1"/>
              <a:t>obtained</a:t>
            </a:r>
            <a:r>
              <a:rPr lang="it-IT" sz="1800" dirty="0"/>
              <a:t> patterns</a:t>
            </a:r>
            <a:r>
              <a:rPr lang="it-IT" sz="1800" b="1" dirty="0"/>
              <a:t> .</a:t>
            </a:r>
            <a:endParaRPr lang="it-IT" sz="1800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1061C479-FB9B-02FA-3B1F-FA9F5A68BBDA}"/>
              </a:ext>
            </a:extLst>
          </p:cNvPr>
          <p:cNvSpPr txBox="1">
            <a:spLocks/>
          </p:cNvSpPr>
          <p:nvPr/>
        </p:nvSpPr>
        <p:spPr bwMode="auto">
          <a:xfrm>
            <a:off x="484201" y="5451059"/>
            <a:ext cx="4855390" cy="116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1800" i="1" dirty="0" err="1"/>
              <a:t>Residual</a:t>
            </a:r>
            <a:r>
              <a:rPr lang="it-IT" sz="1800" i="1" dirty="0"/>
              <a:t>:</a:t>
            </a:r>
            <a:br>
              <a:rPr lang="it-IT" sz="1800" i="1" dirty="0"/>
            </a:br>
            <a:r>
              <a:rPr lang="it-IT" sz="1800" i="1" dirty="0"/>
              <a:t>H(x) = F(x) + </a:t>
            </a:r>
            <a:r>
              <a:rPr lang="it-IT" sz="1800" b="1" i="1" dirty="0"/>
              <a:t>x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it-IT" sz="1800" i="1" dirty="0"/>
              <a:t>Skip connection </a:t>
            </a:r>
            <a:r>
              <a:rPr lang="it-IT" sz="1800" i="1" dirty="0" err="1"/>
              <a:t>brings</a:t>
            </a:r>
            <a:r>
              <a:rPr lang="it-IT" sz="1800" i="1" dirty="0"/>
              <a:t> </a:t>
            </a:r>
            <a:r>
              <a:rPr lang="it-IT" sz="1800" b="1" i="1" dirty="0"/>
              <a:t>x </a:t>
            </a:r>
            <a:r>
              <a:rPr lang="it-IT" sz="1800" i="1" dirty="0" err="1"/>
              <a:t>directly</a:t>
            </a:r>
            <a:r>
              <a:rPr lang="it-IT" sz="1800" i="1" dirty="0"/>
              <a:t>. No </a:t>
            </a:r>
            <a:r>
              <a:rPr lang="it-IT" sz="1800" i="1" dirty="0" err="1"/>
              <a:t>need</a:t>
            </a:r>
            <a:r>
              <a:rPr lang="it-IT" sz="1800" i="1" dirty="0"/>
              <a:t> of </a:t>
            </a:r>
            <a:r>
              <a:rPr lang="it-IT" sz="1800" i="1" dirty="0" err="1"/>
              <a:t>projection</a:t>
            </a:r>
            <a:r>
              <a:rPr lang="it-IT" sz="1800" i="1" dirty="0"/>
              <a:t>.</a:t>
            </a:r>
            <a:endParaRPr lang="it-IT" sz="1800" b="1" i="1" dirty="0"/>
          </a:p>
        </p:txBody>
      </p:sp>
    </p:spTree>
    <p:extLst>
      <p:ext uri="{BB962C8B-B14F-4D97-AF65-F5344CB8AC3E}">
        <p14:creationId xmlns:p14="http://schemas.microsoft.com/office/powerpoint/2010/main" val="105514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86E8C-37AC-03CE-9E1A-AAF913E63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3F5618-77DC-83D4-BC78-91A970B9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477"/>
            <a:ext cx="3298614" cy="644166"/>
          </a:xfrm>
        </p:spPr>
        <p:txBody>
          <a:bodyPr/>
          <a:lstStyle/>
          <a:p>
            <a:r>
              <a:rPr lang="it-IT" sz="3200" dirty="0"/>
              <a:t>CNN </a:t>
            </a:r>
            <a:r>
              <a:rPr lang="it-IT" sz="3200" dirty="0" err="1"/>
              <a:t>Spatial</a:t>
            </a:r>
            <a:r>
              <a:rPr lang="it-IT" sz="3200" dirty="0"/>
              <a:t> Head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76161FD-D8BF-7A70-43D6-BCEF914C88F6}"/>
              </a:ext>
            </a:extLst>
          </p:cNvPr>
          <p:cNvSpPr/>
          <p:nvPr/>
        </p:nvSpPr>
        <p:spPr>
          <a:xfrm>
            <a:off x="681487" y="1207698"/>
            <a:ext cx="1050793" cy="5652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Feature </a:t>
            </a:r>
            <a:r>
              <a:rPr lang="it-IT" sz="1100" dirty="0" err="1"/>
              <a:t>Map</a:t>
            </a:r>
            <a:r>
              <a:rPr lang="it-IT" sz="1100" dirty="0"/>
              <a:t> Normalizzata</a:t>
            </a:r>
          </a:p>
          <a:p>
            <a:pPr algn="ctr"/>
            <a:r>
              <a:rPr lang="it-IT" sz="1100" dirty="0"/>
              <a:t>(1280, 16, 16)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7C163A1-03EB-DC87-7F03-073015EC09B3}"/>
              </a:ext>
            </a:extLst>
          </p:cNvPr>
          <p:cNvSpPr/>
          <p:nvPr/>
        </p:nvSpPr>
        <p:spPr>
          <a:xfrm>
            <a:off x="2406067" y="1300300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1280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83876F9-16DC-3752-3B0B-FB6505B587BA}"/>
              </a:ext>
            </a:extLst>
          </p:cNvPr>
          <p:cNvSpPr/>
          <p:nvPr/>
        </p:nvSpPr>
        <p:spPr>
          <a:xfrm>
            <a:off x="2406067" y="1870326"/>
            <a:ext cx="944113" cy="30106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48C62565-0AA6-5CB0-D2C1-C87C8DF7AC72}"/>
              </a:ext>
            </a:extLst>
          </p:cNvPr>
          <p:cNvSpPr/>
          <p:nvPr/>
        </p:nvSpPr>
        <p:spPr>
          <a:xfrm>
            <a:off x="2604186" y="2361397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4D334C90-3373-43F1-AA91-722916C66043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732280" y="1490309"/>
            <a:ext cx="6737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7A2069C0-4A69-4EF2-E2D6-F8820EAB42BC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2878124" y="1680317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679B00C5-7499-1CCC-EAA9-66F13810801D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flipH="1">
            <a:off x="2878123" y="2171388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ttangolo 41">
            <a:extLst>
              <a:ext uri="{FF2B5EF4-FFF2-40B4-BE49-F238E27FC236}">
                <a16:creationId xmlns:a16="http://schemas.microsoft.com/office/drawing/2014/main" id="{993D930C-9857-4754-77AA-187D2B9B123A}"/>
              </a:ext>
            </a:extLst>
          </p:cNvPr>
          <p:cNvSpPr/>
          <p:nvPr/>
        </p:nvSpPr>
        <p:spPr>
          <a:xfrm>
            <a:off x="4232568" y="1300300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Conv3x3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EF449D64-569D-0D8C-3577-ED961137EA97}"/>
              </a:ext>
            </a:extLst>
          </p:cNvPr>
          <p:cNvSpPr/>
          <p:nvPr/>
        </p:nvSpPr>
        <p:spPr>
          <a:xfrm>
            <a:off x="4232568" y="1870326"/>
            <a:ext cx="944113" cy="301062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A08FA7DC-815A-DDFB-EDF7-83424ADF0B24}"/>
              </a:ext>
            </a:extLst>
          </p:cNvPr>
          <p:cNvSpPr/>
          <p:nvPr/>
        </p:nvSpPr>
        <p:spPr>
          <a:xfrm>
            <a:off x="4430687" y="2361397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EE3C593F-3F45-DD4A-599D-945EEB1D18AE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4704625" y="1680317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D28419C0-BF0E-B9E4-5409-144E5D38A046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 flipH="1">
            <a:off x="4704624" y="2171388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ttangolo 48">
            <a:extLst>
              <a:ext uri="{FF2B5EF4-FFF2-40B4-BE49-F238E27FC236}">
                <a16:creationId xmlns:a16="http://schemas.microsoft.com/office/drawing/2014/main" id="{DC77E442-7955-3F9F-7D96-FD1FC9F75285}"/>
              </a:ext>
            </a:extLst>
          </p:cNvPr>
          <p:cNvSpPr/>
          <p:nvPr/>
        </p:nvSpPr>
        <p:spPr>
          <a:xfrm>
            <a:off x="5742095" y="1300300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1CB63BA6-08A2-5965-C692-EF765EF93083}"/>
              </a:ext>
            </a:extLst>
          </p:cNvPr>
          <p:cNvSpPr/>
          <p:nvPr/>
        </p:nvSpPr>
        <p:spPr>
          <a:xfrm>
            <a:off x="5742095" y="1870326"/>
            <a:ext cx="944113" cy="301062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2A642CA0-1696-B654-87DE-508D15C0D473}"/>
              </a:ext>
            </a:extLst>
          </p:cNvPr>
          <p:cNvSpPr/>
          <p:nvPr/>
        </p:nvSpPr>
        <p:spPr>
          <a:xfrm>
            <a:off x="5940214" y="2361397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7D5D07DD-3C07-5087-C677-4B8658337877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>
            <a:off x="6214152" y="1680317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E5FB11A4-7A56-E65E-CB5B-E43603478435}"/>
              </a:ext>
            </a:extLst>
          </p:cNvPr>
          <p:cNvCxnSpPr>
            <a:stCxn id="50" idx="2"/>
            <a:endCxn id="51" idx="0"/>
          </p:cNvCxnSpPr>
          <p:nvPr/>
        </p:nvCxnSpPr>
        <p:spPr>
          <a:xfrm flipH="1">
            <a:off x="6214151" y="2171388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a gomito 54">
            <a:extLst>
              <a:ext uri="{FF2B5EF4-FFF2-40B4-BE49-F238E27FC236}">
                <a16:creationId xmlns:a16="http://schemas.microsoft.com/office/drawing/2014/main" id="{676D0A0F-A6EA-EA88-C282-DEEEBCA9EA18}"/>
              </a:ext>
            </a:extLst>
          </p:cNvPr>
          <p:cNvCxnSpPr>
            <a:stCxn id="16" idx="2"/>
            <a:endCxn id="42" idx="0"/>
          </p:cNvCxnSpPr>
          <p:nvPr/>
        </p:nvCxnSpPr>
        <p:spPr>
          <a:xfrm rot="5400000" flipH="1" flipV="1">
            <a:off x="3110294" y="1068129"/>
            <a:ext cx="1362159" cy="1826502"/>
          </a:xfrm>
          <a:prstGeom prst="bentConnector5">
            <a:avLst>
              <a:gd name="adj1" fmla="val -16782"/>
              <a:gd name="adj2" fmla="val 44576"/>
              <a:gd name="adj3" fmla="val 1167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a gomito 56">
            <a:extLst>
              <a:ext uri="{FF2B5EF4-FFF2-40B4-BE49-F238E27FC236}">
                <a16:creationId xmlns:a16="http://schemas.microsoft.com/office/drawing/2014/main" id="{4B5FDD38-0439-5D53-D275-C244BC665484}"/>
              </a:ext>
            </a:extLst>
          </p:cNvPr>
          <p:cNvCxnSpPr>
            <a:stCxn id="44" idx="2"/>
            <a:endCxn id="49" idx="0"/>
          </p:cNvCxnSpPr>
          <p:nvPr/>
        </p:nvCxnSpPr>
        <p:spPr>
          <a:xfrm rot="5400000" flipH="1" flipV="1">
            <a:off x="4778308" y="1226616"/>
            <a:ext cx="1362159" cy="1509528"/>
          </a:xfrm>
          <a:prstGeom prst="bentConnector5">
            <a:avLst>
              <a:gd name="adj1" fmla="val -16782"/>
              <a:gd name="adj2" fmla="val 43438"/>
              <a:gd name="adj3" fmla="val 1167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e 57">
            <a:extLst>
              <a:ext uri="{FF2B5EF4-FFF2-40B4-BE49-F238E27FC236}">
                <a16:creationId xmlns:a16="http://schemas.microsoft.com/office/drawing/2014/main" id="{17E6EF64-B0DA-3E4B-98CD-F2AAF2772073}"/>
              </a:ext>
            </a:extLst>
          </p:cNvPr>
          <p:cNvSpPr/>
          <p:nvPr/>
        </p:nvSpPr>
        <p:spPr>
          <a:xfrm>
            <a:off x="7276253" y="1615440"/>
            <a:ext cx="292336" cy="2548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63" name="Connettore a gomito 62">
            <a:extLst>
              <a:ext uri="{FF2B5EF4-FFF2-40B4-BE49-F238E27FC236}">
                <a16:creationId xmlns:a16="http://schemas.microsoft.com/office/drawing/2014/main" id="{9AC3F87E-3DCF-9E19-11FF-F7E3D62EC273}"/>
              </a:ext>
            </a:extLst>
          </p:cNvPr>
          <p:cNvCxnSpPr>
            <a:stCxn id="51" idx="2"/>
            <a:endCxn id="58" idx="4"/>
          </p:cNvCxnSpPr>
          <p:nvPr/>
        </p:nvCxnSpPr>
        <p:spPr>
          <a:xfrm rot="5400000" flipH="1" flipV="1">
            <a:off x="6422219" y="1662258"/>
            <a:ext cx="792133" cy="1208270"/>
          </a:xfrm>
          <a:prstGeom prst="bentConnector3">
            <a:avLst>
              <a:gd name="adj1" fmla="val -288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ttangolo con angoli arrotondati 63">
            <a:extLst>
              <a:ext uri="{FF2B5EF4-FFF2-40B4-BE49-F238E27FC236}">
                <a16:creationId xmlns:a16="http://schemas.microsoft.com/office/drawing/2014/main" id="{F9B2E139-79E8-688C-B54F-E8E7B71D3188}"/>
              </a:ext>
            </a:extLst>
          </p:cNvPr>
          <p:cNvSpPr/>
          <p:nvPr/>
        </p:nvSpPr>
        <p:spPr>
          <a:xfrm>
            <a:off x="4136814" y="782320"/>
            <a:ext cx="3586480" cy="235204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6DC2BD7B-1AF8-F52D-C488-A7FA21FFC277}"/>
              </a:ext>
            </a:extLst>
          </p:cNvPr>
          <p:cNvSpPr/>
          <p:nvPr/>
        </p:nvSpPr>
        <p:spPr>
          <a:xfrm>
            <a:off x="2231047" y="1207698"/>
            <a:ext cx="1265306" cy="156597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4" name="Connettore a gomito 73">
            <a:extLst>
              <a:ext uri="{FF2B5EF4-FFF2-40B4-BE49-F238E27FC236}">
                <a16:creationId xmlns:a16="http://schemas.microsoft.com/office/drawing/2014/main" id="{08310909-99C6-E378-F38C-D46675E6F420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4704623" y="906201"/>
            <a:ext cx="2717798" cy="709239"/>
          </a:xfrm>
          <a:prstGeom prst="bentConnector2">
            <a:avLst/>
          </a:prstGeom>
          <a:ln>
            <a:prstDash val="lgDashDot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Connettore diritto 77">
            <a:extLst>
              <a:ext uri="{FF2B5EF4-FFF2-40B4-BE49-F238E27FC236}">
                <a16:creationId xmlns:a16="http://schemas.microsoft.com/office/drawing/2014/main" id="{123D62AB-7794-5570-1ADC-622065B75581}"/>
              </a:ext>
            </a:extLst>
          </p:cNvPr>
          <p:cNvCxnSpPr/>
          <p:nvPr/>
        </p:nvCxnSpPr>
        <p:spPr>
          <a:xfrm flipV="1">
            <a:off x="4704623" y="901700"/>
            <a:ext cx="0" cy="169863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Rettangolo 79">
            <a:extLst>
              <a:ext uri="{FF2B5EF4-FFF2-40B4-BE49-F238E27FC236}">
                <a16:creationId xmlns:a16="http://schemas.microsoft.com/office/drawing/2014/main" id="{CE5DC62A-272C-F1E6-CEC4-35D3670020A6}"/>
              </a:ext>
            </a:extLst>
          </p:cNvPr>
          <p:cNvSpPr/>
          <p:nvPr/>
        </p:nvSpPr>
        <p:spPr>
          <a:xfrm>
            <a:off x="8030211" y="1592352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C7BFAE43-8B53-57F7-70FB-6C1EE098A074}"/>
              </a:ext>
            </a:extLst>
          </p:cNvPr>
          <p:cNvCxnSpPr>
            <a:stCxn id="58" idx="6"/>
            <a:endCxn id="80" idx="1"/>
          </p:cNvCxnSpPr>
          <p:nvPr/>
        </p:nvCxnSpPr>
        <p:spPr>
          <a:xfrm>
            <a:off x="7568589" y="1742883"/>
            <a:ext cx="4616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Segnaposto contenuto 2">
            <a:extLst>
              <a:ext uri="{FF2B5EF4-FFF2-40B4-BE49-F238E27FC236}">
                <a16:creationId xmlns:a16="http://schemas.microsoft.com/office/drawing/2014/main" id="{E84331F8-EA34-1FB4-17E3-907B354DD86A}"/>
              </a:ext>
            </a:extLst>
          </p:cNvPr>
          <p:cNvSpPr txBox="1">
            <a:spLocks/>
          </p:cNvSpPr>
          <p:nvPr/>
        </p:nvSpPr>
        <p:spPr bwMode="auto">
          <a:xfrm>
            <a:off x="2226733" y="976564"/>
            <a:ext cx="1265306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 err="1"/>
              <a:t>Initial</a:t>
            </a:r>
            <a:r>
              <a:rPr lang="it-IT" sz="1100" dirty="0"/>
              <a:t> Block</a:t>
            </a:r>
          </a:p>
        </p:txBody>
      </p:sp>
      <p:sp>
        <p:nvSpPr>
          <p:cNvPr id="87" name="Segnaposto contenuto 2">
            <a:extLst>
              <a:ext uri="{FF2B5EF4-FFF2-40B4-BE49-F238E27FC236}">
                <a16:creationId xmlns:a16="http://schemas.microsoft.com/office/drawing/2014/main" id="{D938BFFC-1F0F-8DF1-DC51-4567DF78ED82}"/>
              </a:ext>
            </a:extLst>
          </p:cNvPr>
          <p:cNvSpPr txBox="1">
            <a:spLocks/>
          </p:cNvSpPr>
          <p:nvPr/>
        </p:nvSpPr>
        <p:spPr bwMode="auto">
          <a:xfrm>
            <a:off x="4136814" y="510030"/>
            <a:ext cx="3586479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3 X </a:t>
            </a:r>
            <a:r>
              <a:rPr lang="it-IT" sz="1100" dirty="0" err="1"/>
              <a:t>Residual</a:t>
            </a:r>
            <a:r>
              <a:rPr lang="it-IT" sz="1100" dirty="0"/>
              <a:t> Block</a:t>
            </a:r>
          </a:p>
        </p:txBody>
      </p:sp>
      <p:sp>
        <p:nvSpPr>
          <p:cNvPr id="89" name="Segnaposto contenuto 2">
            <a:extLst>
              <a:ext uri="{FF2B5EF4-FFF2-40B4-BE49-F238E27FC236}">
                <a16:creationId xmlns:a16="http://schemas.microsoft.com/office/drawing/2014/main" id="{553C08BF-3014-F49C-FCCE-8A5AB42B3855}"/>
              </a:ext>
            </a:extLst>
          </p:cNvPr>
          <p:cNvSpPr txBox="1">
            <a:spLocks/>
          </p:cNvSpPr>
          <p:nvPr/>
        </p:nvSpPr>
        <p:spPr bwMode="auto">
          <a:xfrm>
            <a:off x="6733076" y="993648"/>
            <a:ext cx="654087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 err="1"/>
              <a:t>Residual</a:t>
            </a:r>
            <a:endParaRPr lang="it-IT" sz="1000" dirty="0"/>
          </a:p>
        </p:txBody>
      </p:sp>
      <p:sp>
        <p:nvSpPr>
          <p:cNvPr id="92" name="Segnaposto contenuto 2">
            <a:extLst>
              <a:ext uri="{FF2B5EF4-FFF2-40B4-BE49-F238E27FC236}">
                <a16:creationId xmlns:a16="http://schemas.microsoft.com/office/drawing/2014/main" id="{C9718CBA-5694-7BDF-56F0-7C1F36D8A1A8}"/>
              </a:ext>
            </a:extLst>
          </p:cNvPr>
          <p:cNvSpPr txBox="1">
            <a:spLocks/>
          </p:cNvSpPr>
          <p:nvPr/>
        </p:nvSpPr>
        <p:spPr bwMode="auto">
          <a:xfrm>
            <a:off x="7819048" y="1324520"/>
            <a:ext cx="970198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/>
              <a:t>(128, 16, 16)</a:t>
            </a:r>
          </a:p>
        </p:txBody>
      </p:sp>
      <p:sp>
        <p:nvSpPr>
          <p:cNvPr id="93" name="Rettangolo 92">
            <a:extLst>
              <a:ext uri="{FF2B5EF4-FFF2-40B4-BE49-F238E27FC236}">
                <a16:creationId xmlns:a16="http://schemas.microsoft.com/office/drawing/2014/main" id="{2FCB3B12-C420-9B5E-7112-22C64B9D6D51}"/>
              </a:ext>
            </a:extLst>
          </p:cNvPr>
          <p:cNvSpPr/>
          <p:nvPr/>
        </p:nvSpPr>
        <p:spPr>
          <a:xfrm>
            <a:off x="9396406" y="863115"/>
            <a:ext cx="1480870" cy="3800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AvgPool2D</a:t>
            </a:r>
          </a:p>
          <a:p>
            <a:pPr algn="ctr"/>
            <a:r>
              <a:rPr lang="it-IT" sz="1100" dirty="0"/>
              <a:t>(128, 1, 1)</a:t>
            </a:r>
          </a:p>
        </p:txBody>
      </p:sp>
      <p:sp>
        <p:nvSpPr>
          <p:cNvPr id="94" name="Rettangolo 93">
            <a:extLst>
              <a:ext uri="{FF2B5EF4-FFF2-40B4-BE49-F238E27FC236}">
                <a16:creationId xmlns:a16="http://schemas.microsoft.com/office/drawing/2014/main" id="{1DB7333A-55F5-D68A-B675-D314A1E6FB53}"/>
              </a:ext>
            </a:extLst>
          </p:cNvPr>
          <p:cNvSpPr/>
          <p:nvPr/>
        </p:nvSpPr>
        <p:spPr>
          <a:xfrm>
            <a:off x="9396406" y="1433141"/>
            <a:ext cx="1480870" cy="301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16</a:t>
            </a:r>
            <a:endParaRPr lang="it-IT" sz="1100" dirty="0"/>
          </a:p>
        </p:txBody>
      </p:sp>
      <p:sp>
        <p:nvSpPr>
          <p:cNvPr id="95" name="Rettangolo 94">
            <a:extLst>
              <a:ext uri="{FF2B5EF4-FFF2-40B4-BE49-F238E27FC236}">
                <a16:creationId xmlns:a16="http://schemas.microsoft.com/office/drawing/2014/main" id="{F4821C28-4993-3F05-FA92-08FF44740A41}"/>
              </a:ext>
            </a:extLst>
          </p:cNvPr>
          <p:cNvSpPr/>
          <p:nvPr/>
        </p:nvSpPr>
        <p:spPr>
          <a:xfrm>
            <a:off x="9863241" y="1924212"/>
            <a:ext cx="547200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96" name="Connettore 2 95">
            <a:extLst>
              <a:ext uri="{FF2B5EF4-FFF2-40B4-BE49-F238E27FC236}">
                <a16:creationId xmlns:a16="http://schemas.microsoft.com/office/drawing/2014/main" id="{E4ADA9D0-B50A-B326-8C05-2BD7122CA1AF}"/>
              </a:ext>
            </a:extLst>
          </p:cNvPr>
          <p:cNvCxnSpPr>
            <a:cxnSpLocks/>
            <a:stCxn id="93" idx="2"/>
            <a:endCxn id="94" idx="0"/>
          </p:cNvCxnSpPr>
          <p:nvPr/>
        </p:nvCxnSpPr>
        <p:spPr>
          <a:xfrm>
            <a:off x="10136841" y="1243132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C1D96392-1D18-6DB5-B3BE-F88471A4D305}"/>
              </a:ext>
            </a:extLst>
          </p:cNvPr>
          <p:cNvCxnSpPr>
            <a:cxnSpLocks/>
            <a:stCxn id="94" idx="2"/>
            <a:endCxn id="95" idx="0"/>
          </p:cNvCxnSpPr>
          <p:nvPr/>
        </p:nvCxnSpPr>
        <p:spPr>
          <a:xfrm>
            <a:off x="10136841" y="1734203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C32FE81E-1A05-6A10-08A8-B6EF59CFC366}"/>
              </a:ext>
            </a:extLst>
          </p:cNvPr>
          <p:cNvSpPr/>
          <p:nvPr/>
        </p:nvSpPr>
        <p:spPr>
          <a:xfrm>
            <a:off x="9217072" y="738762"/>
            <a:ext cx="1804835" cy="260262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9" name="Segnaposto contenuto 2">
            <a:extLst>
              <a:ext uri="{FF2B5EF4-FFF2-40B4-BE49-F238E27FC236}">
                <a16:creationId xmlns:a16="http://schemas.microsoft.com/office/drawing/2014/main" id="{B156EB46-74A0-7572-C303-D58AAB53E00C}"/>
              </a:ext>
            </a:extLst>
          </p:cNvPr>
          <p:cNvSpPr txBox="1">
            <a:spLocks/>
          </p:cNvSpPr>
          <p:nvPr/>
        </p:nvSpPr>
        <p:spPr bwMode="auto">
          <a:xfrm>
            <a:off x="9217072" y="453302"/>
            <a:ext cx="180483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Channel </a:t>
            </a:r>
            <a:r>
              <a:rPr lang="it-IT" sz="1100" dirty="0" err="1"/>
              <a:t>Attention</a:t>
            </a:r>
            <a:endParaRPr lang="it-IT" sz="1100" dirty="0"/>
          </a:p>
        </p:txBody>
      </p:sp>
      <p:sp>
        <p:nvSpPr>
          <p:cNvPr id="103" name="Rettangolo 102">
            <a:extLst>
              <a:ext uri="{FF2B5EF4-FFF2-40B4-BE49-F238E27FC236}">
                <a16:creationId xmlns:a16="http://schemas.microsoft.com/office/drawing/2014/main" id="{18FAB831-7925-5E92-7FBA-30A30DCCC26F}"/>
              </a:ext>
            </a:extLst>
          </p:cNvPr>
          <p:cNvSpPr/>
          <p:nvPr/>
        </p:nvSpPr>
        <p:spPr>
          <a:xfrm>
            <a:off x="9395015" y="2415480"/>
            <a:ext cx="1480870" cy="301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16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endParaRPr lang="it-IT" sz="1100" dirty="0"/>
          </a:p>
        </p:txBody>
      </p:sp>
      <p:sp>
        <p:nvSpPr>
          <p:cNvPr id="104" name="Rettangolo 103">
            <a:extLst>
              <a:ext uri="{FF2B5EF4-FFF2-40B4-BE49-F238E27FC236}">
                <a16:creationId xmlns:a16="http://schemas.microsoft.com/office/drawing/2014/main" id="{218669FB-DAEB-64B4-73FE-05B49AD5F816}"/>
              </a:ext>
            </a:extLst>
          </p:cNvPr>
          <p:cNvSpPr/>
          <p:nvPr/>
        </p:nvSpPr>
        <p:spPr>
          <a:xfrm>
            <a:off x="9705772" y="2925663"/>
            <a:ext cx="859355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Sigmoid</a:t>
            </a:r>
            <a:endParaRPr lang="it-IT" sz="1100" dirty="0"/>
          </a:p>
        </p:txBody>
      </p:sp>
      <p:cxnSp>
        <p:nvCxnSpPr>
          <p:cNvPr id="105" name="Connettore 2 104">
            <a:extLst>
              <a:ext uri="{FF2B5EF4-FFF2-40B4-BE49-F238E27FC236}">
                <a16:creationId xmlns:a16="http://schemas.microsoft.com/office/drawing/2014/main" id="{0D754808-A9EB-967A-D6B4-036C718B399F}"/>
              </a:ext>
            </a:extLst>
          </p:cNvPr>
          <p:cNvCxnSpPr>
            <a:cxnSpLocks/>
            <a:stCxn id="103" idx="2"/>
            <a:endCxn id="104" idx="0"/>
          </p:cNvCxnSpPr>
          <p:nvPr/>
        </p:nvCxnSpPr>
        <p:spPr>
          <a:xfrm>
            <a:off x="10135450" y="2716542"/>
            <a:ext cx="0" cy="209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ttore 2 106">
            <a:extLst>
              <a:ext uri="{FF2B5EF4-FFF2-40B4-BE49-F238E27FC236}">
                <a16:creationId xmlns:a16="http://schemas.microsoft.com/office/drawing/2014/main" id="{4B4D4A8C-E499-4F3B-AB4D-7C17A40477BD}"/>
              </a:ext>
            </a:extLst>
          </p:cNvPr>
          <p:cNvCxnSpPr>
            <a:stCxn id="95" idx="2"/>
            <a:endCxn id="103" idx="0"/>
          </p:cNvCxnSpPr>
          <p:nvPr/>
        </p:nvCxnSpPr>
        <p:spPr>
          <a:xfrm flipH="1">
            <a:off x="10135450" y="2225274"/>
            <a:ext cx="1391" cy="190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ttore a gomito 111">
            <a:extLst>
              <a:ext uri="{FF2B5EF4-FFF2-40B4-BE49-F238E27FC236}">
                <a16:creationId xmlns:a16="http://schemas.microsoft.com/office/drawing/2014/main" id="{6FDAAC7C-CCFA-3F0C-54AC-8E00F114A316}"/>
              </a:ext>
            </a:extLst>
          </p:cNvPr>
          <p:cNvCxnSpPr>
            <a:stCxn id="80" idx="3"/>
            <a:endCxn id="93" idx="1"/>
          </p:cNvCxnSpPr>
          <p:nvPr/>
        </p:nvCxnSpPr>
        <p:spPr>
          <a:xfrm flipV="1">
            <a:off x="8578084" y="1053124"/>
            <a:ext cx="818322" cy="6897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85640E03-96C8-3762-A0AB-AAA9F50D8301}"/>
              </a:ext>
            </a:extLst>
          </p:cNvPr>
          <p:cNvSpPr/>
          <p:nvPr/>
        </p:nvSpPr>
        <p:spPr>
          <a:xfrm>
            <a:off x="9233031" y="3882224"/>
            <a:ext cx="1804835" cy="391879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Modulation</a:t>
            </a:r>
            <a:endParaRPr lang="it-IT" sz="1100" dirty="0"/>
          </a:p>
          <a:p>
            <a:pPr algn="ctr"/>
            <a:r>
              <a:rPr lang="it-IT" sz="1100" dirty="0"/>
              <a:t>(</a:t>
            </a:r>
            <a:r>
              <a:rPr lang="it-IT" sz="1100" dirty="0" err="1"/>
              <a:t>Element</a:t>
            </a:r>
            <a:r>
              <a:rPr lang="it-IT" sz="1100" dirty="0"/>
              <a:t>-wise </a:t>
            </a:r>
            <a:r>
              <a:rPr lang="it-IT" sz="1100" dirty="0" err="1"/>
              <a:t>multiply</a:t>
            </a:r>
            <a:r>
              <a:rPr lang="it-IT" sz="1100" dirty="0"/>
              <a:t>)</a:t>
            </a:r>
          </a:p>
        </p:txBody>
      </p:sp>
      <p:sp>
        <p:nvSpPr>
          <p:cNvPr id="119" name="Segnaposto contenuto 2">
            <a:extLst>
              <a:ext uri="{FF2B5EF4-FFF2-40B4-BE49-F238E27FC236}">
                <a16:creationId xmlns:a16="http://schemas.microsoft.com/office/drawing/2014/main" id="{2BCDC993-F175-7237-A77B-BC23CA22294E}"/>
              </a:ext>
            </a:extLst>
          </p:cNvPr>
          <p:cNvSpPr txBox="1">
            <a:spLocks/>
          </p:cNvSpPr>
          <p:nvPr/>
        </p:nvSpPr>
        <p:spPr bwMode="auto">
          <a:xfrm>
            <a:off x="9678985" y="4292884"/>
            <a:ext cx="91292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/>
              <a:t>(128, 16, 16)</a:t>
            </a:r>
          </a:p>
        </p:txBody>
      </p:sp>
      <p:cxnSp>
        <p:nvCxnSpPr>
          <p:cNvPr id="121" name="Connettore 2 120">
            <a:extLst>
              <a:ext uri="{FF2B5EF4-FFF2-40B4-BE49-F238E27FC236}">
                <a16:creationId xmlns:a16="http://schemas.microsoft.com/office/drawing/2014/main" id="{1D1BBD89-7867-5E94-BEBB-D785AF48C115}"/>
              </a:ext>
            </a:extLst>
          </p:cNvPr>
          <p:cNvCxnSpPr>
            <a:cxnSpLocks/>
            <a:stCxn id="104" idx="2"/>
            <a:endCxn id="117" idx="0"/>
          </p:cNvCxnSpPr>
          <p:nvPr/>
        </p:nvCxnSpPr>
        <p:spPr>
          <a:xfrm flipH="1">
            <a:off x="10135449" y="3226725"/>
            <a:ext cx="1" cy="65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ttore a gomito 124">
            <a:extLst>
              <a:ext uri="{FF2B5EF4-FFF2-40B4-BE49-F238E27FC236}">
                <a16:creationId xmlns:a16="http://schemas.microsoft.com/office/drawing/2014/main" id="{0F2A9490-5668-D0A4-7963-FE7D1B0AA921}"/>
              </a:ext>
            </a:extLst>
          </p:cNvPr>
          <p:cNvCxnSpPr>
            <a:cxnSpLocks/>
            <a:stCxn id="93" idx="3"/>
            <a:endCxn id="117" idx="3"/>
          </p:cNvCxnSpPr>
          <p:nvPr/>
        </p:nvCxnSpPr>
        <p:spPr>
          <a:xfrm>
            <a:off x="10877276" y="1053124"/>
            <a:ext cx="160590" cy="3025040"/>
          </a:xfrm>
          <a:prstGeom prst="bentConnector3">
            <a:avLst>
              <a:gd name="adj1" fmla="val 2423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ttangolo 128">
            <a:extLst>
              <a:ext uri="{FF2B5EF4-FFF2-40B4-BE49-F238E27FC236}">
                <a16:creationId xmlns:a16="http://schemas.microsoft.com/office/drawing/2014/main" id="{5FC845A2-2B2C-2140-38AD-ABC2C137BE9A}"/>
              </a:ext>
            </a:extLst>
          </p:cNvPr>
          <p:cNvSpPr/>
          <p:nvPr/>
        </p:nvSpPr>
        <p:spPr>
          <a:xfrm>
            <a:off x="7060119" y="3554475"/>
            <a:ext cx="1208700" cy="335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</a:t>
            </a:r>
          </a:p>
          <a:p>
            <a:pPr algn="ctr"/>
            <a:r>
              <a:rPr lang="it-IT" sz="1100" dirty="0"/>
              <a:t>AvgPool2D</a:t>
            </a:r>
          </a:p>
        </p:txBody>
      </p:sp>
      <p:sp>
        <p:nvSpPr>
          <p:cNvPr id="131" name="Rettangolo 130">
            <a:extLst>
              <a:ext uri="{FF2B5EF4-FFF2-40B4-BE49-F238E27FC236}">
                <a16:creationId xmlns:a16="http://schemas.microsoft.com/office/drawing/2014/main" id="{B7356BB8-9931-302B-209C-DC280026B728}"/>
              </a:ext>
            </a:extLst>
          </p:cNvPr>
          <p:cNvSpPr/>
          <p:nvPr/>
        </p:nvSpPr>
        <p:spPr>
          <a:xfrm>
            <a:off x="7060119" y="4278517"/>
            <a:ext cx="1208700" cy="335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</a:t>
            </a:r>
          </a:p>
          <a:p>
            <a:pPr algn="ctr"/>
            <a:r>
              <a:rPr lang="it-IT" sz="1100" dirty="0"/>
              <a:t>MaxPool2D</a:t>
            </a:r>
          </a:p>
        </p:txBody>
      </p:sp>
      <p:sp>
        <p:nvSpPr>
          <p:cNvPr id="133" name="Rettangolo 132">
            <a:extLst>
              <a:ext uri="{FF2B5EF4-FFF2-40B4-BE49-F238E27FC236}">
                <a16:creationId xmlns:a16="http://schemas.microsoft.com/office/drawing/2014/main" id="{A038E128-94C6-DCE8-875E-C9CD3235D8D1}"/>
              </a:ext>
            </a:extLst>
          </p:cNvPr>
          <p:cNvSpPr/>
          <p:nvPr/>
        </p:nvSpPr>
        <p:spPr>
          <a:xfrm>
            <a:off x="5701238" y="3943397"/>
            <a:ext cx="912925" cy="3351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Concatenate</a:t>
            </a:r>
          </a:p>
          <a:p>
            <a:pPr algn="ctr"/>
            <a:r>
              <a:rPr lang="it-IT" sz="1100" dirty="0"/>
              <a:t>(256 </a:t>
            </a:r>
            <a:r>
              <a:rPr lang="it-IT" sz="1100" dirty="0" err="1"/>
              <a:t>values</a:t>
            </a:r>
            <a:r>
              <a:rPr lang="it-IT" sz="1100" dirty="0"/>
              <a:t>)</a:t>
            </a:r>
          </a:p>
        </p:txBody>
      </p:sp>
      <p:cxnSp>
        <p:nvCxnSpPr>
          <p:cNvPr id="137" name="Connettore a gomito 136">
            <a:extLst>
              <a:ext uri="{FF2B5EF4-FFF2-40B4-BE49-F238E27FC236}">
                <a16:creationId xmlns:a16="http://schemas.microsoft.com/office/drawing/2014/main" id="{4941540F-4B70-18C1-2626-23A068E36EA1}"/>
              </a:ext>
            </a:extLst>
          </p:cNvPr>
          <p:cNvCxnSpPr>
            <a:cxnSpLocks/>
            <a:stCxn id="117" idx="1"/>
            <a:endCxn id="129" idx="3"/>
          </p:cNvCxnSpPr>
          <p:nvPr/>
        </p:nvCxnSpPr>
        <p:spPr>
          <a:xfrm rot="10800000">
            <a:off x="8268819" y="3722036"/>
            <a:ext cx="964212" cy="3561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ttore a gomito 138">
            <a:extLst>
              <a:ext uri="{FF2B5EF4-FFF2-40B4-BE49-F238E27FC236}">
                <a16:creationId xmlns:a16="http://schemas.microsoft.com/office/drawing/2014/main" id="{EE96DCF5-BDBD-A81D-5992-3C9B7DE8FC6C}"/>
              </a:ext>
            </a:extLst>
          </p:cNvPr>
          <p:cNvCxnSpPr>
            <a:cxnSpLocks/>
            <a:stCxn id="117" idx="1"/>
            <a:endCxn id="131" idx="3"/>
          </p:cNvCxnSpPr>
          <p:nvPr/>
        </p:nvCxnSpPr>
        <p:spPr>
          <a:xfrm rot="10800000" flipV="1">
            <a:off x="8268819" y="4078163"/>
            <a:ext cx="964212" cy="3679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ttore a gomito 140">
            <a:extLst>
              <a:ext uri="{FF2B5EF4-FFF2-40B4-BE49-F238E27FC236}">
                <a16:creationId xmlns:a16="http://schemas.microsoft.com/office/drawing/2014/main" id="{27B0F25D-307A-DAFD-D0F0-CE6079719896}"/>
              </a:ext>
            </a:extLst>
          </p:cNvPr>
          <p:cNvCxnSpPr>
            <a:stCxn id="129" idx="1"/>
            <a:endCxn id="133" idx="0"/>
          </p:cNvCxnSpPr>
          <p:nvPr/>
        </p:nvCxnSpPr>
        <p:spPr>
          <a:xfrm rot="10800000" flipV="1">
            <a:off x="6157701" y="3722035"/>
            <a:ext cx="902418" cy="2213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ttore a gomito 142">
            <a:extLst>
              <a:ext uri="{FF2B5EF4-FFF2-40B4-BE49-F238E27FC236}">
                <a16:creationId xmlns:a16="http://schemas.microsoft.com/office/drawing/2014/main" id="{5EF2D5EC-3350-5E6E-D22B-AB748F878819}"/>
              </a:ext>
            </a:extLst>
          </p:cNvPr>
          <p:cNvCxnSpPr>
            <a:stCxn id="131" idx="1"/>
            <a:endCxn id="133" idx="2"/>
          </p:cNvCxnSpPr>
          <p:nvPr/>
        </p:nvCxnSpPr>
        <p:spPr>
          <a:xfrm rot="10800000">
            <a:off x="6157701" y="4278517"/>
            <a:ext cx="902418" cy="1675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ttangolo 144">
            <a:extLst>
              <a:ext uri="{FF2B5EF4-FFF2-40B4-BE49-F238E27FC236}">
                <a16:creationId xmlns:a16="http://schemas.microsoft.com/office/drawing/2014/main" id="{9DB034EF-A059-511C-28C1-EB7DA547D980}"/>
              </a:ext>
            </a:extLst>
          </p:cNvPr>
          <p:cNvSpPr/>
          <p:nvPr/>
        </p:nvSpPr>
        <p:spPr>
          <a:xfrm>
            <a:off x="4141215" y="4572907"/>
            <a:ext cx="547200" cy="302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sp>
        <p:nvSpPr>
          <p:cNvPr id="147" name="Rettangolo 146">
            <a:extLst>
              <a:ext uri="{FF2B5EF4-FFF2-40B4-BE49-F238E27FC236}">
                <a16:creationId xmlns:a16="http://schemas.microsoft.com/office/drawing/2014/main" id="{7ADAF7BF-99F0-25B6-63DE-3420DA8B0344}"/>
              </a:ext>
            </a:extLst>
          </p:cNvPr>
          <p:cNvSpPr/>
          <p:nvPr/>
        </p:nvSpPr>
        <p:spPr>
          <a:xfrm>
            <a:off x="3810466" y="3938984"/>
            <a:ext cx="1208700" cy="335120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Linear </a:t>
            </a:r>
          </a:p>
          <a:p>
            <a:pPr algn="ctr"/>
            <a:r>
              <a:rPr lang="it-IT" sz="1100" dirty="0"/>
              <a:t>256 </a:t>
            </a:r>
            <a:r>
              <a:rPr lang="it-IT" sz="1100" dirty="0">
                <a:sym typeface="Wingdings" panose="05000000000000000000" pitchFamily="2" charset="2"/>
              </a:rPr>
              <a:t> 60</a:t>
            </a:r>
            <a:endParaRPr lang="it-IT" sz="1100" dirty="0"/>
          </a:p>
        </p:txBody>
      </p:sp>
      <p:sp>
        <p:nvSpPr>
          <p:cNvPr id="149" name="Rettangolo 148">
            <a:extLst>
              <a:ext uri="{FF2B5EF4-FFF2-40B4-BE49-F238E27FC236}">
                <a16:creationId xmlns:a16="http://schemas.microsoft.com/office/drawing/2014/main" id="{A2C51BD6-ACBC-9ADD-933D-9C069A740C57}"/>
              </a:ext>
            </a:extLst>
          </p:cNvPr>
          <p:cNvSpPr/>
          <p:nvPr/>
        </p:nvSpPr>
        <p:spPr>
          <a:xfrm>
            <a:off x="2040176" y="3950052"/>
            <a:ext cx="1208700" cy="33512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Dropout 0.30</a:t>
            </a:r>
          </a:p>
        </p:txBody>
      </p:sp>
      <p:sp>
        <p:nvSpPr>
          <p:cNvPr id="151" name="Rettangolo 150">
            <a:extLst>
              <a:ext uri="{FF2B5EF4-FFF2-40B4-BE49-F238E27FC236}">
                <a16:creationId xmlns:a16="http://schemas.microsoft.com/office/drawing/2014/main" id="{E9C56E43-BAD9-CADD-56B8-36418F0C3FC7}"/>
              </a:ext>
            </a:extLst>
          </p:cNvPr>
          <p:cNvSpPr/>
          <p:nvPr/>
        </p:nvSpPr>
        <p:spPr>
          <a:xfrm>
            <a:off x="2040176" y="4529328"/>
            <a:ext cx="1208700" cy="33512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Linear</a:t>
            </a:r>
          </a:p>
          <a:p>
            <a:pPr algn="ctr"/>
            <a:r>
              <a:rPr lang="it-IT" sz="1100" dirty="0"/>
              <a:t>64 </a:t>
            </a:r>
            <a:r>
              <a:rPr lang="it-IT" sz="1100" dirty="0">
                <a:sym typeface="Wingdings" panose="05000000000000000000" pitchFamily="2" charset="2"/>
              </a:rPr>
              <a:t> 1</a:t>
            </a:r>
            <a:endParaRPr lang="it-IT" sz="1100" dirty="0"/>
          </a:p>
        </p:txBody>
      </p:sp>
      <p:sp>
        <p:nvSpPr>
          <p:cNvPr id="155" name="Rettangolo 154">
            <a:extLst>
              <a:ext uri="{FF2B5EF4-FFF2-40B4-BE49-F238E27FC236}">
                <a16:creationId xmlns:a16="http://schemas.microsoft.com/office/drawing/2014/main" id="{FF086783-55CE-B911-DFC3-5FF35ABEFA11}"/>
              </a:ext>
            </a:extLst>
          </p:cNvPr>
          <p:cNvSpPr/>
          <p:nvPr/>
        </p:nvSpPr>
        <p:spPr>
          <a:xfrm>
            <a:off x="484201" y="4529328"/>
            <a:ext cx="774502" cy="3351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Logit</a:t>
            </a:r>
            <a:r>
              <a:rPr lang="it-IT" sz="1100" dirty="0"/>
              <a:t> Loss</a:t>
            </a:r>
          </a:p>
        </p:txBody>
      </p:sp>
      <p:sp>
        <p:nvSpPr>
          <p:cNvPr id="157" name="Rettangolo 156">
            <a:extLst>
              <a:ext uri="{FF2B5EF4-FFF2-40B4-BE49-F238E27FC236}">
                <a16:creationId xmlns:a16="http://schemas.microsoft.com/office/drawing/2014/main" id="{AC50EA4E-F1E4-A747-FDDA-7ACF894F1036}"/>
              </a:ext>
            </a:extLst>
          </p:cNvPr>
          <p:cNvSpPr/>
          <p:nvPr/>
        </p:nvSpPr>
        <p:spPr>
          <a:xfrm>
            <a:off x="489770" y="3950052"/>
            <a:ext cx="768933" cy="3351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Sigmoid</a:t>
            </a:r>
            <a:endParaRPr lang="it-IT" sz="1100" dirty="0"/>
          </a:p>
        </p:txBody>
      </p:sp>
      <p:sp>
        <p:nvSpPr>
          <p:cNvPr id="159" name="Rettangolo con angoli arrotondati 158">
            <a:extLst>
              <a:ext uri="{FF2B5EF4-FFF2-40B4-BE49-F238E27FC236}">
                <a16:creationId xmlns:a16="http://schemas.microsoft.com/office/drawing/2014/main" id="{DA47F15F-3623-F14E-4ABE-79E433299062}"/>
              </a:ext>
            </a:extLst>
          </p:cNvPr>
          <p:cNvSpPr/>
          <p:nvPr/>
        </p:nvSpPr>
        <p:spPr>
          <a:xfrm>
            <a:off x="1753111" y="3608472"/>
            <a:ext cx="3586480" cy="167067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1" name="Segnaposto contenuto 2">
            <a:extLst>
              <a:ext uri="{FF2B5EF4-FFF2-40B4-BE49-F238E27FC236}">
                <a16:creationId xmlns:a16="http://schemas.microsoft.com/office/drawing/2014/main" id="{B6B58F8A-E04A-7C3C-4599-3443F61E115E}"/>
              </a:ext>
            </a:extLst>
          </p:cNvPr>
          <p:cNvSpPr txBox="1">
            <a:spLocks/>
          </p:cNvSpPr>
          <p:nvPr/>
        </p:nvSpPr>
        <p:spPr bwMode="auto">
          <a:xfrm>
            <a:off x="1753111" y="3368672"/>
            <a:ext cx="3586480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FFNN </a:t>
            </a:r>
            <a:r>
              <a:rPr lang="it-IT" sz="1100" dirty="0" err="1"/>
              <a:t>Classifier</a:t>
            </a:r>
            <a:endParaRPr lang="it-IT" sz="1100" dirty="0"/>
          </a:p>
        </p:txBody>
      </p:sp>
      <p:sp>
        <p:nvSpPr>
          <p:cNvPr id="163" name="Segnaposto contenuto 2">
            <a:extLst>
              <a:ext uri="{FF2B5EF4-FFF2-40B4-BE49-F238E27FC236}">
                <a16:creationId xmlns:a16="http://schemas.microsoft.com/office/drawing/2014/main" id="{96D67F0E-C426-DFFA-BB74-B1CED0E2157F}"/>
              </a:ext>
            </a:extLst>
          </p:cNvPr>
          <p:cNvSpPr txBox="1">
            <a:spLocks/>
          </p:cNvSpPr>
          <p:nvPr/>
        </p:nvSpPr>
        <p:spPr bwMode="auto">
          <a:xfrm>
            <a:off x="681486" y="937580"/>
            <a:ext cx="1050793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Input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0F5350A9-C06E-A7C8-CDA4-4E730D1ABA82}"/>
              </a:ext>
            </a:extLst>
          </p:cNvPr>
          <p:cNvCxnSpPr>
            <a:stCxn id="133" idx="1"/>
            <a:endCxn id="147" idx="3"/>
          </p:cNvCxnSpPr>
          <p:nvPr/>
        </p:nvCxnSpPr>
        <p:spPr>
          <a:xfrm flipH="1" flipV="1">
            <a:off x="5019166" y="4106544"/>
            <a:ext cx="682072" cy="4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ttore 2 167">
            <a:extLst>
              <a:ext uri="{FF2B5EF4-FFF2-40B4-BE49-F238E27FC236}">
                <a16:creationId xmlns:a16="http://schemas.microsoft.com/office/drawing/2014/main" id="{914C9D44-CF0F-1695-7F52-EE7FCD3AE3D1}"/>
              </a:ext>
            </a:extLst>
          </p:cNvPr>
          <p:cNvCxnSpPr>
            <a:stCxn id="147" idx="2"/>
            <a:endCxn id="145" idx="0"/>
          </p:cNvCxnSpPr>
          <p:nvPr/>
        </p:nvCxnSpPr>
        <p:spPr>
          <a:xfrm flipH="1">
            <a:off x="4414815" y="4274104"/>
            <a:ext cx="1" cy="298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ttore a gomito 169">
            <a:extLst>
              <a:ext uri="{FF2B5EF4-FFF2-40B4-BE49-F238E27FC236}">
                <a16:creationId xmlns:a16="http://schemas.microsoft.com/office/drawing/2014/main" id="{D81209B5-57CF-B0C7-577A-DA4F59B4CCB0}"/>
              </a:ext>
            </a:extLst>
          </p:cNvPr>
          <p:cNvCxnSpPr>
            <a:stCxn id="145" idx="2"/>
            <a:endCxn id="149" idx="0"/>
          </p:cNvCxnSpPr>
          <p:nvPr/>
        </p:nvCxnSpPr>
        <p:spPr>
          <a:xfrm rot="5400000" flipH="1">
            <a:off x="3067043" y="3527536"/>
            <a:ext cx="925255" cy="1770289"/>
          </a:xfrm>
          <a:prstGeom prst="bentConnector5">
            <a:avLst>
              <a:gd name="adj1" fmla="val -24707"/>
              <a:gd name="adj2" fmla="val 40658"/>
              <a:gd name="adj3" fmla="val 1247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ttore 2 171">
            <a:extLst>
              <a:ext uri="{FF2B5EF4-FFF2-40B4-BE49-F238E27FC236}">
                <a16:creationId xmlns:a16="http://schemas.microsoft.com/office/drawing/2014/main" id="{14636798-A63E-DFDD-CA58-4A8FA11217B7}"/>
              </a:ext>
            </a:extLst>
          </p:cNvPr>
          <p:cNvCxnSpPr>
            <a:stCxn id="149" idx="2"/>
            <a:endCxn id="151" idx="0"/>
          </p:cNvCxnSpPr>
          <p:nvPr/>
        </p:nvCxnSpPr>
        <p:spPr>
          <a:xfrm>
            <a:off x="2644526" y="4285172"/>
            <a:ext cx="0" cy="244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ttore a gomito 173">
            <a:extLst>
              <a:ext uri="{FF2B5EF4-FFF2-40B4-BE49-F238E27FC236}">
                <a16:creationId xmlns:a16="http://schemas.microsoft.com/office/drawing/2014/main" id="{9ED73517-848E-C511-EC36-6B9ACB1A15A8}"/>
              </a:ext>
            </a:extLst>
          </p:cNvPr>
          <p:cNvCxnSpPr>
            <a:cxnSpLocks/>
            <a:stCxn id="151" idx="2"/>
            <a:endCxn id="155" idx="2"/>
          </p:cNvCxnSpPr>
          <p:nvPr/>
        </p:nvCxnSpPr>
        <p:spPr>
          <a:xfrm rot="5400000">
            <a:off x="1757989" y="3977911"/>
            <a:ext cx="12700" cy="1773074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ttore 2 177">
            <a:extLst>
              <a:ext uri="{FF2B5EF4-FFF2-40B4-BE49-F238E27FC236}">
                <a16:creationId xmlns:a16="http://schemas.microsoft.com/office/drawing/2014/main" id="{FDC160DE-FF96-279D-DA6A-11E244199DEA}"/>
              </a:ext>
            </a:extLst>
          </p:cNvPr>
          <p:cNvCxnSpPr>
            <a:cxnSpLocks/>
            <a:stCxn id="155" idx="0"/>
            <a:endCxn id="157" idx="2"/>
          </p:cNvCxnSpPr>
          <p:nvPr/>
        </p:nvCxnSpPr>
        <p:spPr>
          <a:xfrm flipV="1">
            <a:off x="871452" y="4285172"/>
            <a:ext cx="2785" cy="244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ttore a gomito 179">
            <a:extLst>
              <a:ext uri="{FF2B5EF4-FFF2-40B4-BE49-F238E27FC236}">
                <a16:creationId xmlns:a16="http://schemas.microsoft.com/office/drawing/2014/main" id="{9822216D-1FB9-BF0F-13F8-E9004829DBED}"/>
              </a:ext>
            </a:extLst>
          </p:cNvPr>
          <p:cNvCxnSpPr>
            <a:stCxn id="151" idx="1"/>
            <a:endCxn id="157" idx="3"/>
          </p:cNvCxnSpPr>
          <p:nvPr/>
        </p:nvCxnSpPr>
        <p:spPr>
          <a:xfrm rot="10800000">
            <a:off x="1258704" y="4117612"/>
            <a:ext cx="781473" cy="579276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Segnaposto contenuto 2">
            <a:extLst>
              <a:ext uri="{FF2B5EF4-FFF2-40B4-BE49-F238E27FC236}">
                <a16:creationId xmlns:a16="http://schemas.microsoft.com/office/drawing/2014/main" id="{E39A97D8-24BD-CD63-4B6B-C949BABAF0AC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951222" y="4022722"/>
            <a:ext cx="1079369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 err="1">
                <a:solidFill>
                  <a:srgbClr val="ACCCE9"/>
                </a:solidFill>
              </a:rPr>
              <a:t>Inference</a:t>
            </a:r>
            <a:r>
              <a:rPr lang="it-IT" sz="1000" dirty="0">
                <a:solidFill>
                  <a:srgbClr val="ACCCE9"/>
                </a:solidFill>
              </a:rPr>
              <a:t> </a:t>
            </a:r>
            <a:r>
              <a:rPr lang="it-IT" sz="1000" dirty="0" err="1">
                <a:solidFill>
                  <a:srgbClr val="ACCCE9"/>
                </a:solidFill>
              </a:rPr>
              <a:t>only</a:t>
            </a:r>
            <a:endParaRPr lang="it-IT" sz="1000" dirty="0">
              <a:solidFill>
                <a:srgbClr val="ACCCE9"/>
              </a:solidFill>
            </a:endParaRPr>
          </a:p>
        </p:txBody>
      </p:sp>
      <p:sp>
        <p:nvSpPr>
          <p:cNvPr id="198" name="Titolo 1">
            <a:extLst>
              <a:ext uri="{FF2B5EF4-FFF2-40B4-BE49-F238E27FC236}">
                <a16:creationId xmlns:a16="http://schemas.microsoft.com/office/drawing/2014/main" id="{75EAE94A-525C-0962-71F2-376D13575A71}"/>
              </a:ext>
            </a:extLst>
          </p:cNvPr>
          <p:cNvSpPr txBox="1">
            <a:spLocks/>
          </p:cNvSpPr>
          <p:nvPr/>
        </p:nvSpPr>
        <p:spPr bwMode="auto">
          <a:xfrm>
            <a:off x="11449733" y="138154"/>
            <a:ext cx="428417" cy="644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it-IT" sz="3200" dirty="0"/>
              <a:t>4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97824E-9876-2844-BBF6-9B567BE0C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7885" y="4824042"/>
            <a:ext cx="5959913" cy="1887282"/>
          </a:xfrm>
        </p:spPr>
        <p:txBody>
          <a:bodyPr/>
          <a:lstStyle/>
          <a:p>
            <a:pPr marL="0" indent="0">
              <a:buNone/>
            </a:pPr>
            <a:r>
              <a:rPr lang="it-IT" sz="1600" b="1" dirty="0"/>
              <a:t>Channel </a:t>
            </a:r>
            <a:r>
              <a:rPr lang="it-IT" sz="1600" b="1" dirty="0" err="1"/>
              <a:t>Attention</a:t>
            </a:r>
            <a:r>
              <a:rPr lang="it-IT" sz="1600" b="1" dirty="0"/>
              <a:t>:</a:t>
            </a:r>
            <a:endParaRPr lang="it-IT" sz="1600" dirty="0"/>
          </a:p>
          <a:p>
            <a:r>
              <a:rPr lang="it-IT" sz="1600" dirty="0" err="1"/>
              <a:t>Adaptive</a:t>
            </a:r>
            <a:r>
              <a:rPr lang="it-IT" sz="1600" dirty="0"/>
              <a:t> AvgPool2D </a:t>
            </a:r>
            <a:r>
              <a:rPr lang="it-IT" sz="1600" dirty="0" err="1"/>
              <a:t>computes</a:t>
            </a:r>
            <a:r>
              <a:rPr lang="it-IT" sz="1600" dirty="0"/>
              <a:t> </a:t>
            </a:r>
            <a:r>
              <a:rPr lang="it-IT" sz="1600" dirty="0" err="1"/>
              <a:t>mean</a:t>
            </a:r>
            <a:r>
              <a:rPr lang="it-IT" sz="1600" dirty="0"/>
              <a:t> of the 16 </a:t>
            </a:r>
            <a:r>
              <a:rPr lang="it-IT" sz="1600" dirty="0" err="1"/>
              <a:t>channels</a:t>
            </a:r>
            <a:r>
              <a:rPr lang="it-IT" sz="1600" dirty="0"/>
              <a:t>.</a:t>
            </a:r>
          </a:p>
          <a:p>
            <a:r>
              <a:rPr lang="it-IT" sz="1600" dirty="0"/>
              <a:t>The </a:t>
            </a:r>
            <a:r>
              <a:rPr lang="it-IT" sz="1600" dirty="0" err="1"/>
              <a:t>two</a:t>
            </a:r>
            <a:r>
              <a:rPr lang="it-IT" sz="1600" dirty="0"/>
              <a:t> Conv1x1 work </a:t>
            </a:r>
            <a:r>
              <a:rPr lang="it-IT" sz="1600" dirty="0" err="1"/>
              <a:t>as</a:t>
            </a:r>
            <a:r>
              <a:rPr lang="it-IT" sz="1600" dirty="0"/>
              <a:t> </a:t>
            </a:r>
            <a:r>
              <a:rPr lang="it-IT" sz="1600" b="1" dirty="0" err="1"/>
              <a:t>bottlenecks</a:t>
            </a:r>
            <a:r>
              <a:rPr lang="it-IT" sz="1600" dirty="0"/>
              <a:t>, </a:t>
            </a:r>
            <a:r>
              <a:rPr lang="it-IT" sz="1600" dirty="0" err="1"/>
              <a:t>dimensionality</a:t>
            </a:r>
            <a:r>
              <a:rPr lang="it-IT" sz="1600" dirty="0"/>
              <a:t> </a:t>
            </a:r>
            <a:r>
              <a:rPr lang="it-IT" sz="1600" dirty="0" err="1"/>
              <a:t>reduction</a:t>
            </a:r>
            <a:r>
              <a:rPr lang="it-IT" sz="1600" dirty="0"/>
              <a:t>.</a:t>
            </a:r>
          </a:p>
          <a:p>
            <a:r>
              <a:rPr lang="it-IT" sz="1600" dirty="0" err="1"/>
              <a:t>Sigmoid</a:t>
            </a:r>
            <a:r>
              <a:rPr lang="it-IT" sz="1600" dirty="0"/>
              <a:t> </a:t>
            </a:r>
            <a:r>
              <a:rPr lang="it-IT" sz="1600" dirty="0" err="1"/>
              <a:t>produces</a:t>
            </a:r>
            <a:r>
              <a:rPr lang="it-IT" sz="1600" dirty="0"/>
              <a:t> a weight for </a:t>
            </a:r>
            <a:r>
              <a:rPr lang="it-IT" sz="1600" dirty="0" err="1"/>
              <a:t>each</a:t>
            </a:r>
            <a:r>
              <a:rPr lang="it-IT" sz="1600" dirty="0"/>
              <a:t> </a:t>
            </a:r>
            <a:r>
              <a:rPr lang="it-IT" sz="1600" dirty="0" err="1"/>
              <a:t>channel</a:t>
            </a:r>
            <a:endParaRPr lang="it-IT" sz="1600" dirty="0"/>
          </a:p>
          <a:p>
            <a:r>
              <a:rPr lang="it-IT" sz="1600" dirty="0" err="1"/>
              <a:t>Multiplication</a:t>
            </a:r>
            <a:r>
              <a:rPr lang="it-IT" sz="1600" dirty="0"/>
              <a:t> </a:t>
            </a:r>
            <a:r>
              <a:rPr lang="it-IT" sz="1600" dirty="0" err="1"/>
              <a:t>applies</a:t>
            </a:r>
            <a:r>
              <a:rPr lang="it-IT" sz="1600" dirty="0"/>
              <a:t> the weights </a:t>
            </a:r>
            <a:r>
              <a:rPr lang="it-IT" sz="1600" dirty="0" err="1"/>
              <a:t>at</a:t>
            </a:r>
            <a:r>
              <a:rPr lang="it-IT" sz="1600" dirty="0"/>
              <a:t> </a:t>
            </a:r>
            <a:r>
              <a:rPr lang="it-IT" sz="1600" dirty="0" err="1"/>
              <a:t>each</a:t>
            </a:r>
            <a:r>
              <a:rPr lang="it-IT" sz="1600" dirty="0"/>
              <a:t> </a:t>
            </a:r>
            <a:r>
              <a:rPr lang="it-IT" sz="1600" dirty="0" err="1"/>
              <a:t>channel</a:t>
            </a:r>
            <a:endParaRPr lang="it-IT" sz="1600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9423D425-D01A-8F7E-94BD-95D508499896}"/>
              </a:ext>
            </a:extLst>
          </p:cNvPr>
          <p:cNvSpPr txBox="1">
            <a:spLocks/>
          </p:cNvSpPr>
          <p:nvPr/>
        </p:nvSpPr>
        <p:spPr bwMode="auto">
          <a:xfrm>
            <a:off x="484201" y="5451059"/>
            <a:ext cx="4855390" cy="116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600" i="1" dirty="0" err="1"/>
              <a:t>Attenuates</a:t>
            </a:r>
            <a:r>
              <a:rPr lang="it-IT" sz="1600" i="1" dirty="0"/>
              <a:t> </a:t>
            </a:r>
            <a:r>
              <a:rPr lang="it-IT" sz="1600" i="1" dirty="0" err="1"/>
              <a:t>useless</a:t>
            </a:r>
            <a:r>
              <a:rPr lang="it-IT" sz="1600" i="1" dirty="0"/>
              <a:t> </a:t>
            </a:r>
            <a:r>
              <a:rPr lang="it-IT" sz="1600" i="1" dirty="0" err="1"/>
              <a:t>channels</a:t>
            </a:r>
            <a:r>
              <a:rPr lang="it-IT" sz="1600" i="1" dirty="0"/>
              <a:t>.</a:t>
            </a:r>
          </a:p>
          <a:p>
            <a:r>
              <a:rPr lang="it-IT" sz="1600" i="1" dirty="0" err="1"/>
              <a:t>Keeps</a:t>
            </a:r>
            <a:r>
              <a:rPr lang="it-IT" sz="1600" i="1" dirty="0"/>
              <a:t> more informative </a:t>
            </a:r>
            <a:r>
              <a:rPr lang="it-IT" sz="1600" i="1" dirty="0" err="1"/>
              <a:t>channels</a:t>
            </a:r>
            <a:r>
              <a:rPr lang="it-IT" sz="1600" i="1" dirty="0"/>
              <a:t>.</a:t>
            </a:r>
          </a:p>
          <a:p>
            <a:r>
              <a:rPr lang="it-IT" sz="1600" i="1" dirty="0" err="1"/>
              <a:t>Uses</a:t>
            </a:r>
            <a:r>
              <a:rPr lang="it-IT" sz="1600" i="1" dirty="0"/>
              <a:t> global </a:t>
            </a:r>
            <a:r>
              <a:rPr lang="it-IT" sz="1600" i="1" dirty="0" err="1"/>
              <a:t>context</a:t>
            </a:r>
            <a:r>
              <a:rPr lang="it-IT" sz="1600" i="1" dirty="0"/>
              <a:t> of the feature </a:t>
            </a:r>
            <a:r>
              <a:rPr lang="it-IT" sz="1600" i="1" dirty="0" err="1"/>
              <a:t>map</a:t>
            </a:r>
            <a:r>
              <a:rPr lang="it-IT" sz="1600" i="1" dirty="0"/>
              <a:t> to weight the </a:t>
            </a:r>
            <a:r>
              <a:rPr lang="it-IT" sz="1600" i="1" dirty="0" err="1"/>
              <a:t>channels</a:t>
            </a:r>
            <a:r>
              <a:rPr lang="it-IT" sz="16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7788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477A9-D16A-A50E-EB0F-1490EB3DD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1F55B2-3D4D-B0F9-A0B9-59D56D2BA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477"/>
            <a:ext cx="3298614" cy="644166"/>
          </a:xfrm>
        </p:spPr>
        <p:txBody>
          <a:bodyPr/>
          <a:lstStyle/>
          <a:p>
            <a:r>
              <a:rPr lang="it-IT" sz="3200" dirty="0"/>
              <a:t>CNN </a:t>
            </a:r>
            <a:r>
              <a:rPr lang="it-IT" sz="3200" dirty="0" err="1"/>
              <a:t>Spatial</a:t>
            </a:r>
            <a:r>
              <a:rPr lang="it-IT" sz="3200" dirty="0"/>
              <a:t> Head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1D9804D-74EB-6CCA-D4F8-1226AE1E15E1}"/>
              </a:ext>
            </a:extLst>
          </p:cNvPr>
          <p:cNvSpPr/>
          <p:nvPr/>
        </p:nvSpPr>
        <p:spPr>
          <a:xfrm>
            <a:off x="681487" y="1207698"/>
            <a:ext cx="1050793" cy="5652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Feature </a:t>
            </a:r>
            <a:r>
              <a:rPr lang="it-IT" sz="1100" dirty="0" err="1"/>
              <a:t>Map</a:t>
            </a:r>
            <a:r>
              <a:rPr lang="it-IT" sz="1100" dirty="0"/>
              <a:t> Normalizzata</a:t>
            </a:r>
          </a:p>
          <a:p>
            <a:pPr algn="ctr"/>
            <a:r>
              <a:rPr lang="it-IT" sz="1100" dirty="0"/>
              <a:t>(1280, 16, 16)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4BEFF4B-4B8B-24CB-81B3-D0325D841C22}"/>
              </a:ext>
            </a:extLst>
          </p:cNvPr>
          <p:cNvSpPr/>
          <p:nvPr/>
        </p:nvSpPr>
        <p:spPr>
          <a:xfrm>
            <a:off x="2406067" y="1300300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1280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1D02525-413D-EC99-0C52-B1E3F074837C}"/>
              </a:ext>
            </a:extLst>
          </p:cNvPr>
          <p:cNvSpPr/>
          <p:nvPr/>
        </p:nvSpPr>
        <p:spPr>
          <a:xfrm>
            <a:off x="2406067" y="1870326"/>
            <a:ext cx="944113" cy="30106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07BD4DB7-684B-E004-4FEB-3006BDB13CDA}"/>
              </a:ext>
            </a:extLst>
          </p:cNvPr>
          <p:cNvSpPr/>
          <p:nvPr/>
        </p:nvSpPr>
        <p:spPr>
          <a:xfrm>
            <a:off x="2604186" y="2361397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382CD3A-CCD6-0D2A-075A-9938F9E230BF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732280" y="1490309"/>
            <a:ext cx="6737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DDDAB45-469E-7325-FD16-35AF794F1695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2878124" y="1680317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57A43404-F5FA-1829-9E32-DC36B15ED1DB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flipH="1">
            <a:off x="2878123" y="2171388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ttangolo 41">
            <a:extLst>
              <a:ext uri="{FF2B5EF4-FFF2-40B4-BE49-F238E27FC236}">
                <a16:creationId xmlns:a16="http://schemas.microsoft.com/office/drawing/2014/main" id="{D09616C6-2395-E225-6D56-D77B8E72AAAD}"/>
              </a:ext>
            </a:extLst>
          </p:cNvPr>
          <p:cNvSpPr/>
          <p:nvPr/>
        </p:nvSpPr>
        <p:spPr>
          <a:xfrm>
            <a:off x="4232568" y="1300300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Conv3x3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F1DA725B-01C7-1F5D-664D-D11BB4ECC364}"/>
              </a:ext>
            </a:extLst>
          </p:cNvPr>
          <p:cNvSpPr/>
          <p:nvPr/>
        </p:nvSpPr>
        <p:spPr>
          <a:xfrm>
            <a:off x="4232568" y="1870326"/>
            <a:ext cx="944113" cy="301062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E8D4EB93-9EE0-306D-D480-08F667B2D391}"/>
              </a:ext>
            </a:extLst>
          </p:cNvPr>
          <p:cNvSpPr/>
          <p:nvPr/>
        </p:nvSpPr>
        <p:spPr>
          <a:xfrm>
            <a:off x="4430687" y="2361397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0AD36846-F095-36C0-29BB-8EF81379AA95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4704625" y="1680317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F10C1884-B4F3-177E-4F54-C25457A36AD9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 flipH="1">
            <a:off x="4704624" y="2171388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ttangolo 48">
            <a:extLst>
              <a:ext uri="{FF2B5EF4-FFF2-40B4-BE49-F238E27FC236}">
                <a16:creationId xmlns:a16="http://schemas.microsoft.com/office/drawing/2014/main" id="{69C4B5F9-3069-BB39-DF9F-0851E0B1D731}"/>
              </a:ext>
            </a:extLst>
          </p:cNvPr>
          <p:cNvSpPr/>
          <p:nvPr/>
        </p:nvSpPr>
        <p:spPr>
          <a:xfrm>
            <a:off x="5742095" y="1300300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C1397BC0-CB72-EFEF-68DE-099B334E8CE4}"/>
              </a:ext>
            </a:extLst>
          </p:cNvPr>
          <p:cNvSpPr/>
          <p:nvPr/>
        </p:nvSpPr>
        <p:spPr>
          <a:xfrm>
            <a:off x="5742095" y="1870326"/>
            <a:ext cx="944113" cy="301062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156A8D2B-AEFF-4C06-AF03-E80A2D736E92}"/>
              </a:ext>
            </a:extLst>
          </p:cNvPr>
          <p:cNvSpPr/>
          <p:nvPr/>
        </p:nvSpPr>
        <p:spPr>
          <a:xfrm>
            <a:off x="5940214" y="2361397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EF4FD867-2F20-A690-74DD-65831959D1B1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>
            <a:off x="6214152" y="1680317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3B85196A-7AD4-4479-3646-2A364EB14417}"/>
              </a:ext>
            </a:extLst>
          </p:cNvPr>
          <p:cNvCxnSpPr>
            <a:stCxn id="50" idx="2"/>
            <a:endCxn id="51" idx="0"/>
          </p:cNvCxnSpPr>
          <p:nvPr/>
        </p:nvCxnSpPr>
        <p:spPr>
          <a:xfrm flipH="1">
            <a:off x="6214151" y="2171388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a gomito 54">
            <a:extLst>
              <a:ext uri="{FF2B5EF4-FFF2-40B4-BE49-F238E27FC236}">
                <a16:creationId xmlns:a16="http://schemas.microsoft.com/office/drawing/2014/main" id="{E72CF9D9-3508-7C03-0DC3-5AB78A02C42E}"/>
              </a:ext>
            </a:extLst>
          </p:cNvPr>
          <p:cNvCxnSpPr>
            <a:stCxn id="16" idx="2"/>
            <a:endCxn id="42" idx="0"/>
          </p:cNvCxnSpPr>
          <p:nvPr/>
        </p:nvCxnSpPr>
        <p:spPr>
          <a:xfrm rot="5400000" flipH="1" flipV="1">
            <a:off x="3110294" y="1068129"/>
            <a:ext cx="1362159" cy="1826502"/>
          </a:xfrm>
          <a:prstGeom prst="bentConnector5">
            <a:avLst>
              <a:gd name="adj1" fmla="val -16782"/>
              <a:gd name="adj2" fmla="val 44576"/>
              <a:gd name="adj3" fmla="val 1167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a gomito 56">
            <a:extLst>
              <a:ext uri="{FF2B5EF4-FFF2-40B4-BE49-F238E27FC236}">
                <a16:creationId xmlns:a16="http://schemas.microsoft.com/office/drawing/2014/main" id="{5A7FDC6D-B27A-8AC5-411A-93329C170028}"/>
              </a:ext>
            </a:extLst>
          </p:cNvPr>
          <p:cNvCxnSpPr>
            <a:stCxn id="44" idx="2"/>
            <a:endCxn id="49" idx="0"/>
          </p:cNvCxnSpPr>
          <p:nvPr/>
        </p:nvCxnSpPr>
        <p:spPr>
          <a:xfrm rot="5400000" flipH="1" flipV="1">
            <a:off x="4778308" y="1226616"/>
            <a:ext cx="1362159" cy="1509528"/>
          </a:xfrm>
          <a:prstGeom prst="bentConnector5">
            <a:avLst>
              <a:gd name="adj1" fmla="val -16782"/>
              <a:gd name="adj2" fmla="val 43438"/>
              <a:gd name="adj3" fmla="val 1167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e 57">
            <a:extLst>
              <a:ext uri="{FF2B5EF4-FFF2-40B4-BE49-F238E27FC236}">
                <a16:creationId xmlns:a16="http://schemas.microsoft.com/office/drawing/2014/main" id="{1D00B6A8-E4B8-410C-0F24-E20D94958BE7}"/>
              </a:ext>
            </a:extLst>
          </p:cNvPr>
          <p:cNvSpPr/>
          <p:nvPr/>
        </p:nvSpPr>
        <p:spPr>
          <a:xfrm>
            <a:off x="7276253" y="1615440"/>
            <a:ext cx="292336" cy="2548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63" name="Connettore a gomito 62">
            <a:extLst>
              <a:ext uri="{FF2B5EF4-FFF2-40B4-BE49-F238E27FC236}">
                <a16:creationId xmlns:a16="http://schemas.microsoft.com/office/drawing/2014/main" id="{1C1A4C7F-FD21-32A8-F3CC-98580E739912}"/>
              </a:ext>
            </a:extLst>
          </p:cNvPr>
          <p:cNvCxnSpPr>
            <a:stCxn id="51" idx="2"/>
            <a:endCxn id="58" idx="4"/>
          </p:cNvCxnSpPr>
          <p:nvPr/>
        </p:nvCxnSpPr>
        <p:spPr>
          <a:xfrm rot="5400000" flipH="1" flipV="1">
            <a:off x="6422219" y="1662258"/>
            <a:ext cx="792133" cy="1208270"/>
          </a:xfrm>
          <a:prstGeom prst="bentConnector3">
            <a:avLst>
              <a:gd name="adj1" fmla="val -288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ttangolo con angoli arrotondati 63">
            <a:extLst>
              <a:ext uri="{FF2B5EF4-FFF2-40B4-BE49-F238E27FC236}">
                <a16:creationId xmlns:a16="http://schemas.microsoft.com/office/drawing/2014/main" id="{EF758237-A6E0-F9C3-48D8-5B190AAC6DFB}"/>
              </a:ext>
            </a:extLst>
          </p:cNvPr>
          <p:cNvSpPr/>
          <p:nvPr/>
        </p:nvSpPr>
        <p:spPr>
          <a:xfrm>
            <a:off x="4136814" y="782320"/>
            <a:ext cx="3586480" cy="235204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792E79EC-09C4-9FF3-043C-6EF4DE6FAAD5}"/>
              </a:ext>
            </a:extLst>
          </p:cNvPr>
          <p:cNvSpPr/>
          <p:nvPr/>
        </p:nvSpPr>
        <p:spPr>
          <a:xfrm>
            <a:off x="2231047" y="1207698"/>
            <a:ext cx="1265306" cy="156597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4" name="Connettore a gomito 73">
            <a:extLst>
              <a:ext uri="{FF2B5EF4-FFF2-40B4-BE49-F238E27FC236}">
                <a16:creationId xmlns:a16="http://schemas.microsoft.com/office/drawing/2014/main" id="{C71AC5E2-FA29-5F48-DAB8-5A0A319902F2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4704623" y="906201"/>
            <a:ext cx="2717798" cy="709239"/>
          </a:xfrm>
          <a:prstGeom prst="bentConnector2">
            <a:avLst/>
          </a:prstGeom>
          <a:ln>
            <a:prstDash val="lgDashDot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Connettore diritto 77">
            <a:extLst>
              <a:ext uri="{FF2B5EF4-FFF2-40B4-BE49-F238E27FC236}">
                <a16:creationId xmlns:a16="http://schemas.microsoft.com/office/drawing/2014/main" id="{749D4AFE-3E22-F288-4811-7E0B22D53B11}"/>
              </a:ext>
            </a:extLst>
          </p:cNvPr>
          <p:cNvCxnSpPr/>
          <p:nvPr/>
        </p:nvCxnSpPr>
        <p:spPr>
          <a:xfrm flipV="1">
            <a:off x="4704623" y="901700"/>
            <a:ext cx="0" cy="169863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Rettangolo 79">
            <a:extLst>
              <a:ext uri="{FF2B5EF4-FFF2-40B4-BE49-F238E27FC236}">
                <a16:creationId xmlns:a16="http://schemas.microsoft.com/office/drawing/2014/main" id="{2A791863-5A8C-E4E5-CAFE-7DE7A10D80D8}"/>
              </a:ext>
            </a:extLst>
          </p:cNvPr>
          <p:cNvSpPr/>
          <p:nvPr/>
        </p:nvSpPr>
        <p:spPr>
          <a:xfrm>
            <a:off x="8030211" y="1592352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FC43A0B3-434E-D962-CA4E-59F4FE530538}"/>
              </a:ext>
            </a:extLst>
          </p:cNvPr>
          <p:cNvCxnSpPr>
            <a:stCxn id="58" idx="6"/>
            <a:endCxn id="80" idx="1"/>
          </p:cNvCxnSpPr>
          <p:nvPr/>
        </p:nvCxnSpPr>
        <p:spPr>
          <a:xfrm>
            <a:off x="7568589" y="1742883"/>
            <a:ext cx="4616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Segnaposto contenuto 2">
            <a:extLst>
              <a:ext uri="{FF2B5EF4-FFF2-40B4-BE49-F238E27FC236}">
                <a16:creationId xmlns:a16="http://schemas.microsoft.com/office/drawing/2014/main" id="{82EBEE8A-371A-2B68-17EA-A1873165BADA}"/>
              </a:ext>
            </a:extLst>
          </p:cNvPr>
          <p:cNvSpPr txBox="1">
            <a:spLocks/>
          </p:cNvSpPr>
          <p:nvPr/>
        </p:nvSpPr>
        <p:spPr bwMode="auto">
          <a:xfrm>
            <a:off x="2226733" y="976564"/>
            <a:ext cx="1265306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 err="1"/>
              <a:t>Initial</a:t>
            </a:r>
            <a:r>
              <a:rPr lang="it-IT" sz="1100" dirty="0"/>
              <a:t> Block</a:t>
            </a:r>
          </a:p>
        </p:txBody>
      </p:sp>
      <p:sp>
        <p:nvSpPr>
          <p:cNvPr id="87" name="Segnaposto contenuto 2">
            <a:extLst>
              <a:ext uri="{FF2B5EF4-FFF2-40B4-BE49-F238E27FC236}">
                <a16:creationId xmlns:a16="http://schemas.microsoft.com/office/drawing/2014/main" id="{57C7862D-50E2-C192-AF11-6384F7EC859F}"/>
              </a:ext>
            </a:extLst>
          </p:cNvPr>
          <p:cNvSpPr txBox="1">
            <a:spLocks/>
          </p:cNvSpPr>
          <p:nvPr/>
        </p:nvSpPr>
        <p:spPr bwMode="auto">
          <a:xfrm>
            <a:off x="4136814" y="510030"/>
            <a:ext cx="3586479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3 X </a:t>
            </a:r>
            <a:r>
              <a:rPr lang="it-IT" sz="1100" dirty="0" err="1"/>
              <a:t>Residual</a:t>
            </a:r>
            <a:r>
              <a:rPr lang="it-IT" sz="1100" dirty="0"/>
              <a:t> Block</a:t>
            </a:r>
          </a:p>
        </p:txBody>
      </p:sp>
      <p:sp>
        <p:nvSpPr>
          <p:cNvPr id="89" name="Segnaposto contenuto 2">
            <a:extLst>
              <a:ext uri="{FF2B5EF4-FFF2-40B4-BE49-F238E27FC236}">
                <a16:creationId xmlns:a16="http://schemas.microsoft.com/office/drawing/2014/main" id="{45BAF371-95F7-E5F3-D528-445A84F7124C}"/>
              </a:ext>
            </a:extLst>
          </p:cNvPr>
          <p:cNvSpPr txBox="1">
            <a:spLocks/>
          </p:cNvSpPr>
          <p:nvPr/>
        </p:nvSpPr>
        <p:spPr bwMode="auto">
          <a:xfrm>
            <a:off x="6733076" y="993648"/>
            <a:ext cx="654087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 err="1"/>
              <a:t>Residual</a:t>
            </a:r>
            <a:endParaRPr lang="it-IT" sz="1000" dirty="0"/>
          </a:p>
        </p:txBody>
      </p:sp>
      <p:sp>
        <p:nvSpPr>
          <p:cNvPr id="92" name="Segnaposto contenuto 2">
            <a:extLst>
              <a:ext uri="{FF2B5EF4-FFF2-40B4-BE49-F238E27FC236}">
                <a16:creationId xmlns:a16="http://schemas.microsoft.com/office/drawing/2014/main" id="{124E59C3-4809-EFD7-E353-8A47FBDE8115}"/>
              </a:ext>
            </a:extLst>
          </p:cNvPr>
          <p:cNvSpPr txBox="1">
            <a:spLocks/>
          </p:cNvSpPr>
          <p:nvPr/>
        </p:nvSpPr>
        <p:spPr bwMode="auto">
          <a:xfrm>
            <a:off x="7819048" y="1324520"/>
            <a:ext cx="970198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/>
              <a:t>(128, 16, 16)</a:t>
            </a:r>
          </a:p>
        </p:txBody>
      </p:sp>
      <p:sp>
        <p:nvSpPr>
          <p:cNvPr id="93" name="Rettangolo 92">
            <a:extLst>
              <a:ext uri="{FF2B5EF4-FFF2-40B4-BE49-F238E27FC236}">
                <a16:creationId xmlns:a16="http://schemas.microsoft.com/office/drawing/2014/main" id="{FB13936E-FB5E-2970-C15B-6FE941417079}"/>
              </a:ext>
            </a:extLst>
          </p:cNvPr>
          <p:cNvSpPr/>
          <p:nvPr/>
        </p:nvSpPr>
        <p:spPr>
          <a:xfrm>
            <a:off x="9396406" y="863115"/>
            <a:ext cx="1480870" cy="3800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AvgPool2D</a:t>
            </a:r>
          </a:p>
          <a:p>
            <a:pPr algn="ctr"/>
            <a:r>
              <a:rPr lang="it-IT" sz="1100" dirty="0"/>
              <a:t>(128, 1, 1)</a:t>
            </a:r>
          </a:p>
        </p:txBody>
      </p:sp>
      <p:sp>
        <p:nvSpPr>
          <p:cNvPr id="94" name="Rettangolo 93">
            <a:extLst>
              <a:ext uri="{FF2B5EF4-FFF2-40B4-BE49-F238E27FC236}">
                <a16:creationId xmlns:a16="http://schemas.microsoft.com/office/drawing/2014/main" id="{E03DDC22-C44E-212D-691A-EA707A91FF7B}"/>
              </a:ext>
            </a:extLst>
          </p:cNvPr>
          <p:cNvSpPr/>
          <p:nvPr/>
        </p:nvSpPr>
        <p:spPr>
          <a:xfrm>
            <a:off x="9396406" y="1433141"/>
            <a:ext cx="1480870" cy="301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16</a:t>
            </a:r>
            <a:endParaRPr lang="it-IT" sz="1100" dirty="0"/>
          </a:p>
        </p:txBody>
      </p:sp>
      <p:sp>
        <p:nvSpPr>
          <p:cNvPr id="95" name="Rettangolo 94">
            <a:extLst>
              <a:ext uri="{FF2B5EF4-FFF2-40B4-BE49-F238E27FC236}">
                <a16:creationId xmlns:a16="http://schemas.microsoft.com/office/drawing/2014/main" id="{586A8256-00CE-A29F-CC5D-8952E127B3C6}"/>
              </a:ext>
            </a:extLst>
          </p:cNvPr>
          <p:cNvSpPr/>
          <p:nvPr/>
        </p:nvSpPr>
        <p:spPr>
          <a:xfrm>
            <a:off x="9863241" y="1924212"/>
            <a:ext cx="547200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96" name="Connettore 2 95">
            <a:extLst>
              <a:ext uri="{FF2B5EF4-FFF2-40B4-BE49-F238E27FC236}">
                <a16:creationId xmlns:a16="http://schemas.microsoft.com/office/drawing/2014/main" id="{89C84483-4585-BB50-04F3-FD39936E99C9}"/>
              </a:ext>
            </a:extLst>
          </p:cNvPr>
          <p:cNvCxnSpPr>
            <a:cxnSpLocks/>
            <a:stCxn id="93" idx="2"/>
            <a:endCxn id="94" idx="0"/>
          </p:cNvCxnSpPr>
          <p:nvPr/>
        </p:nvCxnSpPr>
        <p:spPr>
          <a:xfrm>
            <a:off x="10136841" y="1243132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362652EB-4F64-6682-C161-83DB82342DE3}"/>
              </a:ext>
            </a:extLst>
          </p:cNvPr>
          <p:cNvCxnSpPr>
            <a:cxnSpLocks/>
            <a:stCxn id="94" idx="2"/>
            <a:endCxn id="95" idx="0"/>
          </p:cNvCxnSpPr>
          <p:nvPr/>
        </p:nvCxnSpPr>
        <p:spPr>
          <a:xfrm>
            <a:off x="10136841" y="1734203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F03F9673-A93A-9216-9D6B-939FBD0ED524}"/>
              </a:ext>
            </a:extLst>
          </p:cNvPr>
          <p:cNvSpPr/>
          <p:nvPr/>
        </p:nvSpPr>
        <p:spPr>
          <a:xfrm>
            <a:off x="9217072" y="738762"/>
            <a:ext cx="1804835" cy="260262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9" name="Segnaposto contenuto 2">
            <a:extLst>
              <a:ext uri="{FF2B5EF4-FFF2-40B4-BE49-F238E27FC236}">
                <a16:creationId xmlns:a16="http://schemas.microsoft.com/office/drawing/2014/main" id="{D7201D07-258B-E98B-132A-EC23B3C27022}"/>
              </a:ext>
            </a:extLst>
          </p:cNvPr>
          <p:cNvSpPr txBox="1">
            <a:spLocks/>
          </p:cNvSpPr>
          <p:nvPr/>
        </p:nvSpPr>
        <p:spPr bwMode="auto">
          <a:xfrm>
            <a:off x="9217072" y="453302"/>
            <a:ext cx="180483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Channel </a:t>
            </a:r>
            <a:r>
              <a:rPr lang="it-IT" sz="1100" dirty="0" err="1"/>
              <a:t>Attention</a:t>
            </a:r>
            <a:endParaRPr lang="it-IT" sz="1100" dirty="0"/>
          </a:p>
        </p:txBody>
      </p:sp>
      <p:sp>
        <p:nvSpPr>
          <p:cNvPr id="103" name="Rettangolo 102">
            <a:extLst>
              <a:ext uri="{FF2B5EF4-FFF2-40B4-BE49-F238E27FC236}">
                <a16:creationId xmlns:a16="http://schemas.microsoft.com/office/drawing/2014/main" id="{1CCF1EB2-9168-3DBA-08AA-5DACBA5BAC7C}"/>
              </a:ext>
            </a:extLst>
          </p:cNvPr>
          <p:cNvSpPr/>
          <p:nvPr/>
        </p:nvSpPr>
        <p:spPr>
          <a:xfrm>
            <a:off x="9395015" y="2415480"/>
            <a:ext cx="1480870" cy="301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16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endParaRPr lang="it-IT" sz="1100" dirty="0"/>
          </a:p>
        </p:txBody>
      </p:sp>
      <p:sp>
        <p:nvSpPr>
          <p:cNvPr id="104" name="Rettangolo 103">
            <a:extLst>
              <a:ext uri="{FF2B5EF4-FFF2-40B4-BE49-F238E27FC236}">
                <a16:creationId xmlns:a16="http://schemas.microsoft.com/office/drawing/2014/main" id="{232B703D-FB4E-FA3B-93AA-9C7A2F47CD59}"/>
              </a:ext>
            </a:extLst>
          </p:cNvPr>
          <p:cNvSpPr/>
          <p:nvPr/>
        </p:nvSpPr>
        <p:spPr>
          <a:xfrm>
            <a:off x="9705772" y="2925663"/>
            <a:ext cx="859355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Sigmoid</a:t>
            </a:r>
            <a:endParaRPr lang="it-IT" sz="1100" dirty="0"/>
          </a:p>
        </p:txBody>
      </p:sp>
      <p:cxnSp>
        <p:nvCxnSpPr>
          <p:cNvPr id="105" name="Connettore 2 104">
            <a:extLst>
              <a:ext uri="{FF2B5EF4-FFF2-40B4-BE49-F238E27FC236}">
                <a16:creationId xmlns:a16="http://schemas.microsoft.com/office/drawing/2014/main" id="{4347B83D-C52B-09A2-97D5-34251B67A416}"/>
              </a:ext>
            </a:extLst>
          </p:cNvPr>
          <p:cNvCxnSpPr>
            <a:cxnSpLocks/>
            <a:stCxn id="103" idx="2"/>
            <a:endCxn id="104" idx="0"/>
          </p:cNvCxnSpPr>
          <p:nvPr/>
        </p:nvCxnSpPr>
        <p:spPr>
          <a:xfrm>
            <a:off x="10135450" y="2716542"/>
            <a:ext cx="0" cy="209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ttore 2 106">
            <a:extLst>
              <a:ext uri="{FF2B5EF4-FFF2-40B4-BE49-F238E27FC236}">
                <a16:creationId xmlns:a16="http://schemas.microsoft.com/office/drawing/2014/main" id="{08CAE83F-EF76-7A4D-0B20-833F554D9BFF}"/>
              </a:ext>
            </a:extLst>
          </p:cNvPr>
          <p:cNvCxnSpPr>
            <a:stCxn id="95" idx="2"/>
            <a:endCxn id="103" idx="0"/>
          </p:cNvCxnSpPr>
          <p:nvPr/>
        </p:nvCxnSpPr>
        <p:spPr>
          <a:xfrm flipH="1">
            <a:off x="10135450" y="2225274"/>
            <a:ext cx="1391" cy="190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ttore a gomito 111">
            <a:extLst>
              <a:ext uri="{FF2B5EF4-FFF2-40B4-BE49-F238E27FC236}">
                <a16:creationId xmlns:a16="http://schemas.microsoft.com/office/drawing/2014/main" id="{FFCCE031-8314-F502-EFAB-752F51E3B1B4}"/>
              </a:ext>
            </a:extLst>
          </p:cNvPr>
          <p:cNvCxnSpPr>
            <a:stCxn id="80" idx="3"/>
            <a:endCxn id="93" idx="1"/>
          </p:cNvCxnSpPr>
          <p:nvPr/>
        </p:nvCxnSpPr>
        <p:spPr>
          <a:xfrm flipV="1">
            <a:off x="8578084" y="1053124"/>
            <a:ext cx="818322" cy="6897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B287E53B-4104-BA6A-54B0-8EABE6FF9E42}"/>
              </a:ext>
            </a:extLst>
          </p:cNvPr>
          <p:cNvSpPr/>
          <p:nvPr/>
        </p:nvSpPr>
        <p:spPr>
          <a:xfrm>
            <a:off x="9233031" y="3882224"/>
            <a:ext cx="1804835" cy="391879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Modulation</a:t>
            </a:r>
            <a:endParaRPr lang="it-IT" sz="1100" dirty="0"/>
          </a:p>
          <a:p>
            <a:pPr algn="ctr"/>
            <a:r>
              <a:rPr lang="it-IT" sz="1100" dirty="0"/>
              <a:t>(</a:t>
            </a:r>
            <a:r>
              <a:rPr lang="it-IT" sz="1100" dirty="0" err="1"/>
              <a:t>Element</a:t>
            </a:r>
            <a:r>
              <a:rPr lang="it-IT" sz="1100" dirty="0"/>
              <a:t>-wise </a:t>
            </a:r>
            <a:r>
              <a:rPr lang="it-IT" sz="1100" dirty="0" err="1"/>
              <a:t>multiply</a:t>
            </a:r>
            <a:r>
              <a:rPr lang="it-IT" sz="1100" dirty="0"/>
              <a:t>)</a:t>
            </a:r>
          </a:p>
        </p:txBody>
      </p:sp>
      <p:sp>
        <p:nvSpPr>
          <p:cNvPr id="119" name="Segnaposto contenuto 2">
            <a:extLst>
              <a:ext uri="{FF2B5EF4-FFF2-40B4-BE49-F238E27FC236}">
                <a16:creationId xmlns:a16="http://schemas.microsoft.com/office/drawing/2014/main" id="{6F3999BF-89B4-D332-1E87-CFE924BBAE48}"/>
              </a:ext>
            </a:extLst>
          </p:cNvPr>
          <p:cNvSpPr txBox="1">
            <a:spLocks/>
          </p:cNvSpPr>
          <p:nvPr/>
        </p:nvSpPr>
        <p:spPr bwMode="auto">
          <a:xfrm>
            <a:off x="9678985" y="4292884"/>
            <a:ext cx="91292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/>
              <a:t>(128, 16, 16)</a:t>
            </a:r>
          </a:p>
        </p:txBody>
      </p:sp>
      <p:cxnSp>
        <p:nvCxnSpPr>
          <p:cNvPr id="121" name="Connettore 2 120">
            <a:extLst>
              <a:ext uri="{FF2B5EF4-FFF2-40B4-BE49-F238E27FC236}">
                <a16:creationId xmlns:a16="http://schemas.microsoft.com/office/drawing/2014/main" id="{E0F8687E-AFBB-7AFB-6FD2-6863F2BE1A5A}"/>
              </a:ext>
            </a:extLst>
          </p:cNvPr>
          <p:cNvCxnSpPr>
            <a:cxnSpLocks/>
            <a:stCxn id="104" idx="2"/>
            <a:endCxn id="117" idx="0"/>
          </p:cNvCxnSpPr>
          <p:nvPr/>
        </p:nvCxnSpPr>
        <p:spPr>
          <a:xfrm flipH="1">
            <a:off x="10135449" y="3226725"/>
            <a:ext cx="1" cy="65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ttore a gomito 124">
            <a:extLst>
              <a:ext uri="{FF2B5EF4-FFF2-40B4-BE49-F238E27FC236}">
                <a16:creationId xmlns:a16="http://schemas.microsoft.com/office/drawing/2014/main" id="{8FB7B9D5-2CCA-51FA-29B1-994073E06F3F}"/>
              </a:ext>
            </a:extLst>
          </p:cNvPr>
          <p:cNvCxnSpPr>
            <a:cxnSpLocks/>
            <a:stCxn id="93" idx="3"/>
            <a:endCxn id="117" idx="3"/>
          </p:cNvCxnSpPr>
          <p:nvPr/>
        </p:nvCxnSpPr>
        <p:spPr>
          <a:xfrm>
            <a:off x="10877276" y="1053124"/>
            <a:ext cx="160590" cy="3025040"/>
          </a:xfrm>
          <a:prstGeom prst="bentConnector3">
            <a:avLst>
              <a:gd name="adj1" fmla="val 2423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ttangolo 128">
            <a:extLst>
              <a:ext uri="{FF2B5EF4-FFF2-40B4-BE49-F238E27FC236}">
                <a16:creationId xmlns:a16="http://schemas.microsoft.com/office/drawing/2014/main" id="{B52DFFF3-EB25-CE00-922F-C8112945CFE6}"/>
              </a:ext>
            </a:extLst>
          </p:cNvPr>
          <p:cNvSpPr/>
          <p:nvPr/>
        </p:nvSpPr>
        <p:spPr>
          <a:xfrm>
            <a:off x="7060119" y="3554475"/>
            <a:ext cx="1208700" cy="335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</a:t>
            </a:r>
          </a:p>
          <a:p>
            <a:pPr algn="ctr"/>
            <a:r>
              <a:rPr lang="it-IT" sz="1100" dirty="0"/>
              <a:t>AvgPool2D</a:t>
            </a:r>
          </a:p>
        </p:txBody>
      </p:sp>
      <p:sp>
        <p:nvSpPr>
          <p:cNvPr id="131" name="Rettangolo 130">
            <a:extLst>
              <a:ext uri="{FF2B5EF4-FFF2-40B4-BE49-F238E27FC236}">
                <a16:creationId xmlns:a16="http://schemas.microsoft.com/office/drawing/2014/main" id="{905799AF-1BB1-098B-7F78-AE232DCDA503}"/>
              </a:ext>
            </a:extLst>
          </p:cNvPr>
          <p:cNvSpPr/>
          <p:nvPr/>
        </p:nvSpPr>
        <p:spPr>
          <a:xfrm>
            <a:off x="7060119" y="4278517"/>
            <a:ext cx="1208700" cy="335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</a:t>
            </a:r>
          </a:p>
          <a:p>
            <a:pPr algn="ctr"/>
            <a:r>
              <a:rPr lang="it-IT" sz="1100" dirty="0"/>
              <a:t>MaxPool2D</a:t>
            </a:r>
          </a:p>
        </p:txBody>
      </p:sp>
      <p:sp>
        <p:nvSpPr>
          <p:cNvPr id="133" name="Rettangolo 132">
            <a:extLst>
              <a:ext uri="{FF2B5EF4-FFF2-40B4-BE49-F238E27FC236}">
                <a16:creationId xmlns:a16="http://schemas.microsoft.com/office/drawing/2014/main" id="{F588EAC5-2344-3835-3853-8FF4AE16F762}"/>
              </a:ext>
            </a:extLst>
          </p:cNvPr>
          <p:cNvSpPr/>
          <p:nvPr/>
        </p:nvSpPr>
        <p:spPr>
          <a:xfrm>
            <a:off x="5701238" y="3943397"/>
            <a:ext cx="912925" cy="3351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Concatenate</a:t>
            </a:r>
          </a:p>
          <a:p>
            <a:pPr algn="ctr"/>
            <a:r>
              <a:rPr lang="it-IT" sz="1100" dirty="0"/>
              <a:t>(256 </a:t>
            </a:r>
            <a:r>
              <a:rPr lang="it-IT" sz="1100" dirty="0" err="1"/>
              <a:t>values</a:t>
            </a:r>
            <a:r>
              <a:rPr lang="it-IT" sz="1100" dirty="0"/>
              <a:t>)</a:t>
            </a:r>
          </a:p>
        </p:txBody>
      </p:sp>
      <p:cxnSp>
        <p:nvCxnSpPr>
          <p:cNvPr id="137" name="Connettore a gomito 136">
            <a:extLst>
              <a:ext uri="{FF2B5EF4-FFF2-40B4-BE49-F238E27FC236}">
                <a16:creationId xmlns:a16="http://schemas.microsoft.com/office/drawing/2014/main" id="{9ADA7DE7-AD40-6907-4270-C2F09C4E3E9A}"/>
              </a:ext>
            </a:extLst>
          </p:cNvPr>
          <p:cNvCxnSpPr>
            <a:cxnSpLocks/>
            <a:stCxn id="117" idx="1"/>
            <a:endCxn id="129" idx="3"/>
          </p:cNvCxnSpPr>
          <p:nvPr/>
        </p:nvCxnSpPr>
        <p:spPr>
          <a:xfrm rot="10800000">
            <a:off x="8268819" y="3722036"/>
            <a:ext cx="964212" cy="3561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ttore a gomito 138">
            <a:extLst>
              <a:ext uri="{FF2B5EF4-FFF2-40B4-BE49-F238E27FC236}">
                <a16:creationId xmlns:a16="http://schemas.microsoft.com/office/drawing/2014/main" id="{3D0754D1-BB04-7271-720F-33711CBACEE6}"/>
              </a:ext>
            </a:extLst>
          </p:cNvPr>
          <p:cNvCxnSpPr>
            <a:cxnSpLocks/>
            <a:stCxn id="117" idx="1"/>
            <a:endCxn id="131" idx="3"/>
          </p:cNvCxnSpPr>
          <p:nvPr/>
        </p:nvCxnSpPr>
        <p:spPr>
          <a:xfrm rot="10800000" flipV="1">
            <a:off x="8268819" y="4078163"/>
            <a:ext cx="964212" cy="3679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ttore a gomito 140">
            <a:extLst>
              <a:ext uri="{FF2B5EF4-FFF2-40B4-BE49-F238E27FC236}">
                <a16:creationId xmlns:a16="http://schemas.microsoft.com/office/drawing/2014/main" id="{B40FA1E6-14EE-4262-F438-1BD6B8DE599E}"/>
              </a:ext>
            </a:extLst>
          </p:cNvPr>
          <p:cNvCxnSpPr>
            <a:stCxn id="129" idx="1"/>
            <a:endCxn id="133" idx="0"/>
          </p:cNvCxnSpPr>
          <p:nvPr/>
        </p:nvCxnSpPr>
        <p:spPr>
          <a:xfrm rot="10800000" flipV="1">
            <a:off x="6157701" y="3722035"/>
            <a:ext cx="902418" cy="2213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ttore a gomito 142">
            <a:extLst>
              <a:ext uri="{FF2B5EF4-FFF2-40B4-BE49-F238E27FC236}">
                <a16:creationId xmlns:a16="http://schemas.microsoft.com/office/drawing/2014/main" id="{F1C08F0A-1C88-DA3A-B50B-6D9F62EFC82B}"/>
              </a:ext>
            </a:extLst>
          </p:cNvPr>
          <p:cNvCxnSpPr>
            <a:stCxn id="131" idx="1"/>
            <a:endCxn id="133" idx="2"/>
          </p:cNvCxnSpPr>
          <p:nvPr/>
        </p:nvCxnSpPr>
        <p:spPr>
          <a:xfrm rot="10800000">
            <a:off x="6157701" y="4278517"/>
            <a:ext cx="902418" cy="1675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ttangolo 144">
            <a:extLst>
              <a:ext uri="{FF2B5EF4-FFF2-40B4-BE49-F238E27FC236}">
                <a16:creationId xmlns:a16="http://schemas.microsoft.com/office/drawing/2014/main" id="{7A451E2B-461F-34B3-D3C7-D198C6BE7929}"/>
              </a:ext>
            </a:extLst>
          </p:cNvPr>
          <p:cNvSpPr/>
          <p:nvPr/>
        </p:nvSpPr>
        <p:spPr>
          <a:xfrm>
            <a:off x="4141215" y="4572907"/>
            <a:ext cx="547200" cy="302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sp>
        <p:nvSpPr>
          <p:cNvPr id="147" name="Rettangolo 146">
            <a:extLst>
              <a:ext uri="{FF2B5EF4-FFF2-40B4-BE49-F238E27FC236}">
                <a16:creationId xmlns:a16="http://schemas.microsoft.com/office/drawing/2014/main" id="{BE1AD9A1-1941-87BD-7B06-8D76BEF35D1D}"/>
              </a:ext>
            </a:extLst>
          </p:cNvPr>
          <p:cNvSpPr/>
          <p:nvPr/>
        </p:nvSpPr>
        <p:spPr>
          <a:xfrm>
            <a:off x="3810466" y="3938984"/>
            <a:ext cx="1208700" cy="335120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Linear </a:t>
            </a:r>
          </a:p>
          <a:p>
            <a:pPr algn="ctr"/>
            <a:r>
              <a:rPr lang="it-IT" sz="1100" dirty="0"/>
              <a:t>256 </a:t>
            </a:r>
            <a:r>
              <a:rPr lang="it-IT" sz="1100" dirty="0">
                <a:sym typeface="Wingdings" panose="05000000000000000000" pitchFamily="2" charset="2"/>
              </a:rPr>
              <a:t> 60</a:t>
            </a:r>
            <a:endParaRPr lang="it-IT" sz="1100" dirty="0"/>
          </a:p>
        </p:txBody>
      </p:sp>
      <p:sp>
        <p:nvSpPr>
          <p:cNvPr id="149" name="Rettangolo 148">
            <a:extLst>
              <a:ext uri="{FF2B5EF4-FFF2-40B4-BE49-F238E27FC236}">
                <a16:creationId xmlns:a16="http://schemas.microsoft.com/office/drawing/2014/main" id="{3FF77D93-EBED-62F7-DC4F-8DF0E509731F}"/>
              </a:ext>
            </a:extLst>
          </p:cNvPr>
          <p:cNvSpPr/>
          <p:nvPr/>
        </p:nvSpPr>
        <p:spPr>
          <a:xfrm>
            <a:off x="2040176" y="3950052"/>
            <a:ext cx="1208700" cy="33512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Dropout 0.30</a:t>
            </a:r>
          </a:p>
        </p:txBody>
      </p:sp>
      <p:sp>
        <p:nvSpPr>
          <p:cNvPr id="151" name="Rettangolo 150">
            <a:extLst>
              <a:ext uri="{FF2B5EF4-FFF2-40B4-BE49-F238E27FC236}">
                <a16:creationId xmlns:a16="http://schemas.microsoft.com/office/drawing/2014/main" id="{F1368764-DE63-0254-7300-4737EBD82FE0}"/>
              </a:ext>
            </a:extLst>
          </p:cNvPr>
          <p:cNvSpPr/>
          <p:nvPr/>
        </p:nvSpPr>
        <p:spPr>
          <a:xfrm>
            <a:off x="2040176" y="4529328"/>
            <a:ext cx="1208700" cy="33512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Linear</a:t>
            </a:r>
          </a:p>
          <a:p>
            <a:pPr algn="ctr"/>
            <a:r>
              <a:rPr lang="it-IT" sz="1100" dirty="0"/>
              <a:t>64 </a:t>
            </a:r>
            <a:r>
              <a:rPr lang="it-IT" sz="1100" dirty="0">
                <a:sym typeface="Wingdings" panose="05000000000000000000" pitchFamily="2" charset="2"/>
              </a:rPr>
              <a:t> 1</a:t>
            </a:r>
            <a:endParaRPr lang="it-IT" sz="1100" dirty="0"/>
          </a:p>
        </p:txBody>
      </p:sp>
      <p:sp>
        <p:nvSpPr>
          <p:cNvPr id="155" name="Rettangolo 154">
            <a:extLst>
              <a:ext uri="{FF2B5EF4-FFF2-40B4-BE49-F238E27FC236}">
                <a16:creationId xmlns:a16="http://schemas.microsoft.com/office/drawing/2014/main" id="{D3A6452E-6496-5779-0E55-E2E7F5959130}"/>
              </a:ext>
            </a:extLst>
          </p:cNvPr>
          <p:cNvSpPr/>
          <p:nvPr/>
        </p:nvSpPr>
        <p:spPr>
          <a:xfrm>
            <a:off x="484201" y="4529328"/>
            <a:ext cx="774502" cy="3351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Logit</a:t>
            </a:r>
            <a:r>
              <a:rPr lang="it-IT" sz="1100" dirty="0"/>
              <a:t> Loss</a:t>
            </a:r>
          </a:p>
        </p:txBody>
      </p:sp>
      <p:sp>
        <p:nvSpPr>
          <p:cNvPr id="157" name="Rettangolo 156">
            <a:extLst>
              <a:ext uri="{FF2B5EF4-FFF2-40B4-BE49-F238E27FC236}">
                <a16:creationId xmlns:a16="http://schemas.microsoft.com/office/drawing/2014/main" id="{09CF7C68-3389-021C-6EDC-D36319E6130D}"/>
              </a:ext>
            </a:extLst>
          </p:cNvPr>
          <p:cNvSpPr/>
          <p:nvPr/>
        </p:nvSpPr>
        <p:spPr>
          <a:xfrm>
            <a:off x="489770" y="3950052"/>
            <a:ext cx="768933" cy="3351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Sigmoid</a:t>
            </a:r>
            <a:endParaRPr lang="it-IT" sz="1100" dirty="0"/>
          </a:p>
        </p:txBody>
      </p:sp>
      <p:sp>
        <p:nvSpPr>
          <p:cNvPr id="159" name="Rettangolo con angoli arrotondati 158">
            <a:extLst>
              <a:ext uri="{FF2B5EF4-FFF2-40B4-BE49-F238E27FC236}">
                <a16:creationId xmlns:a16="http://schemas.microsoft.com/office/drawing/2014/main" id="{D2E45C0F-4E0C-FDB2-B414-602E49119E5D}"/>
              </a:ext>
            </a:extLst>
          </p:cNvPr>
          <p:cNvSpPr/>
          <p:nvPr/>
        </p:nvSpPr>
        <p:spPr>
          <a:xfrm>
            <a:off x="1753111" y="3608472"/>
            <a:ext cx="3586480" cy="167067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1" name="Segnaposto contenuto 2">
            <a:extLst>
              <a:ext uri="{FF2B5EF4-FFF2-40B4-BE49-F238E27FC236}">
                <a16:creationId xmlns:a16="http://schemas.microsoft.com/office/drawing/2014/main" id="{AA428C7D-00E3-1DA3-2F9C-02B2C4037FEF}"/>
              </a:ext>
            </a:extLst>
          </p:cNvPr>
          <p:cNvSpPr txBox="1">
            <a:spLocks/>
          </p:cNvSpPr>
          <p:nvPr/>
        </p:nvSpPr>
        <p:spPr bwMode="auto">
          <a:xfrm>
            <a:off x="1753111" y="3368672"/>
            <a:ext cx="3586480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FFNN </a:t>
            </a:r>
            <a:r>
              <a:rPr lang="it-IT" sz="1100" dirty="0" err="1"/>
              <a:t>Classifier</a:t>
            </a:r>
            <a:endParaRPr lang="it-IT" sz="1100" dirty="0"/>
          </a:p>
        </p:txBody>
      </p:sp>
      <p:sp>
        <p:nvSpPr>
          <p:cNvPr id="163" name="Segnaposto contenuto 2">
            <a:extLst>
              <a:ext uri="{FF2B5EF4-FFF2-40B4-BE49-F238E27FC236}">
                <a16:creationId xmlns:a16="http://schemas.microsoft.com/office/drawing/2014/main" id="{0B381D6B-8881-E02E-F0FA-574C0FF297B2}"/>
              </a:ext>
            </a:extLst>
          </p:cNvPr>
          <p:cNvSpPr txBox="1">
            <a:spLocks/>
          </p:cNvSpPr>
          <p:nvPr/>
        </p:nvSpPr>
        <p:spPr bwMode="auto">
          <a:xfrm>
            <a:off x="681486" y="937580"/>
            <a:ext cx="1050793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Input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7BDEBD89-1DFC-7303-1001-5C1A3892BF48}"/>
              </a:ext>
            </a:extLst>
          </p:cNvPr>
          <p:cNvCxnSpPr>
            <a:stCxn id="133" idx="1"/>
            <a:endCxn id="147" idx="3"/>
          </p:cNvCxnSpPr>
          <p:nvPr/>
        </p:nvCxnSpPr>
        <p:spPr>
          <a:xfrm flipH="1" flipV="1">
            <a:off x="5019166" y="4106544"/>
            <a:ext cx="682072" cy="4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ttore 2 167">
            <a:extLst>
              <a:ext uri="{FF2B5EF4-FFF2-40B4-BE49-F238E27FC236}">
                <a16:creationId xmlns:a16="http://schemas.microsoft.com/office/drawing/2014/main" id="{C9A1CC9E-5D98-ECF6-D5D7-C38AAA563FB3}"/>
              </a:ext>
            </a:extLst>
          </p:cNvPr>
          <p:cNvCxnSpPr>
            <a:stCxn id="147" idx="2"/>
            <a:endCxn id="145" idx="0"/>
          </p:cNvCxnSpPr>
          <p:nvPr/>
        </p:nvCxnSpPr>
        <p:spPr>
          <a:xfrm flipH="1">
            <a:off x="4414815" y="4274104"/>
            <a:ext cx="1" cy="298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ttore a gomito 169">
            <a:extLst>
              <a:ext uri="{FF2B5EF4-FFF2-40B4-BE49-F238E27FC236}">
                <a16:creationId xmlns:a16="http://schemas.microsoft.com/office/drawing/2014/main" id="{7EFCCEDB-4889-80C5-BD4B-67C6D75B8780}"/>
              </a:ext>
            </a:extLst>
          </p:cNvPr>
          <p:cNvCxnSpPr>
            <a:stCxn id="145" idx="2"/>
            <a:endCxn id="149" idx="0"/>
          </p:cNvCxnSpPr>
          <p:nvPr/>
        </p:nvCxnSpPr>
        <p:spPr>
          <a:xfrm rot="5400000" flipH="1">
            <a:off x="3067043" y="3527536"/>
            <a:ext cx="925255" cy="1770289"/>
          </a:xfrm>
          <a:prstGeom prst="bentConnector5">
            <a:avLst>
              <a:gd name="adj1" fmla="val -24707"/>
              <a:gd name="adj2" fmla="val 40658"/>
              <a:gd name="adj3" fmla="val 1247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ttore 2 171">
            <a:extLst>
              <a:ext uri="{FF2B5EF4-FFF2-40B4-BE49-F238E27FC236}">
                <a16:creationId xmlns:a16="http://schemas.microsoft.com/office/drawing/2014/main" id="{C8F7E8F2-92DF-4AB3-12CB-14D4BB1F0BA7}"/>
              </a:ext>
            </a:extLst>
          </p:cNvPr>
          <p:cNvCxnSpPr>
            <a:stCxn id="149" idx="2"/>
            <a:endCxn id="151" idx="0"/>
          </p:cNvCxnSpPr>
          <p:nvPr/>
        </p:nvCxnSpPr>
        <p:spPr>
          <a:xfrm>
            <a:off x="2644526" y="4285172"/>
            <a:ext cx="0" cy="244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ttore a gomito 173">
            <a:extLst>
              <a:ext uri="{FF2B5EF4-FFF2-40B4-BE49-F238E27FC236}">
                <a16:creationId xmlns:a16="http://schemas.microsoft.com/office/drawing/2014/main" id="{E6C12145-0B8C-EFEE-6E0B-983E6C7630A4}"/>
              </a:ext>
            </a:extLst>
          </p:cNvPr>
          <p:cNvCxnSpPr>
            <a:cxnSpLocks/>
            <a:stCxn id="151" idx="2"/>
            <a:endCxn id="155" idx="2"/>
          </p:cNvCxnSpPr>
          <p:nvPr/>
        </p:nvCxnSpPr>
        <p:spPr>
          <a:xfrm rot="5400000">
            <a:off x="1757989" y="3977911"/>
            <a:ext cx="12700" cy="1773074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ttore 2 177">
            <a:extLst>
              <a:ext uri="{FF2B5EF4-FFF2-40B4-BE49-F238E27FC236}">
                <a16:creationId xmlns:a16="http://schemas.microsoft.com/office/drawing/2014/main" id="{8300AB25-E079-7D95-E805-AC54B7848C40}"/>
              </a:ext>
            </a:extLst>
          </p:cNvPr>
          <p:cNvCxnSpPr>
            <a:cxnSpLocks/>
            <a:stCxn id="155" idx="0"/>
            <a:endCxn id="157" idx="2"/>
          </p:cNvCxnSpPr>
          <p:nvPr/>
        </p:nvCxnSpPr>
        <p:spPr>
          <a:xfrm flipV="1">
            <a:off x="871452" y="4285172"/>
            <a:ext cx="2785" cy="244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ttore a gomito 179">
            <a:extLst>
              <a:ext uri="{FF2B5EF4-FFF2-40B4-BE49-F238E27FC236}">
                <a16:creationId xmlns:a16="http://schemas.microsoft.com/office/drawing/2014/main" id="{861347FE-2987-98BA-BA33-717B9065BF83}"/>
              </a:ext>
            </a:extLst>
          </p:cNvPr>
          <p:cNvCxnSpPr>
            <a:stCxn id="151" idx="1"/>
            <a:endCxn id="157" idx="3"/>
          </p:cNvCxnSpPr>
          <p:nvPr/>
        </p:nvCxnSpPr>
        <p:spPr>
          <a:xfrm rot="10800000">
            <a:off x="1258704" y="4117612"/>
            <a:ext cx="781473" cy="579276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Segnaposto contenuto 2">
            <a:extLst>
              <a:ext uri="{FF2B5EF4-FFF2-40B4-BE49-F238E27FC236}">
                <a16:creationId xmlns:a16="http://schemas.microsoft.com/office/drawing/2014/main" id="{89D1FDD0-88A1-482F-97E7-2479CB8D011E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951222" y="4022722"/>
            <a:ext cx="1079369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 err="1">
                <a:solidFill>
                  <a:srgbClr val="ACCCE9"/>
                </a:solidFill>
              </a:rPr>
              <a:t>Inference</a:t>
            </a:r>
            <a:r>
              <a:rPr lang="it-IT" sz="1000" dirty="0">
                <a:solidFill>
                  <a:srgbClr val="ACCCE9"/>
                </a:solidFill>
              </a:rPr>
              <a:t> </a:t>
            </a:r>
            <a:r>
              <a:rPr lang="it-IT" sz="1000" dirty="0" err="1">
                <a:solidFill>
                  <a:srgbClr val="ACCCE9"/>
                </a:solidFill>
              </a:rPr>
              <a:t>only</a:t>
            </a:r>
            <a:endParaRPr lang="it-IT" sz="1000" dirty="0">
              <a:solidFill>
                <a:srgbClr val="ACCCE9"/>
              </a:solidFill>
            </a:endParaRPr>
          </a:p>
        </p:txBody>
      </p:sp>
      <p:sp>
        <p:nvSpPr>
          <p:cNvPr id="198" name="Titolo 1">
            <a:extLst>
              <a:ext uri="{FF2B5EF4-FFF2-40B4-BE49-F238E27FC236}">
                <a16:creationId xmlns:a16="http://schemas.microsoft.com/office/drawing/2014/main" id="{8F64D6D9-F82C-C08C-7DD0-2EAF05E04E59}"/>
              </a:ext>
            </a:extLst>
          </p:cNvPr>
          <p:cNvSpPr txBox="1">
            <a:spLocks/>
          </p:cNvSpPr>
          <p:nvPr/>
        </p:nvSpPr>
        <p:spPr bwMode="auto">
          <a:xfrm>
            <a:off x="11449733" y="138154"/>
            <a:ext cx="428417" cy="644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it-IT" sz="3200" dirty="0"/>
              <a:t>5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15F029-80AB-FFC4-95C0-73485DF17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0968" y="4998914"/>
            <a:ext cx="5959913" cy="1405784"/>
          </a:xfrm>
        </p:spPr>
        <p:txBody>
          <a:bodyPr/>
          <a:lstStyle/>
          <a:p>
            <a:r>
              <a:rPr lang="it-IT" sz="1600" dirty="0" err="1"/>
              <a:t>Adaptive</a:t>
            </a:r>
            <a:r>
              <a:rPr lang="it-IT" sz="1600" dirty="0"/>
              <a:t> AvgPool2D </a:t>
            </a:r>
            <a:r>
              <a:rPr lang="it-IT" sz="1600" dirty="0" err="1"/>
              <a:t>computes</a:t>
            </a:r>
            <a:r>
              <a:rPr lang="it-IT" sz="1600" dirty="0"/>
              <a:t> the </a:t>
            </a:r>
            <a:r>
              <a:rPr lang="it-IT" sz="1600" dirty="0" err="1"/>
              <a:t>mean</a:t>
            </a:r>
            <a:r>
              <a:rPr lang="it-IT" sz="1600" dirty="0"/>
              <a:t> of </a:t>
            </a:r>
            <a:r>
              <a:rPr lang="it-IT" sz="1600" dirty="0" err="1"/>
              <a:t>each</a:t>
            </a:r>
            <a:r>
              <a:rPr lang="it-IT" sz="1600" dirty="0"/>
              <a:t> </a:t>
            </a:r>
            <a:r>
              <a:rPr lang="it-IT" sz="1600" dirty="0" err="1"/>
              <a:t>channel</a:t>
            </a:r>
            <a:endParaRPr lang="it-IT" sz="1600" dirty="0"/>
          </a:p>
          <a:p>
            <a:r>
              <a:rPr lang="it-IT" sz="1600" dirty="0" err="1"/>
              <a:t>Adaptive</a:t>
            </a:r>
            <a:r>
              <a:rPr lang="it-IT" sz="1600" dirty="0"/>
              <a:t> MaxPool2D takes the </a:t>
            </a:r>
            <a:r>
              <a:rPr lang="it-IT" sz="1600" dirty="0" err="1"/>
              <a:t>highest</a:t>
            </a:r>
            <a:r>
              <a:rPr lang="it-IT" sz="1600" dirty="0"/>
              <a:t> </a:t>
            </a:r>
            <a:r>
              <a:rPr lang="it-IT" sz="1600" dirty="0" err="1"/>
              <a:t>activation</a:t>
            </a:r>
            <a:r>
              <a:rPr lang="it-IT" sz="1600" dirty="0"/>
              <a:t> of </a:t>
            </a:r>
            <a:r>
              <a:rPr lang="it-IT" sz="1600" dirty="0" err="1"/>
              <a:t>each</a:t>
            </a:r>
            <a:r>
              <a:rPr lang="it-IT" sz="1600" dirty="0"/>
              <a:t> </a:t>
            </a:r>
            <a:r>
              <a:rPr lang="it-IT" sz="1600" dirty="0" err="1"/>
              <a:t>channel</a:t>
            </a:r>
            <a:endParaRPr lang="it-IT" sz="1600" dirty="0"/>
          </a:p>
          <a:p>
            <a:pPr marL="0" indent="0">
              <a:buNone/>
            </a:pPr>
            <a:r>
              <a:rPr lang="it-IT" sz="1600" dirty="0"/>
              <a:t>A feature can be </a:t>
            </a:r>
            <a:r>
              <a:rPr lang="it-IT" sz="1600" dirty="0" err="1"/>
              <a:t>useful</a:t>
            </a:r>
            <a:r>
              <a:rPr lang="it-IT" sz="1600" dirty="0"/>
              <a:t> </a:t>
            </a:r>
            <a:r>
              <a:rPr lang="it-IT" sz="1600" dirty="0" err="1"/>
              <a:t>if</a:t>
            </a:r>
            <a:r>
              <a:rPr lang="it-IT" sz="1600" dirty="0"/>
              <a:t> </a:t>
            </a:r>
            <a:r>
              <a:rPr lang="it-IT" sz="1600" dirty="0" err="1"/>
              <a:t>it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widespread</a:t>
            </a:r>
            <a:r>
              <a:rPr lang="it-IT" sz="1600" dirty="0"/>
              <a:t> over the feature </a:t>
            </a:r>
            <a:r>
              <a:rPr lang="it-IT" sz="1600" dirty="0" err="1"/>
              <a:t>map</a:t>
            </a:r>
            <a:r>
              <a:rPr lang="it-IT" sz="1600" dirty="0"/>
              <a:t> or </a:t>
            </a:r>
            <a:r>
              <a:rPr lang="it-IT" sz="1600" dirty="0" err="1"/>
              <a:t>because</a:t>
            </a:r>
            <a:r>
              <a:rPr lang="it-IT" sz="1600" dirty="0"/>
              <a:t> </a:t>
            </a:r>
            <a:r>
              <a:rPr lang="it-IT" sz="1600" dirty="0" err="1"/>
              <a:t>it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high in a </a:t>
            </a:r>
            <a:r>
              <a:rPr lang="it-IT" sz="1600" dirty="0" err="1"/>
              <a:t>specific</a:t>
            </a:r>
            <a:r>
              <a:rPr lang="it-IT" sz="1600" dirty="0"/>
              <a:t> point.</a:t>
            </a:r>
          </a:p>
        </p:txBody>
      </p:sp>
    </p:spTree>
    <p:extLst>
      <p:ext uri="{BB962C8B-B14F-4D97-AF65-F5344CB8AC3E}">
        <p14:creationId xmlns:p14="http://schemas.microsoft.com/office/powerpoint/2010/main" val="4172350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DE9A5-AA05-1B70-78A7-5B341B603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936B4F-973E-F049-4202-97BC95491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477"/>
            <a:ext cx="3298614" cy="644166"/>
          </a:xfrm>
        </p:spPr>
        <p:txBody>
          <a:bodyPr/>
          <a:lstStyle/>
          <a:p>
            <a:r>
              <a:rPr lang="it-IT" sz="3200" dirty="0"/>
              <a:t>CNN </a:t>
            </a:r>
            <a:r>
              <a:rPr lang="it-IT" sz="3200" dirty="0" err="1"/>
              <a:t>Spatial</a:t>
            </a:r>
            <a:r>
              <a:rPr lang="it-IT" sz="3200" dirty="0"/>
              <a:t> Head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2976ED3-66F9-9FA4-5908-7D1DA3D47BEA}"/>
              </a:ext>
            </a:extLst>
          </p:cNvPr>
          <p:cNvSpPr/>
          <p:nvPr/>
        </p:nvSpPr>
        <p:spPr>
          <a:xfrm>
            <a:off x="681487" y="1207698"/>
            <a:ext cx="1050793" cy="5652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Feature </a:t>
            </a:r>
            <a:r>
              <a:rPr lang="it-IT" sz="1100" dirty="0" err="1"/>
              <a:t>Map</a:t>
            </a:r>
            <a:r>
              <a:rPr lang="it-IT" sz="1100" dirty="0"/>
              <a:t> Normalizzata</a:t>
            </a:r>
          </a:p>
          <a:p>
            <a:pPr algn="ctr"/>
            <a:r>
              <a:rPr lang="it-IT" sz="1100" dirty="0"/>
              <a:t>(1280, 16, 16)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B34C421-4F2A-B42B-6BFC-E2444C6BE077}"/>
              </a:ext>
            </a:extLst>
          </p:cNvPr>
          <p:cNvSpPr/>
          <p:nvPr/>
        </p:nvSpPr>
        <p:spPr>
          <a:xfrm>
            <a:off x="2406067" y="1300300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1280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44323267-A17B-A916-AD5A-5A70D8A5F403}"/>
              </a:ext>
            </a:extLst>
          </p:cNvPr>
          <p:cNvSpPr/>
          <p:nvPr/>
        </p:nvSpPr>
        <p:spPr>
          <a:xfrm>
            <a:off x="2406067" y="1870326"/>
            <a:ext cx="944113" cy="30106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29BE4A94-91E4-AF8B-E3C2-35F75196B089}"/>
              </a:ext>
            </a:extLst>
          </p:cNvPr>
          <p:cNvSpPr/>
          <p:nvPr/>
        </p:nvSpPr>
        <p:spPr>
          <a:xfrm>
            <a:off x="2604186" y="2361397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2DE81540-175A-526A-92E7-C01FD58E5CE0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732280" y="1490309"/>
            <a:ext cx="6737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5608E18F-E3EE-3C28-6FEF-7C4D8C1B1BBF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2878124" y="1680317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9930F208-F56B-E2C4-BEC9-A96329BC09E6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flipH="1">
            <a:off x="2878123" y="2171388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ttangolo 41">
            <a:extLst>
              <a:ext uri="{FF2B5EF4-FFF2-40B4-BE49-F238E27FC236}">
                <a16:creationId xmlns:a16="http://schemas.microsoft.com/office/drawing/2014/main" id="{896902ED-1F78-5160-C4B2-3DB5D36D4AF7}"/>
              </a:ext>
            </a:extLst>
          </p:cNvPr>
          <p:cNvSpPr/>
          <p:nvPr/>
        </p:nvSpPr>
        <p:spPr>
          <a:xfrm>
            <a:off x="4232568" y="1300300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Conv3x3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988F5BFD-F6ED-F446-1381-9F1B183D1E37}"/>
              </a:ext>
            </a:extLst>
          </p:cNvPr>
          <p:cNvSpPr/>
          <p:nvPr/>
        </p:nvSpPr>
        <p:spPr>
          <a:xfrm>
            <a:off x="4232568" y="1870326"/>
            <a:ext cx="944113" cy="301062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DD582DC2-6C79-F46C-827D-3734D7611A36}"/>
              </a:ext>
            </a:extLst>
          </p:cNvPr>
          <p:cNvSpPr/>
          <p:nvPr/>
        </p:nvSpPr>
        <p:spPr>
          <a:xfrm>
            <a:off x="4430687" y="2361397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2BA63CD9-9AF5-E53F-30C7-CD1133533F49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4704625" y="1680317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7A79020A-C0EE-A987-6397-546F3615C38B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 flipH="1">
            <a:off x="4704624" y="2171388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ttangolo 48">
            <a:extLst>
              <a:ext uri="{FF2B5EF4-FFF2-40B4-BE49-F238E27FC236}">
                <a16:creationId xmlns:a16="http://schemas.microsoft.com/office/drawing/2014/main" id="{63AD4F0C-6917-96F9-379B-B53A10275C94}"/>
              </a:ext>
            </a:extLst>
          </p:cNvPr>
          <p:cNvSpPr/>
          <p:nvPr/>
        </p:nvSpPr>
        <p:spPr>
          <a:xfrm>
            <a:off x="5742095" y="1300300"/>
            <a:ext cx="944113" cy="380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r>
              <a:rPr lang="it-IT" sz="1100" dirty="0"/>
              <a:t> </a:t>
            </a: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776368B1-485B-549F-39FD-92451FC92256}"/>
              </a:ext>
            </a:extLst>
          </p:cNvPr>
          <p:cNvSpPr/>
          <p:nvPr/>
        </p:nvSpPr>
        <p:spPr>
          <a:xfrm>
            <a:off x="5742095" y="1870326"/>
            <a:ext cx="944113" cy="301062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GroupNorm</a:t>
            </a:r>
            <a:endParaRPr lang="it-IT" sz="1100" dirty="0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26D518C9-28A6-0590-2AC1-A827E5AD7D80}"/>
              </a:ext>
            </a:extLst>
          </p:cNvPr>
          <p:cNvSpPr/>
          <p:nvPr/>
        </p:nvSpPr>
        <p:spPr>
          <a:xfrm>
            <a:off x="5940214" y="2361397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D04346B9-99EF-F442-B5D9-A16B3E519C05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>
            <a:off x="6214152" y="1680317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AE463139-61CE-93C4-C72C-50A954F06516}"/>
              </a:ext>
            </a:extLst>
          </p:cNvPr>
          <p:cNvCxnSpPr>
            <a:stCxn id="50" idx="2"/>
            <a:endCxn id="51" idx="0"/>
          </p:cNvCxnSpPr>
          <p:nvPr/>
        </p:nvCxnSpPr>
        <p:spPr>
          <a:xfrm flipH="1">
            <a:off x="6214151" y="2171388"/>
            <a:ext cx="1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a gomito 54">
            <a:extLst>
              <a:ext uri="{FF2B5EF4-FFF2-40B4-BE49-F238E27FC236}">
                <a16:creationId xmlns:a16="http://schemas.microsoft.com/office/drawing/2014/main" id="{A75FBA99-AD7D-5D52-D41E-59BF4E407F6A}"/>
              </a:ext>
            </a:extLst>
          </p:cNvPr>
          <p:cNvCxnSpPr>
            <a:stCxn id="16" idx="2"/>
            <a:endCxn id="42" idx="0"/>
          </p:cNvCxnSpPr>
          <p:nvPr/>
        </p:nvCxnSpPr>
        <p:spPr>
          <a:xfrm rot="5400000" flipH="1" flipV="1">
            <a:off x="3110294" y="1068129"/>
            <a:ext cx="1362159" cy="1826502"/>
          </a:xfrm>
          <a:prstGeom prst="bentConnector5">
            <a:avLst>
              <a:gd name="adj1" fmla="val -16782"/>
              <a:gd name="adj2" fmla="val 44576"/>
              <a:gd name="adj3" fmla="val 1167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a gomito 56">
            <a:extLst>
              <a:ext uri="{FF2B5EF4-FFF2-40B4-BE49-F238E27FC236}">
                <a16:creationId xmlns:a16="http://schemas.microsoft.com/office/drawing/2014/main" id="{E55A9F17-3E3C-6D3E-5E93-29C94077E4DF}"/>
              </a:ext>
            </a:extLst>
          </p:cNvPr>
          <p:cNvCxnSpPr>
            <a:stCxn id="44" idx="2"/>
            <a:endCxn id="49" idx="0"/>
          </p:cNvCxnSpPr>
          <p:nvPr/>
        </p:nvCxnSpPr>
        <p:spPr>
          <a:xfrm rot="5400000" flipH="1" flipV="1">
            <a:off x="4778308" y="1226616"/>
            <a:ext cx="1362159" cy="1509528"/>
          </a:xfrm>
          <a:prstGeom prst="bentConnector5">
            <a:avLst>
              <a:gd name="adj1" fmla="val -16782"/>
              <a:gd name="adj2" fmla="val 43438"/>
              <a:gd name="adj3" fmla="val 1167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e 57">
            <a:extLst>
              <a:ext uri="{FF2B5EF4-FFF2-40B4-BE49-F238E27FC236}">
                <a16:creationId xmlns:a16="http://schemas.microsoft.com/office/drawing/2014/main" id="{1F90957D-8BA7-73AE-75E8-FD911AC5B33B}"/>
              </a:ext>
            </a:extLst>
          </p:cNvPr>
          <p:cNvSpPr/>
          <p:nvPr/>
        </p:nvSpPr>
        <p:spPr>
          <a:xfrm>
            <a:off x="7276253" y="1615440"/>
            <a:ext cx="292336" cy="2548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63" name="Connettore a gomito 62">
            <a:extLst>
              <a:ext uri="{FF2B5EF4-FFF2-40B4-BE49-F238E27FC236}">
                <a16:creationId xmlns:a16="http://schemas.microsoft.com/office/drawing/2014/main" id="{37CAA6A8-9B16-9FFF-FB1E-19F068BE88F2}"/>
              </a:ext>
            </a:extLst>
          </p:cNvPr>
          <p:cNvCxnSpPr>
            <a:stCxn id="51" idx="2"/>
            <a:endCxn id="58" idx="4"/>
          </p:cNvCxnSpPr>
          <p:nvPr/>
        </p:nvCxnSpPr>
        <p:spPr>
          <a:xfrm rot="5400000" flipH="1" flipV="1">
            <a:off x="6422219" y="1662258"/>
            <a:ext cx="792133" cy="1208270"/>
          </a:xfrm>
          <a:prstGeom prst="bentConnector3">
            <a:avLst>
              <a:gd name="adj1" fmla="val -288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ttangolo con angoli arrotondati 63">
            <a:extLst>
              <a:ext uri="{FF2B5EF4-FFF2-40B4-BE49-F238E27FC236}">
                <a16:creationId xmlns:a16="http://schemas.microsoft.com/office/drawing/2014/main" id="{470933C4-0170-227B-BC49-89850E99325A}"/>
              </a:ext>
            </a:extLst>
          </p:cNvPr>
          <p:cNvSpPr/>
          <p:nvPr/>
        </p:nvSpPr>
        <p:spPr>
          <a:xfrm>
            <a:off x="4136814" y="782320"/>
            <a:ext cx="3586480" cy="235204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DF295465-218F-8B1E-EB24-B5BCCC6660E4}"/>
              </a:ext>
            </a:extLst>
          </p:cNvPr>
          <p:cNvSpPr/>
          <p:nvPr/>
        </p:nvSpPr>
        <p:spPr>
          <a:xfrm>
            <a:off x="2231047" y="1207698"/>
            <a:ext cx="1265306" cy="156597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4" name="Connettore a gomito 73">
            <a:extLst>
              <a:ext uri="{FF2B5EF4-FFF2-40B4-BE49-F238E27FC236}">
                <a16:creationId xmlns:a16="http://schemas.microsoft.com/office/drawing/2014/main" id="{0ED4D599-5B08-E0A2-E1A1-6BD440DC04A3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4704623" y="906201"/>
            <a:ext cx="2717798" cy="709239"/>
          </a:xfrm>
          <a:prstGeom prst="bentConnector2">
            <a:avLst/>
          </a:prstGeom>
          <a:ln>
            <a:prstDash val="lgDashDot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Connettore diritto 77">
            <a:extLst>
              <a:ext uri="{FF2B5EF4-FFF2-40B4-BE49-F238E27FC236}">
                <a16:creationId xmlns:a16="http://schemas.microsoft.com/office/drawing/2014/main" id="{2B5F8B64-8D26-DBEA-43BE-431AFEAA1EF9}"/>
              </a:ext>
            </a:extLst>
          </p:cNvPr>
          <p:cNvCxnSpPr/>
          <p:nvPr/>
        </p:nvCxnSpPr>
        <p:spPr>
          <a:xfrm flipV="1">
            <a:off x="4704623" y="901700"/>
            <a:ext cx="0" cy="169863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Rettangolo 79">
            <a:extLst>
              <a:ext uri="{FF2B5EF4-FFF2-40B4-BE49-F238E27FC236}">
                <a16:creationId xmlns:a16="http://schemas.microsoft.com/office/drawing/2014/main" id="{FEC85D6A-BA8B-441E-3DA7-70DDFF2B9C94}"/>
              </a:ext>
            </a:extLst>
          </p:cNvPr>
          <p:cNvSpPr/>
          <p:nvPr/>
        </p:nvSpPr>
        <p:spPr>
          <a:xfrm>
            <a:off x="8030211" y="1592352"/>
            <a:ext cx="547873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24D1BE6A-E1B2-53C9-DFE6-246ADEA2110F}"/>
              </a:ext>
            </a:extLst>
          </p:cNvPr>
          <p:cNvCxnSpPr>
            <a:stCxn id="58" idx="6"/>
            <a:endCxn id="80" idx="1"/>
          </p:cNvCxnSpPr>
          <p:nvPr/>
        </p:nvCxnSpPr>
        <p:spPr>
          <a:xfrm>
            <a:off x="7568589" y="1742883"/>
            <a:ext cx="4616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Segnaposto contenuto 2">
            <a:extLst>
              <a:ext uri="{FF2B5EF4-FFF2-40B4-BE49-F238E27FC236}">
                <a16:creationId xmlns:a16="http://schemas.microsoft.com/office/drawing/2014/main" id="{091AFB20-FF68-574B-0602-7FC0947A328C}"/>
              </a:ext>
            </a:extLst>
          </p:cNvPr>
          <p:cNvSpPr txBox="1">
            <a:spLocks/>
          </p:cNvSpPr>
          <p:nvPr/>
        </p:nvSpPr>
        <p:spPr bwMode="auto">
          <a:xfrm>
            <a:off x="2226733" y="976564"/>
            <a:ext cx="1265306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 err="1"/>
              <a:t>Initial</a:t>
            </a:r>
            <a:r>
              <a:rPr lang="it-IT" sz="1100" dirty="0"/>
              <a:t> Block</a:t>
            </a:r>
          </a:p>
        </p:txBody>
      </p:sp>
      <p:sp>
        <p:nvSpPr>
          <p:cNvPr id="87" name="Segnaposto contenuto 2">
            <a:extLst>
              <a:ext uri="{FF2B5EF4-FFF2-40B4-BE49-F238E27FC236}">
                <a16:creationId xmlns:a16="http://schemas.microsoft.com/office/drawing/2014/main" id="{9B2642AB-4FF6-644E-FF2B-D3EB58252C63}"/>
              </a:ext>
            </a:extLst>
          </p:cNvPr>
          <p:cNvSpPr txBox="1">
            <a:spLocks/>
          </p:cNvSpPr>
          <p:nvPr/>
        </p:nvSpPr>
        <p:spPr bwMode="auto">
          <a:xfrm>
            <a:off x="4136814" y="510030"/>
            <a:ext cx="3586479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3 X </a:t>
            </a:r>
            <a:r>
              <a:rPr lang="it-IT" sz="1100" dirty="0" err="1"/>
              <a:t>Residual</a:t>
            </a:r>
            <a:r>
              <a:rPr lang="it-IT" sz="1100" dirty="0"/>
              <a:t> Block</a:t>
            </a:r>
          </a:p>
        </p:txBody>
      </p:sp>
      <p:sp>
        <p:nvSpPr>
          <p:cNvPr id="89" name="Segnaposto contenuto 2">
            <a:extLst>
              <a:ext uri="{FF2B5EF4-FFF2-40B4-BE49-F238E27FC236}">
                <a16:creationId xmlns:a16="http://schemas.microsoft.com/office/drawing/2014/main" id="{18D5726E-2419-A773-7309-DC50AA9BEDAA}"/>
              </a:ext>
            </a:extLst>
          </p:cNvPr>
          <p:cNvSpPr txBox="1">
            <a:spLocks/>
          </p:cNvSpPr>
          <p:nvPr/>
        </p:nvSpPr>
        <p:spPr bwMode="auto">
          <a:xfrm>
            <a:off x="6733076" y="993648"/>
            <a:ext cx="654087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 err="1"/>
              <a:t>Residual</a:t>
            </a:r>
            <a:endParaRPr lang="it-IT" sz="1000" dirty="0"/>
          </a:p>
        </p:txBody>
      </p:sp>
      <p:sp>
        <p:nvSpPr>
          <p:cNvPr id="92" name="Segnaposto contenuto 2">
            <a:extLst>
              <a:ext uri="{FF2B5EF4-FFF2-40B4-BE49-F238E27FC236}">
                <a16:creationId xmlns:a16="http://schemas.microsoft.com/office/drawing/2014/main" id="{40EF62F7-BE20-8F20-90A7-2561CF84F7F8}"/>
              </a:ext>
            </a:extLst>
          </p:cNvPr>
          <p:cNvSpPr txBox="1">
            <a:spLocks/>
          </p:cNvSpPr>
          <p:nvPr/>
        </p:nvSpPr>
        <p:spPr bwMode="auto">
          <a:xfrm>
            <a:off x="7819048" y="1324520"/>
            <a:ext cx="970198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/>
              <a:t>(128, 16, 16)</a:t>
            </a:r>
          </a:p>
        </p:txBody>
      </p:sp>
      <p:sp>
        <p:nvSpPr>
          <p:cNvPr id="93" name="Rettangolo 92">
            <a:extLst>
              <a:ext uri="{FF2B5EF4-FFF2-40B4-BE49-F238E27FC236}">
                <a16:creationId xmlns:a16="http://schemas.microsoft.com/office/drawing/2014/main" id="{946B1853-2E9A-DE3B-1A03-C5428C9E4EC5}"/>
              </a:ext>
            </a:extLst>
          </p:cNvPr>
          <p:cNvSpPr/>
          <p:nvPr/>
        </p:nvSpPr>
        <p:spPr>
          <a:xfrm>
            <a:off x="9396406" y="863115"/>
            <a:ext cx="1480870" cy="3800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AvgPool2D</a:t>
            </a:r>
          </a:p>
          <a:p>
            <a:pPr algn="ctr"/>
            <a:r>
              <a:rPr lang="it-IT" sz="1100" dirty="0"/>
              <a:t>(128, 1, 1)</a:t>
            </a:r>
          </a:p>
        </p:txBody>
      </p:sp>
      <p:sp>
        <p:nvSpPr>
          <p:cNvPr id="94" name="Rettangolo 93">
            <a:extLst>
              <a:ext uri="{FF2B5EF4-FFF2-40B4-BE49-F238E27FC236}">
                <a16:creationId xmlns:a16="http://schemas.microsoft.com/office/drawing/2014/main" id="{60002CE3-A098-6118-0B90-4158BACEE0A0}"/>
              </a:ext>
            </a:extLst>
          </p:cNvPr>
          <p:cNvSpPr/>
          <p:nvPr/>
        </p:nvSpPr>
        <p:spPr>
          <a:xfrm>
            <a:off x="9396406" y="1433141"/>
            <a:ext cx="1480870" cy="301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128 </a:t>
            </a:r>
            <a:r>
              <a:rPr lang="it-IT" sz="1100" dirty="0">
                <a:sym typeface="Wingdings" panose="05000000000000000000" pitchFamily="2" charset="2"/>
              </a:rPr>
              <a:t> 16</a:t>
            </a:r>
            <a:endParaRPr lang="it-IT" sz="1100" dirty="0"/>
          </a:p>
        </p:txBody>
      </p:sp>
      <p:sp>
        <p:nvSpPr>
          <p:cNvPr id="95" name="Rettangolo 94">
            <a:extLst>
              <a:ext uri="{FF2B5EF4-FFF2-40B4-BE49-F238E27FC236}">
                <a16:creationId xmlns:a16="http://schemas.microsoft.com/office/drawing/2014/main" id="{F074F03E-5260-7223-6840-215DF6206BA0}"/>
              </a:ext>
            </a:extLst>
          </p:cNvPr>
          <p:cNvSpPr/>
          <p:nvPr/>
        </p:nvSpPr>
        <p:spPr>
          <a:xfrm>
            <a:off x="9863241" y="1924212"/>
            <a:ext cx="547200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cxnSp>
        <p:nvCxnSpPr>
          <p:cNvPr id="96" name="Connettore 2 95">
            <a:extLst>
              <a:ext uri="{FF2B5EF4-FFF2-40B4-BE49-F238E27FC236}">
                <a16:creationId xmlns:a16="http://schemas.microsoft.com/office/drawing/2014/main" id="{1B83B0E8-9621-9A53-1BD4-4BC884CF41DF}"/>
              </a:ext>
            </a:extLst>
          </p:cNvPr>
          <p:cNvCxnSpPr>
            <a:cxnSpLocks/>
            <a:stCxn id="93" idx="2"/>
            <a:endCxn id="94" idx="0"/>
          </p:cNvCxnSpPr>
          <p:nvPr/>
        </p:nvCxnSpPr>
        <p:spPr>
          <a:xfrm>
            <a:off x="10136841" y="1243132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589C8310-719E-31BE-4588-BBD1D02470FC}"/>
              </a:ext>
            </a:extLst>
          </p:cNvPr>
          <p:cNvCxnSpPr>
            <a:cxnSpLocks/>
            <a:stCxn id="94" idx="2"/>
            <a:endCxn id="95" idx="0"/>
          </p:cNvCxnSpPr>
          <p:nvPr/>
        </p:nvCxnSpPr>
        <p:spPr>
          <a:xfrm>
            <a:off x="10136841" y="1734203"/>
            <a:ext cx="0" cy="19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CFEC9544-E9AC-F0CD-EB35-95CC0A086E45}"/>
              </a:ext>
            </a:extLst>
          </p:cNvPr>
          <p:cNvSpPr/>
          <p:nvPr/>
        </p:nvSpPr>
        <p:spPr>
          <a:xfrm>
            <a:off x="9217072" y="738762"/>
            <a:ext cx="1804835" cy="260262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9" name="Segnaposto contenuto 2">
            <a:extLst>
              <a:ext uri="{FF2B5EF4-FFF2-40B4-BE49-F238E27FC236}">
                <a16:creationId xmlns:a16="http://schemas.microsoft.com/office/drawing/2014/main" id="{E8653117-C406-64B1-ACCC-880CCF204829}"/>
              </a:ext>
            </a:extLst>
          </p:cNvPr>
          <p:cNvSpPr txBox="1">
            <a:spLocks/>
          </p:cNvSpPr>
          <p:nvPr/>
        </p:nvSpPr>
        <p:spPr bwMode="auto">
          <a:xfrm>
            <a:off x="9217072" y="453302"/>
            <a:ext cx="180483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Channel </a:t>
            </a:r>
            <a:r>
              <a:rPr lang="it-IT" sz="1100" dirty="0" err="1"/>
              <a:t>Attention</a:t>
            </a:r>
            <a:endParaRPr lang="it-IT" sz="1100" dirty="0"/>
          </a:p>
        </p:txBody>
      </p:sp>
      <p:sp>
        <p:nvSpPr>
          <p:cNvPr id="103" name="Rettangolo 102">
            <a:extLst>
              <a:ext uri="{FF2B5EF4-FFF2-40B4-BE49-F238E27FC236}">
                <a16:creationId xmlns:a16="http://schemas.microsoft.com/office/drawing/2014/main" id="{2DE01DBA-C347-E481-295C-25A1EC4B228A}"/>
              </a:ext>
            </a:extLst>
          </p:cNvPr>
          <p:cNvSpPr/>
          <p:nvPr/>
        </p:nvSpPr>
        <p:spPr>
          <a:xfrm>
            <a:off x="9395015" y="2415480"/>
            <a:ext cx="1480870" cy="301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Conv1x1</a:t>
            </a:r>
          </a:p>
          <a:p>
            <a:pPr algn="ctr"/>
            <a:r>
              <a:rPr lang="it-IT" sz="1100" dirty="0"/>
              <a:t>16 </a:t>
            </a:r>
            <a:r>
              <a:rPr lang="it-IT" sz="1100" dirty="0">
                <a:sym typeface="Wingdings" panose="05000000000000000000" pitchFamily="2" charset="2"/>
              </a:rPr>
              <a:t> 128</a:t>
            </a:r>
            <a:endParaRPr lang="it-IT" sz="1100" dirty="0"/>
          </a:p>
        </p:txBody>
      </p:sp>
      <p:sp>
        <p:nvSpPr>
          <p:cNvPr id="104" name="Rettangolo 103">
            <a:extLst>
              <a:ext uri="{FF2B5EF4-FFF2-40B4-BE49-F238E27FC236}">
                <a16:creationId xmlns:a16="http://schemas.microsoft.com/office/drawing/2014/main" id="{2CF68A4A-B3B2-714C-3978-95364B0F9435}"/>
              </a:ext>
            </a:extLst>
          </p:cNvPr>
          <p:cNvSpPr/>
          <p:nvPr/>
        </p:nvSpPr>
        <p:spPr>
          <a:xfrm>
            <a:off x="9705772" y="2925663"/>
            <a:ext cx="859355" cy="30106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Sigmoid</a:t>
            </a:r>
            <a:endParaRPr lang="it-IT" sz="1100" dirty="0"/>
          </a:p>
        </p:txBody>
      </p:sp>
      <p:cxnSp>
        <p:nvCxnSpPr>
          <p:cNvPr id="105" name="Connettore 2 104">
            <a:extLst>
              <a:ext uri="{FF2B5EF4-FFF2-40B4-BE49-F238E27FC236}">
                <a16:creationId xmlns:a16="http://schemas.microsoft.com/office/drawing/2014/main" id="{8377CBCB-B6F3-C288-82C2-5145DD886600}"/>
              </a:ext>
            </a:extLst>
          </p:cNvPr>
          <p:cNvCxnSpPr>
            <a:cxnSpLocks/>
            <a:stCxn id="103" idx="2"/>
            <a:endCxn id="104" idx="0"/>
          </p:cNvCxnSpPr>
          <p:nvPr/>
        </p:nvCxnSpPr>
        <p:spPr>
          <a:xfrm>
            <a:off x="10135450" y="2716542"/>
            <a:ext cx="0" cy="209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ttore 2 106">
            <a:extLst>
              <a:ext uri="{FF2B5EF4-FFF2-40B4-BE49-F238E27FC236}">
                <a16:creationId xmlns:a16="http://schemas.microsoft.com/office/drawing/2014/main" id="{7EBD8F94-97EB-D40C-B661-FBD615219636}"/>
              </a:ext>
            </a:extLst>
          </p:cNvPr>
          <p:cNvCxnSpPr>
            <a:stCxn id="95" idx="2"/>
            <a:endCxn id="103" idx="0"/>
          </p:cNvCxnSpPr>
          <p:nvPr/>
        </p:nvCxnSpPr>
        <p:spPr>
          <a:xfrm flipH="1">
            <a:off x="10135450" y="2225274"/>
            <a:ext cx="1391" cy="190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ttore a gomito 111">
            <a:extLst>
              <a:ext uri="{FF2B5EF4-FFF2-40B4-BE49-F238E27FC236}">
                <a16:creationId xmlns:a16="http://schemas.microsoft.com/office/drawing/2014/main" id="{7BC7FCFC-2DEB-9BB5-935B-4C86A994FDD6}"/>
              </a:ext>
            </a:extLst>
          </p:cNvPr>
          <p:cNvCxnSpPr>
            <a:stCxn id="80" idx="3"/>
            <a:endCxn id="93" idx="1"/>
          </p:cNvCxnSpPr>
          <p:nvPr/>
        </p:nvCxnSpPr>
        <p:spPr>
          <a:xfrm flipV="1">
            <a:off x="8578084" y="1053124"/>
            <a:ext cx="818322" cy="6897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03902A6F-6A64-E038-F30C-71819C5F78ED}"/>
              </a:ext>
            </a:extLst>
          </p:cNvPr>
          <p:cNvSpPr/>
          <p:nvPr/>
        </p:nvSpPr>
        <p:spPr>
          <a:xfrm>
            <a:off x="9233031" y="3882224"/>
            <a:ext cx="1804835" cy="391879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Modulation</a:t>
            </a:r>
            <a:endParaRPr lang="it-IT" sz="1100" dirty="0"/>
          </a:p>
          <a:p>
            <a:pPr algn="ctr"/>
            <a:r>
              <a:rPr lang="it-IT" sz="1100" dirty="0"/>
              <a:t>(</a:t>
            </a:r>
            <a:r>
              <a:rPr lang="it-IT" sz="1100" dirty="0" err="1"/>
              <a:t>Element</a:t>
            </a:r>
            <a:r>
              <a:rPr lang="it-IT" sz="1100" dirty="0"/>
              <a:t>-wise </a:t>
            </a:r>
            <a:r>
              <a:rPr lang="it-IT" sz="1100" dirty="0" err="1"/>
              <a:t>multiply</a:t>
            </a:r>
            <a:r>
              <a:rPr lang="it-IT" sz="1100" dirty="0"/>
              <a:t>)</a:t>
            </a:r>
          </a:p>
        </p:txBody>
      </p:sp>
      <p:sp>
        <p:nvSpPr>
          <p:cNvPr id="119" name="Segnaposto contenuto 2">
            <a:extLst>
              <a:ext uri="{FF2B5EF4-FFF2-40B4-BE49-F238E27FC236}">
                <a16:creationId xmlns:a16="http://schemas.microsoft.com/office/drawing/2014/main" id="{6E81ADD8-644A-1B92-A838-3A5B6EE88AE8}"/>
              </a:ext>
            </a:extLst>
          </p:cNvPr>
          <p:cNvSpPr txBox="1">
            <a:spLocks/>
          </p:cNvSpPr>
          <p:nvPr/>
        </p:nvSpPr>
        <p:spPr bwMode="auto">
          <a:xfrm>
            <a:off x="9678985" y="4292884"/>
            <a:ext cx="91292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/>
              <a:t>(128, 16, 16)</a:t>
            </a:r>
          </a:p>
        </p:txBody>
      </p:sp>
      <p:cxnSp>
        <p:nvCxnSpPr>
          <p:cNvPr id="121" name="Connettore 2 120">
            <a:extLst>
              <a:ext uri="{FF2B5EF4-FFF2-40B4-BE49-F238E27FC236}">
                <a16:creationId xmlns:a16="http://schemas.microsoft.com/office/drawing/2014/main" id="{FF163D7B-D131-3EFC-A0A5-6345400BAB62}"/>
              </a:ext>
            </a:extLst>
          </p:cNvPr>
          <p:cNvCxnSpPr>
            <a:cxnSpLocks/>
            <a:stCxn id="104" idx="2"/>
            <a:endCxn id="117" idx="0"/>
          </p:cNvCxnSpPr>
          <p:nvPr/>
        </p:nvCxnSpPr>
        <p:spPr>
          <a:xfrm flipH="1">
            <a:off x="10135449" y="3226725"/>
            <a:ext cx="1" cy="65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ttore a gomito 124">
            <a:extLst>
              <a:ext uri="{FF2B5EF4-FFF2-40B4-BE49-F238E27FC236}">
                <a16:creationId xmlns:a16="http://schemas.microsoft.com/office/drawing/2014/main" id="{9A224A50-1873-76FE-4DE9-B9E2C397FE6B}"/>
              </a:ext>
            </a:extLst>
          </p:cNvPr>
          <p:cNvCxnSpPr>
            <a:cxnSpLocks/>
            <a:stCxn id="93" idx="3"/>
            <a:endCxn id="117" idx="3"/>
          </p:cNvCxnSpPr>
          <p:nvPr/>
        </p:nvCxnSpPr>
        <p:spPr>
          <a:xfrm>
            <a:off x="10877276" y="1053124"/>
            <a:ext cx="160590" cy="3025040"/>
          </a:xfrm>
          <a:prstGeom prst="bentConnector3">
            <a:avLst>
              <a:gd name="adj1" fmla="val 2423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ttangolo 128">
            <a:extLst>
              <a:ext uri="{FF2B5EF4-FFF2-40B4-BE49-F238E27FC236}">
                <a16:creationId xmlns:a16="http://schemas.microsoft.com/office/drawing/2014/main" id="{1B2B3D20-2585-88F3-242D-96F1DD7374EE}"/>
              </a:ext>
            </a:extLst>
          </p:cNvPr>
          <p:cNvSpPr/>
          <p:nvPr/>
        </p:nvSpPr>
        <p:spPr>
          <a:xfrm>
            <a:off x="7060119" y="3554475"/>
            <a:ext cx="1208700" cy="335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</a:t>
            </a:r>
          </a:p>
          <a:p>
            <a:pPr algn="ctr"/>
            <a:r>
              <a:rPr lang="it-IT" sz="1100" dirty="0"/>
              <a:t>AvgPool2D</a:t>
            </a:r>
          </a:p>
        </p:txBody>
      </p:sp>
      <p:sp>
        <p:nvSpPr>
          <p:cNvPr id="131" name="Rettangolo 130">
            <a:extLst>
              <a:ext uri="{FF2B5EF4-FFF2-40B4-BE49-F238E27FC236}">
                <a16:creationId xmlns:a16="http://schemas.microsoft.com/office/drawing/2014/main" id="{0168B775-FD70-1475-F5CF-473497AFFAFF}"/>
              </a:ext>
            </a:extLst>
          </p:cNvPr>
          <p:cNvSpPr/>
          <p:nvPr/>
        </p:nvSpPr>
        <p:spPr>
          <a:xfrm>
            <a:off x="7060119" y="4278517"/>
            <a:ext cx="1208700" cy="335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Adaptive</a:t>
            </a:r>
            <a:r>
              <a:rPr lang="it-IT" sz="1100" dirty="0"/>
              <a:t> </a:t>
            </a:r>
          </a:p>
          <a:p>
            <a:pPr algn="ctr"/>
            <a:r>
              <a:rPr lang="it-IT" sz="1100" dirty="0"/>
              <a:t>MaxPool2D</a:t>
            </a:r>
          </a:p>
        </p:txBody>
      </p:sp>
      <p:sp>
        <p:nvSpPr>
          <p:cNvPr id="133" name="Rettangolo 132">
            <a:extLst>
              <a:ext uri="{FF2B5EF4-FFF2-40B4-BE49-F238E27FC236}">
                <a16:creationId xmlns:a16="http://schemas.microsoft.com/office/drawing/2014/main" id="{7839FB40-10C4-92C4-59A5-92D8A7D1D2D2}"/>
              </a:ext>
            </a:extLst>
          </p:cNvPr>
          <p:cNvSpPr/>
          <p:nvPr/>
        </p:nvSpPr>
        <p:spPr>
          <a:xfrm>
            <a:off x="5701238" y="3943397"/>
            <a:ext cx="912925" cy="3351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Concatenate</a:t>
            </a:r>
          </a:p>
          <a:p>
            <a:pPr algn="ctr"/>
            <a:r>
              <a:rPr lang="it-IT" sz="1100" dirty="0"/>
              <a:t>(256 </a:t>
            </a:r>
            <a:r>
              <a:rPr lang="it-IT" sz="1100" dirty="0" err="1"/>
              <a:t>values</a:t>
            </a:r>
            <a:r>
              <a:rPr lang="it-IT" sz="1100" dirty="0"/>
              <a:t>)</a:t>
            </a:r>
          </a:p>
        </p:txBody>
      </p:sp>
      <p:cxnSp>
        <p:nvCxnSpPr>
          <p:cNvPr id="137" name="Connettore a gomito 136">
            <a:extLst>
              <a:ext uri="{FF2B5EF4-FFF2-40B4-BE49-F238E27FC236}">
                <a16:creationId xmlns:a16="http://schemas.microsoft.com/office/drawing/2014/main" id="{3CE6E978-25D7-3DD0-5D2C-38ED33353524}"/>
              </a:ext>
            </a:extLst>
          </p:cNvPr>
          <p:cNvCxnSpPr>
            <a:cxnSpLocks/>
            <a:stCxn id="117" idx="1"/>
            <a:endCxn id="129" idx="3"/>
          </p:cNvCxnSpPr>
          <p:nvPr/>
        </p:nvCxnSpPr>
        <p:spPr>
          <a:xfrm rot="10800000">
            <a:off x="8268819" y="3722036"/>
            <a:ext cx="964212" cy="3561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ttore a gomito 138">
            <a:extLst>
              <a:ext uri="{FF2B5EF4-FFF2-40B4-BE49-F238E27FC236}">
                <a16:creationId xmlns:a16="http://schemas.microsoft.com/office/drawing/2014/main" id="{171EE3FD-DAC8-26D5-597B-26A67B35B602}"/>
              </a:ext>
            </a:extLst>
          </p:cNvPr>
          <p:cNvCxnSpPr>
            <a:cxnSpLocks/>
            <a:stCxn id="117" idx="1"/>
            <a:endCxn id="131" idx="3"/>
          </p:cNvCxnSpPr>
          <p:nvPr/>
        </p:nvCxnSpPr>
        <p:spPr>
          <a:xfrm rot="10800000" flipV="1">
            <a:off x="8268819" y="4078163"/>
            <a:ext cx="964212" cy="3679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ttore a gomito 140">
            <a:extLst>
              <a:ext uri="{FF2B5EF4-FFF2-40B4-BE49-F238E27FC236}">
                <a16:creationId xmlns:a16="http://schemas.microsoft.com/office/drawing/2014/main" id="{1DDFB86C-83B3-1653-F9D0-0BA081AE7B6A}"/>
              </a:ext>
            </a:extLst>
          </p:cNvPr>
          <p:cNvCxnSpPr>
            <a:stCxn id="129" idx="1"/>
            <a:endCxn id="133" idx="0"/>
          </p:cNvCxnSpPr>
          <p:nvPr/>
        </p:nvCxnSpPr>
        <p:spPr>
          <a:xfrm rot="10800000" flipV="1">
            <a:off x="6157701" y="3722035"/>
            <a:ext cx="902418" cy="2213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ttore a gomito 142">
            <a:extLst>
              <a:ext uri="{FF2B5EF4-FFF2-40B4-BE49-F238E27FC236}">
                <a16:creationId xmlns:a16="http://schemas.microsoft.com/office/drawing/2014/main" id="{6A531C98-562D-3AAE-3E85-DB4C4C3EB26E}"/>
              </a:ext>
            </a:extLst>
          </p:cNvPr>
          <p:cNvCxnSpPr>
            <a:stCxn id="131" idx="1"/>
            <a:endCxn id="133" idx="2"/>
          </p:cNvCxnSpPr>
          <p:nvPr/>
        </p:nvCxnSpPr>
        <p:spPr>
          <a:xfrm rot="10800000">
            <a:off x="6157701" y="4278517"/>
            <a:ext cx="902418" cy="1675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ttangolo 144">
            <a:extLst>
              <a:ext uri="{FF2B5EF4-FFF2-40B4-BE49-F238E27FC236}">
                <a16:creationId xmlns:a16="http://schemas.microsoft.com/office/drawing/2014/main" id="{467799BF-595A-F203-1E98-BAFA0D86CFF8}"/>
              </a:ext>
            </a:extLst>
          </p:cNvPr>
          <p:cNvSpPr/>
          <p:nvPr/>
        </p:nvSpPr>
        <p:spPr>
          <a:xfrm>
            <a:off x="4141215" y="4572907"/>
            <a:ext cx="547200" cy="302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GELU</a:t>
            </a:r>
          </a:p>
        </p:txBody>
      </p:sp>
      <p:sp>
        <p:nvSpPr>
          <p:cNvPr id="147" name="Rettangolo 146">
            <a:extLst>
              <a:ext uri="{FF2B5EF4-FFF2-40B4-BE49-F238E27FC236}">
                <a16:creationId xmlns:a16="http://schemas.microsoft.com/office/drawing/2014/main" id="{2B5524F9-0AC1-B0F4-4912-1C83BD849912}"/>
              </a:ext>
            </a:extLst>
          </p:cNvPr>
          <p:cNvSpPr/>
          <p:nvPr/>
        </p:nvSpPr>
        <p:spPr>
          <a:xfrm>
            <a:off x="3810466" y="3938984"/>
            <a:ext cx="1208700" cy="335120"/>
          </a:xfrm>
          <a:prstGeom prst="rect">
            <a:avLst/>
          </a:prstGeom>
          <a:solidFill>
            <a:srgbClr val="0070C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Linear </a:t>
            </a:r>
          </a:p>
          <a:p>
            <a:pPr algn="ctr"/>
            <a:r>
              <a:rPr lang="it-IT" sz="1100" dirty="0"/>
              <a:t>256 </a:t>
            </a:r>
            <a:r>
              <a:rPr lang="it-IT" sz="1100" dirty="0">
                <a:sym typeface="Wingdings" panose="05000000000000000000" pitchFamily="2" charset="2"/>
              </a:rPr>
              <a:t> 60</a:t>
            </a:r>
            <a:endParaRPr lang="it-IT" sz="1100" dirty="0"/>
          </a:p>
        </p:txBody>
      </p:sp>
      <p:sp>
        <p:nvSpPr>
          <p:cNvPr id="149" name="Rettangolo 148">
            <a:extLst>
              <a:ext uri="{FF2B5EF4-FFF2-40B4-BE49-F238E27FC236}">
                <a16:creationId xmlns:a16="http://schemas.microsoft.com/office/drawing/2014/main" id="{D2BBBE55-3C8D-612D-CBE5-8A3EEAC8E66A}"/>
              </a:ext>
            </a:extLst>
          </p:cNvPr>
          <p:cNvSpPr/>
          <p:nvPr/>
        </p:nvSpPr>
        <p:spPr>
          <a:xfrm>
            <a:off x="2040176" y="3950052"/>
            <a:ext cx="1208700" cy="33512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Dropout 0.30</a:t>
            </a:r>
          </a:p>
        </p:txBody>
      </p:sp>
      <p:sp>
        <p:nvSpPr>
          <p:cNvPr id="151" name="Rettangolo 150">
            <a:extLst>
              <a:ext uri="{FF2B5EF4-FFF2-40B4-BE49-F238E27FC236}">
                <a16:creationId xmlns:a16="http://schemas.microsoft.com/office/drawing/2014/main" id="{4ADDD91B-3C86-5DB2-17A6-08F5006F92F6}"/>
              </a:ext>
            </a:extLst>
          </p:cNvPr>
          <p:cNvSpPr/>
          <p:nvPr/>
        </p:nvSpPr>
        <p:spPr>
          <a:xfrm>
            <a:off x="2040176" y="4529328"/>
            <a:ext cx="1208700" cy="33512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Linear</a:t>
            </a:r>
          </a:p>
          <a:p>
            <a:pPr algn="ctr"/>
            <a:r>
              <a:rPr lang="it-IT" sz="1100" dirty="0"/>
              <a:t>64 </a:t>
            </a:r>
            <a:r>
              <a:rPr lang="it-IT" sz="1100" dirty="0">
                <a:sym typeface="Wingdings" panose="05000000000000000000" pitchFamily="2" charset="2"/>
              </a:rPr>
              <a:t> 1</a:t>
            </a:r>
            <a:endParaRPr lang="it-IT" sz="1100" dirty="0"/>
          </a:p>
        </p:txBody>
      </p:sp>
      <p:sp>
        <p:nvSpPr>
          <p:cNvPr id="155" name="Rettangolo 154">
            <a:extLst>
              <a:ext uri="{FF2B5EF4-FFF2-40B4-BE49-F238E27FC236}">
                <a16:creationId xmlns:a16="http://schemas.microsoft.com/office/drawing/2014/main" id="{55F6969E-02BD-2136-3481-2E2E7AAEDEFA}"/>
              </a:ext>
            </a:extLst>
          </p:cNvPr>
          <p:cNvSpPr/>
          <p:nvPr/>
        </p:nvSpPr>
        <p:spPr>
          <a:xfrm>
            <a:off x="484201" y="4529328"/>
            <a:ext cx="774502" cy="3351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Logit</a:t>
            </a:r>
            <a:r>
              <a:rPr lang="it-IT" sz="1100" dirty="0"/>
              <a:t> Loss</a:t>
            </a:r>
          </a:p>
        </p:txBody>
      </p:sp>
      <p:sp>
        <p:nvSpPr>
          <p:cNvPr id="157" name="Rettangolo 156">
            <a:extLst>
              <a:ext uri="{FF2B5EF4-FFF2-40B4-BE49-F238E27FC236}">
                <a16:creationId xmlns:a16="http://schemas.microsoft.com/office/drawing/2014/main" id="{CD442E7A-61BA-8A6F-E083-E566C329ADF7}"/>
              </a:ext>
            </a:extLst>
          </p:cNvPr>
          <p:cNvSpPr/>
          <p:nvPr/>
        </p:nvSpPr>
        <p:spPr>
          <a:xfrm>
            <a:off x="489770" y="3950052"/>
            <a:ext cx="768933" cy="3351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Sigmoid</a:t>
            </a:r>
            <a:endParaRPr lang="it-IT" sz="1100" dirty="0"/>
          </a:p>
        </p:txBody>
      </p:sp>
      <p:sp>
        <p:nvSpPr>
          <p:cNvPr id="159" name="Rettangolo con angoli arrotondati 158">
            <a:extLst>
              <a:ext uri="{FF2B5EF4-FFF2-40B4-BE49-F238E27FC236}">
                <a16:creationId xmlns:a16="http://schemas.microsoft.com/office/drawing/2014/main" id="{1B96D47C-2BB2-B6B7-9EB3-7BF364183EED}"/>
              </a:ext>
            </a:extLst>
          </p:cNvPr>
          <p:cNvSpPr/>
          <p:nvPr/>
        </p:nvSpPr>
        <p:spPr>
          <a:xfrm>
            <a:off x="1753111" y="3608472"/>
            <a:ext cx="3586480" cy="167067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1" name="Segnaposto contenuto 2">
            <a:extLst>
              <a:ext uri="{FF2B5EF4-FFF2-40B4-BE49-F238E27FC236}">
                <a16:creationId xmlns:a16="http://schemas.microsoft.com/office/drawing/2014/main" id="{0964AE03-D1D1-BF75-6CD5-8B2098A0CEE1}"/>
              </a:ext>
            </a:extLst>
          </p:cNvPr>
          <p:cNvSpPr txBox="1">
            <a:spLocks/>
          </p:cNvSpPr>
          <p:nvPr/>
        </p:nvSpPr>
        <p:spPr bwMode="auto">
          <a:xfrm>
            <a:off x="1753111" y="3368672"/>
            <a:ext cx="3586480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FFNN </a:t>
            </a:r>
            <a:r>
              <a:rPr lang="it-IT" sz="1100" dirty="0" err="1"/>
              <a:t>Classifier</a:t>
            </a:r>
            <a:endParaRPr lang="it-IT" sz="1100" dirty="0"/>
          </a:p>
        </p:txBody>
      </p:sp>
      <p:sp>
        <p:nvSpPr>
          <p:cNvPr id="163" name="Segnaposto contenuto 2">
            <a:extLst>
              <a:ext uri="{FF2B5EF4-FFF2-40B4-BE49-F238E27FC236}">
                <a16:creationId xmlns:a16="http://schemas.microsoft.com/office/drawing/2014/main" id="{8966BF34-7829-4915-1462-004830A9902A}"/>
              </a:ext>
            </a:extLst>
          </p:cNvPr>
          <p:cNvSpPr txBox="1">
            <a:spLocks/>
          </p:cNvSpPr>
          <p:nvPr/>
        </p:nvSpPr>
        <p:spPr bwMode="auto">
          <a:xfrm>
            <a:off x="681486" y="937580"/>
            <a:ext cx="1050793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100" dirty="0"/>
              <a:t>Input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D789384C-404E-DBE2-334D-99E5B51CEFBA}"/>
              </a:ext>
            </a:extLst>
          </p:cNvPr>
          <p:cNvCxnSpPr>
            <a:stCxn id="133" idx="1"/>
            <a:endCxn id="147" idx="3"/>
          </p:cNvCxnSpPr>
          <p:nvPr/>
        </p:nvCxnSpPr>
        <p:spPr>
          <a:xfrm flipH="1" flipV="1">
            <a:off x="5019166" y="4106544"/>
            <a:ext cx="682072" cy="4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ttore 2 167">
            <a:extLst>
              <a:ext uri="{FF2B5EF4-FFF2-40B4-BE49-F238E27FC236}">
                <a16:creationId xmlns:a16="http://schemas.microsoft.com/office/drawing/2014/main" id="{0E2F24E5-DA73-DAA7-083B-F2117FE96813}"/>
              </a:ext>
            </a:extLst>
          </p:cNvPr>
          <p:cNvCxnSpPr>
            <a:stCxn id="147" idx="2"/>
            <a:endCxn id="145" idx="0"/>
          </p:cNvCxnSpPr>
          <p:nvPr/>
        </p:nvCxnSpPr>
        <p:spPr>
          <a:xfrm flipH="1">
            <a:off x="4414815" y="4274104"/>
            <a:ext cx="1" cy="298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ttore a gomito 169">
            <a:extLst>
              <a:ext uri="{FF2B5EF4-FFF2-40B4-BE49-F238E27FC236}">
                <a16:creationId xmlns:a16="http://schemas.microsoft.com/office/drawing/2014/main" id="{69A30EC3-9D58-B59F-FC44-0713BC5E0866}"/>
              </a:ext>
            </a:extLst>
          </p:cNvPr>
          <p:cNvCxnSpPr>
            <a:stCxn id="145" idx="2"/>
            <a:endCxn id="149" idx="0"/>
          </p:cNvCxnSpPr>
          <p:nvPr/>
        </p:nvCxnSpPr>
        <p:spPr>
          <a:xfrm rot="5400000" flipH="1">
            <a:off x="3067043" y="3527536"/>
            <a:ext cx="925255" cy="1770289"/>
          </a:xfrm>
          <a:prstGeom prst="bentConnector5">
            <a:avLst>
              <a:gd name="adj1" fmla="val -24707"/>
              <a:gd name="adj2" fmla="val 40658"/>
              <a:gd name="adj3" fmla="val 1247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ttore 2 171">
            <a:extLst>
              <a:ext uri="{FF2B5EF4-FFF2-40B4-BE49-F238E27FC236}">
                <a16:creationId xmlns:a16="http://schemas.microsoft.com/office/drawing/2014/main" id="{CCCBD81A-7A5C-2AB9-5DC7-05193E594D99}"/>
              </a:ext>
            </a:extLst>
          </p:cNvPr>
          <p:cNvCxnSpPr>
            <a:stCxn id="149" idx="2"/>
            <a:endCxn id="151" idx="0"/>
          </p:cNvCxnSpPr>
          <p:nvPr/>
        </p:nvCxnSpPr>
        <p:spPr>
          <a:xfrm>
            <a:off x="2644526" y="4285172"/>
            <a:ext cx="0" cy="244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ttore a gomito 173">
            <a:extLst>
              <a:ext uri="{FF2B5EF4-FFF2-40B4-BE49-F238E27FC236}">
                <a16:creationId xmlns:a16="http://schemas.microsoft.com/office/drawing/2014/main" id="{2D0F21A4-69FC-53D7-0509-4D5BC565DC69}"/>
              </a:ext>
            </a:extLst>
          </p:cNvPr>
          <p:cNvCxnSpPr>
            <a:cxnSpLocks/>
            <a:stCxn id="151" idx="2"/>
            <a:endCxn id="155" idx="2"/>
          </p:cNvCxnSpPr>
          <p:nvPr/>
        </p:nvCxnSpPr>
        <p:spPr>
          <a:xfrm rot="5400000">
            <a:off x="1757989" y="3977911"/>
            <a:ext cx="12700" cy="1773074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ttore 2 177">
            <a:extLst>
              <a:ext uri="{FF2B5EF4-FFF2-40B4-BE49-F238E27FC236}">
                <a16:creationId xmlns:a16="http://schemas.microsoft.com/office/drawing/2014/main" id="{030FA649-C449-C9B5-9539-20E377C82213}"/>
              </a:ext>
            </a:extLst>
          </p:cNvPr>
          <p:cNvCxnSpPr>
            <a:cxnSpLocks/>
            <a:stCxn id="155" idx="0"/>
            <a:endCxn id="157" idx="2"/>
          </p:cNvCxnSpPr>
          <p:nvPr/>
        </p:nvCxnSpPr>
        <p:spPr>
          <a:xfrm flipV="1">
            <a:off x="871452" y="4285172"/>
            <a:ext cx="2785" cy="244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ttore a gomito 179">
            <a:extLst>
              <a:ext uri="{FF2B5EF4-FFF2-40B4-BE49-F238E27FC236}">
                <a16:creationId xmlns:a16="http://schemas.microsoft.com/office/drawing/2014/main" id="{EBB92DAD-93B3-D858-51CD-7D10D694FBCA}"/>
              </a:ext>
            </a:extLst>
          </p:cNvPr>
          <p:cNvCxnSpPr>
            <a:stCxn id="151" idx="1"/>
            <a:endCxn id="157" idx="3"/>
          </p:cNvCxnSpPr>
          <p:nvPr/>
        </p:nvCxnSpPr>
        <p:spPr>
          <a:xfrm rot="10800000">
            <a:off x="1258704" y="4117612"/>
            <a:ext cx="781473" cy="579276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Segnaposto contenuto 2">
            <a:extLst>
              <a:ext uri="{FF2B5EF4-FFF2-40B4-BE49-F238E27FC236}">
                <a16:creationId xmlns:a16="http://schemas.microsoft.com/office/drawing/2014/main" id="{6B310928-2C1D-0D6C-D57F-7BC4ED26FACA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951222" y="4022722"/>
            <a:ext cx="1079369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000" dirty="0" err="1">
                <a:solidFill>
                  <a:srgbClr val="ACCCE9"/>
                </a:solidFill>
              </a:rPr>
              <a:t>Inference</a:t>
            </a:r>
            <a:r>
              <a:rPr lang="it-IT" sz="1000" dirty="0">
                <a:solidFill>
                  <a:srgbClr val="ACCCE9"/>
                </a:solidFill>
              </a:rPr>
              <a:t> </a:t>
            </a:r>
            <a:r>
              <a:rPr lang="it-IT" sz="1000" dirty="0" err="1">
                <a:solidFill>
                  <a:srgbClr val="ACCCE9"/>
                </a:solidFill>
              </a:rPr>
              <a:t>only</a:t>
            </a:r>
            <a:endParaRPr lang="it-IT" sz="1000" dirty="0">
              <a:solidFill>
                <a:srgbClr val="ACCCE9"/>
              </a:solidFill>
            </a:endParaRPr>
          </a:p>
        </p:txBody>
      </p:sp>
      <p:sp>
        <p:nvSpPr>
          <p:cNvPr id="198" name="Titolo 1">
            <a:extLst>
              <a:ext uri="{FF2B5EF4-FFF2-40B4-BE49-F238E27FC236}">
                <a16:creationId xmlns:a16="http://schemas.microsoft.com/office/drawing/2014/main" id="{1D16864D-DCA0-117D-4805-4C7D67F4D3FE}"/>
              </a:ext>
            </a:extLst>
          </p:cNvPr>
          <p:cNvSpPr txBox="1">
            <a:spLocks/>
          </p:cNvSpPr>
          <p:nvPr/>
        </p:nvSpPr>
        <p:spPr bwMode="auto">
          <a:xfrm>
            <a:off x="11449733" y="138154"/>
            <a:ext cx="428417" cy="644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it-IT" sz="3200" dirty="0"/>
              <a:t>6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184C7B-B45D-5413-A6D3-925A6B2E9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0968" y="4998914"/>
            <a:ext cx="5959913" cy="1405784"/>
          </a:xfrm>
        </p:spPr>
        <p:txBody>
          <a:bodyPr/>
          <a:lstStyle/>
          <a:p>
            <a:pPr marL="0" indent="0">
              <a:buNone/>
            </a:pPr>
            <a:r>
              <a:rPr lang="it-IT" sz="1600" b="1" dirty="0" err="1"/>
              <a:t>Classification</a:t>
            </a:r>
            <a:r>
              <a:rPr lang="it-IT" sz="1600" b="1" dirty="0"/>
              <a:t> Head</a:t>
            </a:r>
          </a:p>
          <a:p>
            <a:r>
              <a:rPr lang="it-IT" sz="1600" dirty="0"/>
              <a:t>First Linear </a:t>
            </a:r>
            <a:r>
              <a:rPr lang="it-IT" sz="1600" dirty="0" err="1"/>
              <a:t>layer</a:t>
            </a:r>
            <a:r>
              <a:rPr lang="it-IT" sz="1600" dirty="0"/>
              <a:t> combines the global </a:t>
            </a:r>
            <a:r>
              <a:rPr lang="it-IT" sz="1600" dirty="0" err="1"/>
              <a:t>extracted</a:t>
            </a:r>
            <a:r>
              <a:rPr lang="it-IT" sz="1600" dirty="0"/>
              <a:t> features from the </a:t>
            </a:r>
            <a:r>
              <a:rPr lang="it-IT" sz="1600" dirty="0" err="1"/>
              <a:t>channels</a:t>
            </a:r>
            <a:r>
              <a:rPr lang="it-IT" sz="1600" dirty="0"/>
              <a:t>.</a:t>
            </a:r>
          </a:p>
          <a:p>
            <a:r>
              <a:rPr lang="it-IT" sz="1600" dirty="0"/>
              <a:t>The last Linear </a:t>
            </a:r>
            <a:r>
              <a:rPr lang="it-IT" sz="1600" dirty="0" err="1"/>
              <a:t>layer</a:t>
            </a:r>
            <a:r>
              <a:rPr lang="it-IT" sz="1600" dirty="0"/>
              <a:t> </a:t>
            </a:r>
            <a:r>
              <a:rPr lang="it-IT" sz="1600" dirty="0" err="1"/>
              <a:t>produces</a:t>
            </a:r>
            <a:r>
              <a:rPr lang="it-IT" sz="1600" dirty="0"/>
              <a:t> a single </a:t>
            </a:r>
            <a:r>
              <a:rPr lang="it-IT" sz="1600" b="1" dirty="0" err="1"/>
              <a:t>logit</a:t>
            </a:r>
            <a:r>
              <a:rPr lang="it-IT" sz="1600" dirty="0"/>
              <a:t> and </a:t>
            </a:r>
            <a:r>
              <a:rPr lang="it-IT" sz="1600" dirty="0" err="1"/>
              <a:t>since</a:t>
            </a:r>
            <a:r>
              <a:rPr lang="it-IT" sz="1600" dirty="0"/>
              <a:t> </a:t>
            </a:r>
            <a:r>
              <a:rPr lang="it-IT" sz="1600" dirty="0" err="1"/>
              <a:t>it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not</a:t>
            </a:r>
            <a:r>
              <a:rPr lang="it-IT" sz="1600" dirty="0"/>
              <a:t> </a:t>
            </a:r>
            <a:r>
              <a:rPr lang="it-IT" sz="1600" dirty="0" err="1"/>
              <a:t>yet</a:t>
            </a:r>
            <a:r>
              <a:rPr lang="it-IT" sz="1600" dirty="0"/>
              <a:t> a </a:t>
            </a:r>
            <a:r>
              <a:rPr lang="it-IT" sz="1600" dirty="0" err="1"/>
              <a:t>probability</a:t>
            </a:r>
            <a:r>
              <a:rPr lang="it-IT" sz="1600" dirty="0"/>
              <a:t>, </a:t>
            </a:r>
            <a:r>
              <a:rPr lang="it-IT" sz="1600" dirty="0" err="1"/>
              <a:t>we</a:t>
            </a:r>
            <a:r>
              <a:rPr lang="it-IT" sz="1600" dirty="0"/>
              <a:t> </a:t>
            </a:r>
            <a:r>
              <a:rPr lang="it-IT" sz="1600" dirty="0" err="1"/>
              <a:t>apply</a:t>
            </a:r>
            <a:r>
              <a:rPr lang="it-IT" sz="1600" dirty="0"/>
              <a:t> </a:t>
            </a:r>
            <a:r>
              <a:rPr lang="it-IT" sz="1600" b="1" dirty="0" err="1"/>
              <a:t>Sigmoid</a:t>
            </a:r>
            <a:endParaRPr lang="it-IT" sz="1600" b="1" dirty="0"/>
          </a:p>
        </p:txBody>
      </p:sp>
    </p:spTree>
    <p:extLst>
      <p:ext uri="{BB962C8B-B14F-4D97-AF65-F5344CB8AC3E}">
        <p14:creationId xmlns:p14="http://schemas.microsoft.com/office/powerpoint/2010/main" val="2473414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98A82-A575-9344-4AAD-CC8A6DFF9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AE21D0-3665-7F7E-43F3-D95038937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4166"/>
          </a:xfrm>
        </p:spPr>
        <p:txBody>
          <a:bodyPr/>
          <a:lstStyle/>
          <a:p>
            <a:r>
              <a:rPr lang="it-IT" sz="3200" dirty="0"/>
              <a:t>CNN </a:t>
            </a:r>
            <a:r>
              <a:rPr lang="it-IT" sz="3200" dirty="0" err="1"/>
              <a:t>Spatial</a:t>
            </a:r>
            <a:r>
              <a:rPr lang="it-IT" sz="3200" dirty="0"/>
              <a:t> Head - Training							7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A2A6CFC-D222-B321-3704-4C3E3AEA1603}"/>
              </a:ext>
            </a:extLst>
          </p:cNvPr>
          <p:cNvSpPr/>
          <p:nvPr/>
        </p:nvSpPr>
        <p:spPr>
          <a:xfrm>
            <a:off x="863600" y="1749514"/>
            <a:ext cx="1311215" cy="7360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Splitted</a:t>
            </a:r>
            <a:r>
              <a:rPr lang="it-IT" sz="1400" dirty="0"/>
              <a:t> Dataset</a:t>
            </a:r>
          </a:p>
          <a:p>
            <a:pPr algn="ctr"/>
            <a:r>
              <a:rPr lang="it-IT" sz="1400" dirty="0" err="1"/>
              <a:t>Stratified</a:t>
            </a:r>
            <a:r>
              <a:rPr lang="it-IT" sz="1400" dirty="0"/>
              <a:t> </a:t>
            </a:r>
            <a:r>
              <a:rPr lang="it-IT" sz="1400" dirty="0" err="1"/>
              <a:t>KFold</a:t>
            </a:r>
            <a:endParaRPr lang="it-IT" sz="1400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0760430-8920-42AC-180F-8F1F4E3273F4}"/>
              </a:ext>
            </a:extLst>
          </p:cNvPr>
          <p:cNvSpPr/>
          <p:nvPr/>
        </p:nvSpPr>
        <p:spPr>
          <a:xfrm>
            <a:off x="3007044" y="1749514"/>
            <a:ext cx="1514155" cy="73606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Per-Channel </a:t>
            </a:r>
            <a:r>
              <a:rPr lang="it-IT" sz="1400" dirty="0" err="1"/>
              <a:t>Normalization</a:t>
            </a:r>
            <a:endParaRPr lang="it-IT" sz="1400" dirty="0"/>
          </a:p>
          <a:p>
            <a:pPr algn="ctr"/>
            <a:r>
              <a:rPr lang="it-IT" sz="1400" dirty="0"/>
              <a:t>(</a:t>
            </a:r>
            <a:r>
              <a:rPr lang="it-IT" sz="1400" dirty="0" err="1"/>
              <a:t>only</a:t>
            </a:r>
            <a:r>
              <a:rPr lang="it-IT" sz="1400" dirty="0"/>
              <a:t> Train split)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DB0EAE3C-FE42-0EFA-8317-9BEA61A81172}"/>
              </a:ext>
            </a:extLst>
          </p:cNvPr>
          <p:cNvSpPr/>
          <p:nvPr/>
        </p:nvSpPr>
        <p:spPr>
          <a:xfrm>
            <a:off x="5160753" y="1883544"/>
            <a:ext cx="1400913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CNN Forward pass</a:t>
            </a:r>
          </a:p>
        </p:txBody>
      </p: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C99BE458-DBC6-0EA4-E2F9-C00C80FC17BE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2174815" y="2117544"/>
            <a:ext cx="832229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Segnaposto contenuto 2">
                <a:extLst>
                  <a:ext uri="{FF2B5EF4-FFF2-40B4-BE49-F238E27FC236}">
                    <a16:creationId xmlns:a16="http://schemas.microsoft.com/office/drawing/2014/main" id="{4CD57F6C-851F-858F-AC36-87699350057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44589" y="4532450"/>
                <a:ext cx="9994539" cy="9897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it-IT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𝐵𝐶𝐸𝑊𝑖𝑡ℎ𝐿𝑜𝑔𝑖𝑡</m:t>
                          </m:r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𝐿𝑜𝑠𝑠</m:t>
                          </m:r>
                        </m:e>
                        <m:sup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it-IT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8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it-IT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t-IT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it-IT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it-IT" sz="1800" i="1" baseline="-250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func>
                                <m:funcPr>
                                  <m:ctrlPr>
                                    <a:rPr lang="it-IT" sz="180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it-IT" sz="1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it-IT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it-IT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it-IT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it-IT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1+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it-IT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it-IT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it-IT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it-IT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it-IT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it-IT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800" i="1">
                                      <a:latin typeface="Cambria Math" panose="02040503050406030204" pitchFamily="18" charset="0"/>
                                    </a:rPr>
                                    <m:t>1 −</m:t>
                                  </m:r>
                                  <m:r>
                                    <a:rPr lang="it-IT" sz="1800" i="1">
                                      <a:latin typeface="Cambria Math" panose="02040503050406030204" pitchFamily="18" charset="0"/>
                                    </a:rPr>
                                    <m:t>𝑦𝑖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it-IT" sz="180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it-IT" sz="1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it-IT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8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f>
                                        <m:fPr>
                                          <m:ctrlPr>
                                            <a:rPr lang="it-IT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it-IT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it-IT" sz="1800" i="1">
                                              <a:latin typeface="Cambria Math" panose="02040503050406030204" pitchFamily="18" charset="0"/>
                                            </a:rPr>
                                            <m:t>1+ 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it-IT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it-IT" sz="18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it-IT" sz="18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it-IT" sz="1800" i="1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it-IT" sz="1800" dirty="0"/>
              </a:p>
              <a:p>
                <a:pPr marL="0" indent="0">
                  <a:buNone/>
                </a:pPr>
                <a:endParaRPr lang="it-IT" sz="1800" dirty="0"/>
              </a:p>
            </p:txBody>
          </p:sp>
        </mc:Choice>
        <mc:Fallback xmlns="">
          <p:sp>
            <p:nvSpPr>
              <p:cNvPr id="39" name="Segnaposto contenuto 2">
                <a:extLst>
                  <a:ext uri="{FF2B5EF4-FFF2-40B4-BE49-F238E27FC236}">
                    <a16:creationId xmlns:a16="http://schemas.microsoft.com/office/drawing/2014/main" id="{4CD57F6C-851F-858F-AC36-876993500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4589" y="4532450"/>
                <a:ext cx="9994539" cy="9897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Segnaposto contenuto 2">
            <a:extLst>
              <a:ext uri="{FF2B5EF4-FFF2-40B4-BE49-F238E27FC236}">
                <a16:creationId xmlns:a16="http://schemas.microsoft.com/office/drawing/2014/main" id="{870A7179-EA60-66AE-2CAA-195D4A2261E1}"/>
              </a:ext>
            </a:extLst>
          </p:cNvPr>
          <p:cNvSpPr txBox="1">
            <a:spLocks/>
          </p:cNvSpPr>
          <p:nvPr/>
        </p:nvSpPr>
        <p:spPr bwMode="auto">
          <a:xfrm>
            <a:off x="3007044" y="1471586"/>
            <a:ext cx="151415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 err="1"/>
              <a:t>Prepocessing</a:t>
            </a:r>
            <a:endParaRPr lang="it-IT" sz="1400" dirty="0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8C46EBAC-3E1C-CBAE-40FA-1F6001B5DF7C}"/>
              </a:ext>
            </a:extLst>
          </p:cNvPr>
          <p:cNvSpPr/>
          <p:nvPr/>
        </p:nvSpPr>
        <p:spPr>
          <a:xfrm>
            <a:off x="5457087" y="1193658"/>
            <a:ext cx="850580" cy="32208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Logit</a:t>
            </a:r>
            <a:endParaRPr lang="it-IT" sz="1400" dirty="0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55ECFA39-0ECF-B9D4-2946-C87A3F85428C}"/>
              </a:ext>
            </a:extLst>
          </p:cNvPr>
          <p:cNvSpPr/>
          <p:nvPr/>
        </p:nvSpPr>
        <p:spPr>
          <a:xfrm>
            <a:off x="7201220" y="1883544"/>
            <a:ext cx="1400913" cy="468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BCEWithLogit</a:t>
            </a:r>
            <a:r>
              <a:rPr lang="it-IT" sz="1400" dirty="0"/>
              <a:t> Loss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80140CCE-D213-326C-0EE9-0D7B23D575FA}"/>
              </a:ext>
            </a:extLst>
          </p:cNvPr>
          <p:cNvSpPr/>
          <p:nvPr/>
        </p:nvSpPr>
        <p:spPr>
          <a:xfrm>
            <a:off x="9367528" y="1883543"/>
            <a:ext cx="1400913" cy="1586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CNN </a:t>
            </a:r>
            <a:r>
              <a:rPr lang="it-IT" sz="1400" dirty="0" err="1"/>
              <a:t>Backward</a:t>
            </a:r>
            <a:r>
              <a:rPr lang="it-IT" sz="1400" dirty="0"/>
              <a:t> pass</a:t>
            </a:r>
          </a:p>
          <a:p>
            <a:pPr algn="ctr"/>
            <a:r>
              <a:rPr lang="it-IT" sz="1400" dirty="0"/>
              <a:t>+</a:t>
            </a:r>
          </a:p>
          <a:p>
            <a:pPr algn="ctr"/>
            <a:r>
              <a:rPr lang="it-IT" sz="1400" dirty="0"/>
              <a:t> </a:t>
            </a:r>
            <a:r>
              <a:rPr lang="it-IT" sz="1400" dirty="0" err="1"/>
              <a:t>Gradient</a:t>
            </a:r>
            <a:r>
              <a:rPr lang="it-IT" sz="1400" dirty="0"/>
              <a:t> clipping</a:t>
            </a:r>
          </a:p>
          <a:p>
            <a:pPr algn="ctr"/>
            <a:r>
              <a:rPr lang="it-IT" sz="1400" dirty="0"/>
              <a:t>+</a:t>
            </a:r>
          </a:p>
          <a:p>
            <a:pPr algn="ctr"/>
            <a:r>
              <a:rPr lang="it-IT" sz="1400" dirty="0" err="1"/>
              <a:t>AdamW</a:t>
            </a:r>
            <a:endParaRPr lang="it-IT" sz="1400" dirty="0"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490C0263-BF70-16CB-6391-BCC806B1A129}"/>
              </a:ext>
            </a:extLst>
          </p:cNvPr>
          <p:cNvSpPr/>
          <p:nvPr/>
        </p:nvSpPr>
        <p:spPr>
          <a:xfrm>
            <a:off x="7125020" y="3016251"/>
            <a:ext cx="1400913" cy="46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Valutation</a:t>
            </a:r>
            <a:r>
              <a:rPr lang="it-IT" sz="1400" dirty="0"/>
              <a:t> on </a:t>
            </a:r>
            <a:r>
              <a:rPr lang="it-IT" sz="1400" dirty="0" err="1"/>
              <a:t>Validation</a:t>
            </a:r>
            <a:r>
              <a:rPr lang="it-IT" sz="1400" dirty="0"/>
              <a:t> split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F8F0B42D-8134-2976-13CE-6BCE835757EF}"/>
              </a:ext>
            </a:extLst>
          </p:cNvPr>
          <p:cNvSpPr/>
          <p:nvPr/>
        </p:nvSpPr>
        <p:spPr>
          <a:xfrm>
            <a:off x="5157849" y="3005120"/>
            <a:ext cx="1400913" cy="7327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Early </a:t>
            </a:r>
            <a:r>
              <a:rPr lang="it-IT" sz="1400" dirty="0" err="1"/>
              <a:t>Stopping</a:t>
            </a:r>
            <a:endParaRPr lang="it-IT" sz="1400" dirty="0"/>
          </a:p>
          <a:p>
            <a:pPr algn="ctr"/>
            <a:r>
              <a:rPr lang="it-IT" sz="1400" dirty="0"/>
              <a:t>+ </a:t>
            </a:r>
          </a:p>
          <a:p>
            <a:pPr algn="ctr"/>
            <a:r>
              <a:rPr lang="it-IT" sz="1400" dirty="0"/>
              <a:t>Best checkpoint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BBA30332-501F-C212-D32E-62B5B24ED3B8}"/>
              </a:ext>
            </a:extLst>
          </p:cNvPr>
          <p:cNvSpPr/>
          <p:nvPr/>
        </p:nvSpPr>
        <p:spPr>
          <a:xfrm>
            <a:off x="3007044" y="3005065"/>
            <a:ext cx="1400913" cy="92899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Choosing</a:t>
            </a:r>
            <a:r>
              <a:rPr lang="it-IT" sz="1400" dirty="0"/>
              <a:t> </a:t>
            </a:r>
            <a:r>
              <a:rPr lang="it-IT" sz="1400" dirty="0" err="1"/>
              <a:t>threshold</a:t>
            </a:r>
            <a:r>
              <a:rPr lang="it-IT" sz="1400" dirty="0"/>
              <a:t> </a:t>
            </a:r>
            <a:r>
              <a:rPr lang="it-IT" sz="1400" dirty="0" err="1"/>
              <a:t>based</a:t>
            </a:r>
            <a:r>
              <a:rPr lang="it-IT" sz="1400" dirty="0"/>
              <a:t> on </a:t>
            </a:r>
            <a:r>
              <a:rPr lang="it-IT" sz="1400" dirty="0" err="1"/>
              <a:t>Validation</a:t>
            </a:r>
            <a:r>
              <a:rPr lang="it-IT" sz="1400" dirty="0"/>
              <a:t> split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B0EA8B08-931A-486D-8675-4CB4B3444393}"/>
              </a:ext>
            </a:extLst>
          </p:cNvPr>
          <p:cNvSpPr/>
          <p:nvPr/>
        </p:nvSpPr>
        <p:spPr>
          <a:xfrm>
            <a:off x="773902" y="3016251"/>
            <a:ext cx="1400913" cy="92899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Final</a:t>
            </a:r>
            <a:r>
              <a:rPr lang="it-IT" sz="1400" dirty="0"/>
              <a:t> Evaluation on test set</a:t>
            </a:r>
          </a:p>
        </p:txBody>
      </p: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EF74D3A8-F31F-784F-1BC8-7DAF0B6D365A}"/>
              </a:ext>
            </a:extLst>
          </p:cNvPr>
          <p:cNvCxnSpPr>
            <a:stCxn id="8" idx="3"/>
            <a:endCxn id="18" idx="1"/>
          </p:cNvCxnSpPr>
          <p:nvPr/>
        </p:nvCxnSpPr>
        <p:spPr>
          <a:xfrm>
            <a:off x="4521199" y="2117544"/>
            <a:ext cx="6395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5ACCF595-2C66-D803-5859-9D58DD8B3FAA}"/>
              </a:ext>
            </a:extLst>
          </p:cNvPr>
          <p:cNvCxnSpPr>
            <a:stCxn id="18" idx="3"/>
            <a:endCxn id="26" idx="1"/>
          </p:cNvCxnSpPr>
          <p:nvPr/>
        </p:nvCxnSpPr>
        <p:spPr>
          <a:xfrm>
            <a:off x="6561666" y="2117544"/>
            <a:ext cx="6395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CBCBB46E-800A-993F-6324-E541ED2D6891}"/>
              </a:ext>
            </a:extLst>
          </p:cNvPr>
          <p:cNvCxnSpPr>
            <a:stCxn id="26" idx="3"/>
          </p:cNvCxnSpPr>
          <p:nvPr/>
        </p:nvCxnSpPr>
        <p:spPr>
          <a:xfrm>
            <a:off x="8602133" y="2117544"/>
            <a:ext cx="7653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7AA13C44-899F-684C-83DF-D7CC3FB4B574}"/>
              </a:ext>
            </a:extLst>
          </p:cNvPr>
          <p:cNvCxnSpPr>
            <a:cxnSpLocks/>
          </p:cNvCxnSpPr>
          <p:nvPr/>
        </p:nvCxnSpPr>
        <p:spPr>
          <a:xfrm flipH="1">
            <a:off x="8525933" y="3250251"/>
            <a:ext cx="841595" cy="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2 57">
            <a:extLst>
              <a:ext uri="{FF2B5EF4-FFF2-40B4-BE49-F238E27FC236}">
                <a16:creationId xmlns:a16="http://schemas.microsoft.com/office/drawing/2014/main" id="{EC01D4A7-E89C-7262-D2D7-834CB4E351AA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6558762" y="3250251"/>
            <a:ext cx="5662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2 60">
            <a:extLst>
              <a:ext uri="{FF2B5EF4-FFF2-40B4-BE49-F238E27FC236}">
                <a16:creationId xmlns:a16="http://schemas.microsoft.com/office/drawing/2014/main" id="{F3869F8D-08F8-1135-F0B9-BF7798F36C69}"/>
              </a:ext>
            </a:extLst>
          </p:cNvPr>
          <p:cNvCxnSpPr>
            <a:cxnSpLocks/>
            <a:stCxn id="41" idx="1"/>
            <a:endCxn id="43" idx="3"/>
          </p:cNvCxnSpPr>
          <p:nvPr/>
        </p:nvCxnSpPr>
        <p:spPr>
          <a:xfrm flipH="1">
            <a:off x="4407957" y="3371477"/>
            <a:ext cx="749892" cy="98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ttore 2 63">
            <a:extLst>
              <a:ext uri="{FF2B5EF4-FFF2-40B4-BE49-F238E27FC236}">
                <a16:creationId xmlns:a16="http://schemas.microsoft.com/office/drawing/2014/main" id="{7A23A490-B7AA-8A7B-24EA-3F94648D0E38}"/>
              </a:ext>
            </a:extLst>
          </p:cNvPr>
          <p:cNvCxnSpPr>
            <a:stCxn id="43" idx="1"/>
          </p:cNvCxnSpPr>
          <p:nvPr/>
        </p:nvCxnSpPr>
        <p:spPr>
          <a:xfrm flipH="1">
            <a:off x="2174815" y="3469565"/>
            <a:ext cx="832229" cy="11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2 65">
            <a:extLst>
              <a:ext uri="{FF2B5EF4-FFF2-40B4-BE49-F238E27FC236}">
                <a16:creationId xmlns:a16="http://schemas.microsoft.com/office/drawing/2014/main" id="{A4FF5F43-4619-098B-5C20-0D2C77B0B1FA}"/>
              </a:ext>
            </a:extLst>
          </p:cNvPr>
          <p:cNvCxnSpPr>
            <a:stCxn id="41" idx="0"/>
            <a:endCxn id="18" idx="2"/>
          </p:cNvCxnSpPr>
          <p:nvPr/>
        </p:nvCxnSpPr>
        <p:spPr>
          <a:xfrm flipV="1">
            <a:off x="5858306" y="2351544"/>
            <a:ext cx="2904" cy="65357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Segnaposto contenuto 2">
            <a:extLst>
              <a:ext uri="{FF2B5EF4-FFF2-40B4-BE49-F238E27FC236}">
                <a16:creationId xmlns:a16="http://schemas.microsoft.com/office/drawing/2014/main" id="{031F4B16-A12C-7BC0-EB7C-206596152086}"/>
              </a:ext>
            </a:extLst>
          </p:cNvPr>
          <p:cNvSpPr txBox="1">
            <a:spLocks/>
          </p:cNvSpPr>
          <p:nvPr/>
        </p:nvSpPr>
        <p:spPr bwMode="auto">
          <a:xfrm>
            <a:off x="5858305" y="2561019"/>
            <a:ext cx="831002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 err="1"/>
              <a:t>epoch</a:t>
            </a:r>
            <a:r>
              <a:rPr lang="it-IT" sz="1400" dirty="0"/>
              <a:t>++</a:t>
            </a:r>
          </a:p>
        </p:txBody>
      </p:sp>
      <p:sp>
        <p:nvSpPr>
          <p:cNvPr id="70" name="Segnaposto contenuto 2">
            <a:extLst>
              <a:ext uri="{FF2B5EF4-FFF2-40B4-BE49-F238E27FC236}">
                <a16:creationId xmlns:a16="http://schemas.microsoft.com/office/drawing/2014/main" id="{FC0BF609-2BEF-F5D5-6ED8-EEE5A0E743BC}"/>
              </a:ext>
            </a:extLst>
          </p:cNvPr>
          <p:cNvSpPr txBox="1">
            <a:spLocks/>
          </p:cNvSpPr>
          <p:nvPr/>
        </p:nvSpPr>
        <p:spPr bwMode="auto">
          <a:xfrm>
            <a:off x="640511" y="5859066"/>
            <a:ext cx="10910978" cy="500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400" i="1" baseline="30000" dirty="0"/>
              <a:t>6</a:t>
            </a:r>
            <a:r>
              <a:rPr lang="it-IT" sz="1400" i="1" dirty="0"/>
              <a:t> BCEWithLogitLoss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the standard </a:t>
            </a:r>
            <a:r>
              <a:rPr lang="it-IT" sz="1400" dirty="0" err="1"/>
              <a:t>Binary</a:t>
            </a:r>
            <a:r>
              <a:rPr lang="it-IT" sz="1400" dirty="0"/>
              <a:t> Cross </a:t>
            </a:r>
            <a:r>
              <a:rPr lang="it-IT" sz="1400" dirty="0" err="1"/>
              <a:t>Entropy</a:t>
            </a:r>
            <a:r>
              <a:rPr lang="it-IT" sz="1400" dirty="0"/>
              <a:t> Loss </a:t>
            </a:r>
            <a:r>
              <a:rPr lang="it-IT" sz="1400" dirty="0" err="1"/>
              <a:t>applied</a:t>
            </a:r>
            <a:r>
              <a:rPr lang="it-IT" sz="1400" dirty="0"/>
              <a:t> </a:t>
            </a:r>
            <a:r>
              <a:rPr lang="it-IT" sz="1400" dirty="0" err="1"/>
              <a:t>directly</a:t>
            </a:r>
            <a:r>
              <a:rPr lang="it-IT" sz="1400" dirty="0"/>
              <a:t> to </a:t>
            </a:r>
            <a:r>
              <a:rPr lang="it-IT" sz="1400" b="1" dirty="0" err="1"/>
              <a:t>logits</a:t>
            </a:r>
            <a:r>
              <a:rPr lang="it-IT" sz="1400" dirty="0"/>
              <a:t>, the </a:t>
            </a:r>
            <a:r>
              <a:rPr lang="it-IT" sz="1400" dirty="0" err="1"/>
              <a:t>raw</a:t>
            </a:r>
            <a:r>
              <a:rPr lang="it-IT" sz="1400" dirty="0"/>
              <a:t> output scores of the model </a:t>
            </a:r>
            <a:r>
              <a:rPr lang="it-IT" sz="1400" dirty="0" err="1"/>
              <a:t>before</a:t>
            </a:r>
            <a:r>
              <a:rPr lang="it-IT" sz="1400" dirty="0"/>
              <a:t> the </a:t>
            </a:r>
            <a:r>
              <a:rPr lang="it-IT" sz="1400" i="1" dirty="0" err="1"/>
              <a:t>sigmoid</a:t>
            </a:r>
            <a:r>
              <a:rPr lang="it-IT" sz="1400" dirty="0"/>
              <a:t>. </a:t>
            </a:r>
            <a:r>
              <a:rPr lang="it-IT" sz="1400" dirty="0" err="1"/>
              <a:t>It</a:t>
            </a:r>
            <a:r>
              <a:rPr lang="it-IT" sz="1400" dirty="0"/>
              <a:t> </a:t>
            </a:r>
            <a:r>
              <a:rPr lang="it-IT" sz="1400" dirty="0" err="1"/>
              <a:t>has</a:t>
            </a:r>
            <a:r>
              <a:rPr lang="it-IT" sz="1400" dirty="0"/>
              <a:t> the </a:t>
            </a:r>
            <a:r>
              <a:rPr lang="it-IT" sz="1400" i="1" dirty="0" err="1"/>
              <a:t>sigmoid</a:t>
            </a:r>
            <a:r>
              <a:rPr lang="it-IT" sz="1400" dirty="0"/>
              <a:t> inside and </a:t>
            </a:r>
            <a:r>
              <a:rPr lang="it-IT" sz="1400" dirty="0" err="1"/>
              <a:t>not</a:t>
            </a:r>
            <a:r>
              <a:rPr lang="it-IT" sz="1400" dirty="0"/>
              <a:t> </a:t>
            </a:r>
            <a:r>
              <a:rPr lang="it-IT" sz="1400" dirty="0" err="1"/>
              <a:t>as</a:t>
            </a:r>
            <a:r>
              <a:rPr lang="it-IT" sz="1400" dirty="0"/>
              <a:t> an </a:t>
            </a:r>
            <a:r>
              <a:rPr lang="it-IT" sz="1400" dirty="0" err="1"/>
              <a:t>additional</a:t>
            </a:r>
            <a:r>
              <a:rPr lang="it-IT" sz="1400" dirty="0"/>
              <a:t> </a:t>
            </a:r>
            <a:r>
              <a:rPr lang="it-IT" sz="1400" dirty="0" err="1"/>
              <a:t>block</a:t>
            </a:r>
            <a:r>
              <a:rPr lang="it-IT" sz="1400" dirty="0"/>
              <a:t> in the model.  	 </a:t>
            </a:r>
          </a:p>
        </p:txBody>
      </p:sp>
    </p:spTree>
    <p:extLst>
      <p:ext uri="{BB962C8B-B14F-4D97-AF65-F5344CB8AC3E}">
        <p14:creationId xmlns:p14="http://schemas.microsoft.com/office/powerpoint/2010/main" val="3567289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01967-7991-F164-12E2-9CC8A8117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8148CC-ED6C-8858-CACD-8EB392053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4166"/>
          </a:xfrm>
        </p:spPr>
        <p:txBody>
          <a:bodyPr/>
          <a:lstStyle/>
          <a:p>
            <a:r>
              <a:rPr lang="it-IT" sz="3200" dirty="0"/>
              <a:t>CNN </a:t>
            </a:r>
            <a:r>
              <a:rPr lang="it-IT" sz="3200" dirty="0" err="1"/>
              <a:t>Spatial</a:t>
            </a:r>
            <a:r>
              <a:rPr lang="it-IT" sz="3200" dirty="0"/>
              <a:t> Head - </a:t>
            </a:r>
            <a:r>
              <a:rPr lang="it-IT" sz="3200" dirty="0" err="1"/>
              <a:t>Results</a:t>
            </a:r>
            <a:r>
              <a:rPr lang="it-IT" sz="3200" dirty="0"/>
              <a:t>							8</a:t>
            </a:r>
          </a:p>
        </p:txBody>
      </p:sp>
      <p:graphicFrame>
        <p:nvGraphicFramePr>
          <p:cNvPr id="48" name="Tabella 47">
            <a:extLst>
              <a:ext uri="{FF2B5EF4-FFF2-40B4-BE49-F238E27FC236}">
                <a16:creationId xmlns:a16="http://schemas.microsoft.com/office/drawing/2014/main" id="{C84DC45E-582B-0948-CBBA-639B4BDA8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528255"/>
              </p:ext>
            </p:extLst>
          </p:nvPr>
        </p:nvGraphicFramePr>
        <p:xfrm>
          <a:off x="640511" y="4464738"/>
          <a:ext cx="1091097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673">
                  <a:extLst>
                    <a:ext uri="{9D8B030D-6E8A-4147-A177-3AD203B41FA5}">
                      <a16:colId xmlns:a16="http://schemas.microsoft.com/office/drawing/2014/main" val="3005499671"/>
                    </a:ext>
                  </a:extLst>
                </a:gridCol>
                <a:gridCol w="1176686">
                  <a:extLst>
                    <a:ext uri="{9D8B030D-6E8A-4147-A177-3AD203B41FA5}">
                      <a16:colId xmlns:a16="http://schemas.microsoft.com/office/drawing/2014/main" val="4251709622"/>
                    </a:ext>
                  </a:extLst>
                </a:gridCol>
                <a:gridCol w="1268753">
                  <a:extLst>
                    <a:ext uri="{9D8B030D-6E8A-4147-A177-3AD203B41FA5}">
                      <a16:colId xmlns:a16="http://schemas.microsoft.com/office/drawing/2014/main" val="566477960"/>
                    </a:ext>
                  </a:extLst>
                </a:gridCol>
                <a:gridCol w="1032934">
                  <a:extLst>
                    <a:ext uri="{9D8B030D-6E8A-4147-A177-3AD203B41FA5}">
                      <a16:colId xmlns:a16="http://schemas.microsoft.com/office/drawing/2014/main" val="426997274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195058313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292583598"/>
                    </a:ext>
                  </a:extLst>
                </a:gridCol>
                <a:gridCol w="1024466">
                  <a:extLst>
                    <a:ext uri="{9D8B030D-6E8A-4147-A177-3AD203B41FA5}">
                      <a16:colId xmlns:a16="http://schemas.microsoft.com/office/drawing/2014/main" val="2609613875"/>
                    </a:ext>
                  </a:extLst>
                </a:gridCol>
                <a:gridCol w="774606">
                  <a:extLst>
                    <a:ext uri="{9D8B030D-6E8A-4147-A177-3AD203B41FA5}">
                      <a16:colId xmlns:a16="http://schemas.microsoft.com/office/drawing/2014/main" val="1483795687"/>
                    </a:ext>
                  </a:extLst>
                </a:gridCol>
                <a:gridCol w="1102830">
                  <a:extLst>
                    <a:ext uri="{9D8B030D-6E8A-4147-A177-3AD203B41FA5}">
                      <a16:colId xmlns:a16="http://schemas.microsoft.com/office/drawing/2014/main" val="3998743104"/>
                    </a:ext>
                  </a:extLst>
                </a:gridCol>
                <a:gridCol w="1102830">
                  <a:extLst>
                    <a:ext uri="{9D8B030D-6E8A-4147-A177-3AD203B41FA5}">
                      <a16:colId xmlns:a16="http://schemas.microsoft.com/office/drawing/2014/main" val="279493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N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Accuracy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Balanced</a:t>
                      </a:r>
                      <a:r>
                        <a:rPr lang="it-IT" sz="1600" dirty="0"/>
                        <a:t> </a:t>
                      </a:r>
                      <a:r>
                        <a:rPr lang="it-IT" sz="1600" dirty="0" err="1"/>
                        <a:t>accuracy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PR-AUC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21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2825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0.0027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97696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Validation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0.20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0.97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0.97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0.98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0.97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35175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0.13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0.98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0.97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98980760"/>
                  </a:ext>
                </a:extLst>
              </a:tr>
            </a:tbl>
          </a:graphicData>
        </a:graphic>
      </p:graphicFrame>
      <p:pic>
        <p:nvPicPr>
          <p:cNvPr id="7" name="Immagine 6">
            <a:extLst>
              <a:ext uri="{FF2B5EF4-FFF2-40B4-BE49-F238E27FC236}">
                <a16:creationId xmlns:a16="http://schemas.microsoft.com/office/drawing/2014/main" id="{D19DE6D0-92ED-EB4D-60E0-755FEE245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437598"/>
            <a:ext cx="4811799" cy="237240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7EF8CC14-A94C-D4A1-B986-0F982A559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004" y="1436534"/>
            <a:ext cx="4817004" cy="237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22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97C348E-B0ED-D599-A117-98C69CA79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sz="3600"/>
              <a:t>CNN Spatial Head – Confusion Matrices				9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E1B7D3A-5D09-AE79-A409-AAFDC1F75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584" y="2817879"/>
            <a:ext cx="3758184" cy="320385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D436FD1-4A60-BC97-1DE9-BAE886ABA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908" y="2817879"/>
            <a:ext cx="3758184" cy="320385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D4CF8EE-9B5C-99F0-433E-12CA8382B4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" y="2817879"/>
            <a:ext cx="3758184" cy="31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229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F385B7-4DCC-F333-2EB2-C10967DF3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2407"/>
          </a:xfrm>
        </p:spPr>
        <p:txBody>
          <a:bodyPr/>
          <a:lstStyle/>
          <a:p>
            <a:r>
              <a:rPr lang="it-IT" sz="3200" dirty="0" err="1"/>
              <a:t>ConvNeXt</a:t>
            </a:r>
            <a:r>
              <a:rPr lang="it-IT" sz="3200" dirty="0"/>
              <a:t> - Architecture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7481C744-9F82-E2BE-5CC8-8CDEBBE9330D}"/>
              </a:ext>
            </a:extLst>
          </p:cNvPr>
          <p:cNvSpPr/>
          <p:nvPr/>
        </p:nvSpPr>
        <p:spPr>
          <a:xfrm>
            <a:off x="1119698" y="1334350"/>
            <a:ext cx="1785668" cy="5175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Normalized</a:t>
            </a:r>
            <a:r>
              <a:rPr lang="it-IT" sz="1200" dirty="0"/>
              <a:t> Input</a:t>
            </a:r>
          </a:p>
          <a:p>
            <a:pPr algn="ctr"/>
            <a:r>
              <a:rPr lang="it-IT" sz="1200" dirty="0"/>
              <a:t>1280 x 16 x 16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1141E00-B40A-9108-A031-A5D4B4FD27DC}"/>
              </a:ext>
            </a:extLst>
          </p:cNvPr>
          <p:cNvSpPr/>
          <p:nvPr/>
        </p:nvSpPr>
        <p:spPr>
          <a:xfrm>
            <a:off x="3665213" y="1272527"/>
            <a:ext cx="1785669" cy="64123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/>
              <a:t>Conv1x1</a:t>
            </a:r>
          </a:p>
          <a:p>
            <a:pPr algn="ctr"/>
            <a:r>
              <a:rPr lang="it-IT" sz="1200" dirty="0"/>
              <a:t>1280 </a:t>
            </a:r>
            <a:r>
              <a:rPr lang="it-IT" sz="1200" dirty="0">
                <a:sym typeface="Wingdings" panose="05000000000000000000" pitchFamily="2" charset="2"/>
              </a:rPr>
              <a:t> 256</a:t>
            </a:r>
          </a:p>
          <a:p>
            <a:pPr algn="ctr"/>
            <a:r>
              <a:rPr lang="it-IT" sz="1200" dirty="0">
                <a:sym typeface="Wingdings" panose="05000000000000000000" pitchFamily="2" charset="2"/>
              </a:rPr>
              <a:t>LayerNorm2d</a:t>
            </a:r>
            <a:endParaRPr lang="it-IT" sz="1200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820E4B5-4AE7-3EF7-42FE-75CEAEDD320F}"/>
              </a:ext>
            </a:extLst>
          </p:cNvPr>
          <p:cNvSpPr/>
          <p:nvPr/>
        </p:nvSpPr>
        <p:spPr>
          <a:xfrm>
            <a:off x="6083729" y="1308470"/>
            <a:ext cx="1785669" cy="5693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3 X </a:t>
            </a:r>
            <a:r>
              <a:rPr lang="it-IT" sz="1200" b="1" dirty="0" err="1"/>
              <a:t>ConvNeXt</a:t>
            </a:r>
            <a:r>
              <a:rPr lang="it-IT" sz="1200" b="1" dirty="0"/>
              <a:t> </a:t>
            </a:r>
            <a:r>
              <a:rPr lang="it-IT" sz="1200" b="1" dirty="0" err="1"/>
              <a:t>blocks</a:t>
            </a:r>
            <a:endParaRPr lang="it-IT" sz="1200" b="1" dirty="0"/>
          </a:p>
          <a:p>
            <a:pPr algn="ctr"/>
            <a:r>
              <a:rPr lang="it-IT" sz="1200" dirty="0"/>
              <a:t>256 </a:t>
            </a:r>
            <a:r>
              <a:rPr lang="it-IT" sz="1200" dirty="0" err="1"/>
              <a:t>channels</a:t>
            </a:r>
            <a:r>
              <a:rPr lang="it-IT" sz="1200" dirty="0"/>
              <a:t>, 16x16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3AE6CDF8-7D1D-2619-0E01-61C7DE54AC32}"/>
              </a:ext>
            </a:extLst>
          </p:cNvPr>
          <p:cNvSpPr/>
          <p:nvPr/>
        </p:nvSpPr>
        <p:spPr>
          <a:xfrm>
            <a:off x="8502246" y="1275403"/>
            <a:ext cx="2501661" cy="63547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/>
              <a:t>LayerNorm2d + Conv2x2, stride2</a:t>
            </a:r>
          </a:p>
          <a:p>
            <a:pPr algn="ctr"/>
            <a:r>
              <a:rPr lang="it-IT" sz="1200" dirty="0"/>
              <a:t>256 </a:t>
            </a:r>
            <a:r>
              <a:rPr lang="it-IT" sz="1200" dirty="0">
                <a:sym typeface="Wingdings" panose="05000000000000000000" pitchFamily="2" charset="2"/>
              </a:rPr>
              <a:t> 384, 8x8</a:t>
            </a:r>
            <a:endParaRPr lang="it-IT" sz="1200" dirty="0"/>
          </a:p>
        </p:txBody>
      </p:sp>
      <p:sp>
        <p:nvSpPr>
          <p:cNvPr id="14" name="Segnaposto contenuto 2">
            <a:extLst>
              <a:ext uri="{FF2B5EF4-FFF2-40B4-BE49-F238E27FC236}">
                <a16:creationId xmlns:a16="http://schemas.microsoft.com/office/drawing/2014/main" id="{06CB41F9-FCA2-7B9A-63D9-BBFEBE8E9E81}"/>
              </a:ext>
            </a:extLst>
          </p:cNvPr>
          <p:cNvSpPr txBox="1">
            <a:spLocks/>
          </p:cNvSpPr>
          <p:nvPr/>
        </p:nvSpPr>
        <p:spPr bwMode="auto">
          <a:xfrm>
            <a:off x="3665213" y="1023962"/>
            <a:ext cx="180954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 err="1"/>
              <a:t>Prepocessing</a:t>
            </a:r>
            <a:endParaRPr lang="it-IT" sz="1400" dirty="0"/>
          </a:p>
        </p:txBody>
      </p:sp>
      <p:sp>
        <p:nvSpPr>
          <p:cNvPr id="16" name="Segnaposto contenuto 2">
            <a:extLst>
              <a:ext uri="{FF2B5EF4-FFF2-40B4-BE49-F238E27FC236}">
                <a16:creationId xmlns:a16="http://schemas.microsoft.com/office/drawing/2014/main" id="{FDD9127A-CEB2-B043-877E-18AF6BBA47C8}"/>
              </a:ext>
            </a:extLst>
          </p:cNvPr>
          <p:cNvSpPr txBox="1">
            <a:spLocks/>
          </p:cNvSpPr>
          <p:nvPr/>
        </p:nvSpPr>
        <p:spPr bwMode="auto">
          <a:xfrm>
            <a:off x="8529108" y="981805"/>
            <a:ext cx="2474799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 err="1"/>
              <a:t>Downsample</a:t>
            </a:r>
            <a:endParaRPr lang="it-IT" sz="1400" dirty="0"/>
          </a:p>
        </p:txBody>
      </p:sp>
      <p:sp>
        <p:nvSpPr>
          <p:cNvPr id="18" name="Segnaposto contenuto 2">
            <a:extLst>
              <a:ext uri="{FF2B5EF4-FFF2-40B4-BE49-F238E27FC236}">
                <a16:creationId xmlns:a16="http://schemas.microsoft.com/office/drawing/2014/main" id="{1A0C20C1-20E8-AFA4-4170-BE27D3225CD9}"/>
              </a:ext>
            </a:extLst>
          </p:cNvPr>
          <p:cNvSpPr txBox="1">
            <a:spLocks/>
          </p:cNvSpPr>
          <p:nvPr/>
        </p:nvSpPr>
        <p:spPr bwMode="auto">
          <a:xfrm>
            <a:off x="6088726" y="1023962"/>
            <a:ext cx="1785669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/>
              <a:t>Stage 1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2488AD7E-5E62-A177-899B-2659710AB557}"/>
              </a:ext>
            </a:extLst>
          </p:cNvPr>
          <p:cNvSpPr/>
          <p:nvPr/>
        </p:nvSpPr>
        <p:spPr>
          <a:xfrm>
            <a:off x="9320864" y="2514907"/>
            <a:ext cx="1785669" cy="526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3 X </a:t>
            </a:r>
            <a:r>
              <a:rPr lang="it-IT" sz="1200" b="1" dirty="0" err="1"/>
              <a:t>ConvNeXt</a:t>
            </a:r>
            <a:r>
              <a:rPr lang="it-IT" sz="1200" b="1" dirty="0"/>
              <a:t> </a:t>
            </a:r>
            <a:r>
              <a:rPr lang="it-IT" sz="1200" b="1" dirty="0" err="1"/>
              <a:t>blocks</a:t>
            </a:r>
            <a:endParaRPr lang="it-IT" sz="1200" b="1" dirty="0"/>
          </a:p>
          <a:p>
            <a:pPr algn="ctr"/>
            <a:r>
              <a:rPr lang="it-IT" sz="1200" dirty="0"/>
              <a:t>384 </a:t>
            </a:r>
            <a:r>
              <a:rPr lang="it-IT" sz="1200" dirty="0" err="1"/>
              <a:t>channels</a:t>
            </a:r>
            <a:r>
              <a:rPr lang="it-IT" sz="1200" dirty="0"/>
              <a:t>, 8x8</a:t>
            </a:r>
          </a:p>
        </p:txBody>
      </p:sp>
      <p:sp>
        <p:nvSpPr>
          <p:cNvPr id="22" name="Segnaposto contenuto 2">
            <a:extLst>
              <a:ext uri="{FF2B5EF4-FFF2-40B4-BE49-F238E27FC236}">
                <a16:creationId xmlns:a16="http://schemas.microsoft.com/office/drawing/2014/main" id="{8B0CF20C-C58F-56D1-1129-200805AE6A12}"/>
              </a:ext>
            </a:extLst>
          </p:cNvPr>
          <p:cNvSpPr txBox="1">
            <a:spLocks/>
          </p:cNvSpPr>
          <p:nvPr/>
        </p:nvSpPr>
        <p:spPr bwMode="auto">
          <a:xfrm>
            <a:off x="9320864" y="2204406"/>
            <a:ext cx="1785669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/>
              <a:t>Stage 2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960A6933-10A0-922E-7A70-BCF044AA4981}"/>
              </a:ext>
            </a:extLst>
          </p:cNvPr>
          <p:cNvSpPr/>
          <p:nvPr/>
        </p:nvSpPr>
        <p:spPr>
          <a:xfrm>
            <a:off x="6229336" y="2460274"/>
            <a:ext cx="2501661" cy="63547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/>
              <a:t>LayerNorm2d + Conv2x2, stride2</a:t>
            </a:r>
          </a:p>
          <a:p>
            <a:pPr algn="ctr"/>
            <a:r>
              <a:rPr lang="it-IT" sz="1200" dirty="0"/>
              <a:t>384 </a:t>
            </a:r>
            <a:r>
              <a:rPr lang="it-IT" sz="1200" dirty="0">
                <a:sym typeface="Wingdings" panose="05000000000000000000" pitchFamily="2" charset="2"/>
              </a:rPr>
              <a:t> 512, 4x4</a:t>
            </a:r>
            <a:endParaRPr lang="it-IT" sz="1200" dirty="0"/>
          </a:p>
        </p:txBody>
      </p:sp>
      <p:sp>
        <p:nvSpPr>
          <p:cNvPr id="26" name="Segnaposto contenuto 2">
            <a:extLst>
              <a:ext uri="{FF2B5EF4-FFF2-40B4-BE49-F238E27FC236}">
                <a16:creationId xmlns:a16="http://schemas.microsoft.com/office/drawing/2014/main" id="{6CA162F6-8A71-6398-9F1D-8C4AC54E57F8}"/>
              </a:ext>
            </a:extLst>
          </p:cNvPr>
          <p:cNvSpPr txBox="1">
            <a:spLocks/>
          </p:cNvSpPr>
          <p:nvPr/>
        </p:nvSpPr>
        <p:spPr bwMode="auto">
          <a:xfrm>
            <a:off x="6229336" y="2204406"/>
            <a:ext cx="2501661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 err="1"/>
              <a:t>Downsample</a:t>
            </a:r>
            <a:endParaRPr lang="it-IT" sz="1400" dirty="0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58ABC01B-1EF4-1C67-B25C-C8B3D5B8A551}"/>
              </a:ext>
            </a:extLst>
          </p:cNvPr>
          <p:cNvSpPr/>
          <p:nvPr/>
        </p:nvSpPr>
        <p:spPr>
          <a:xfrm>
            <a:off x="3853800" y="2514907"/>
            <a:ext cx="1785669" cy="526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/>
              <a:t>2 X </a:t>
            </a:r>
            <a:r>
              <a:rPr lang="it-IT" sz="1200" b="1" dirty="0" err="1"/>
              <a:t>ConvNeXt</a:t>
            </a:r>
            <a:r>
              <a:rPr lang="it-IT" sz="1200" b="1" dirty="0"/>
              <a:t> </a:t>
            </a:r>
            <a:r>
              <a:rPr lang="it-IT" sz="1200" b="1" dirty="0" err="1"/>
              <a:t>blocks</a:t>
            </a:r>
            <a:endParaRPr lang="it-IT" sz="1200" b="1" dirty="0"/>
          </a:p>
          <a:p>
            <a:pPr algn="ctr"/>
            <a:r>
              <a:rPr lang="it-IT" sz="1200" dirty="0"/>
              <a:t>512 </a:t>
            </a:r>
            <a:r>
              <a:rPr lang="it-IT" sz="1200" dirty="0" err="1"/>
              <a:t>channels</a:t>
            </a:r>
            <a:r>
              <a:rPr lang="it-IT" sz="1200" dirty="0"/>
              <a:t>, 4x4</a:t>
            </a:r>
          </a:p>
        </p:txBody>
      </p:sp>
      <p:sp>
        <p:nvSpPr>
          <p:cNvPr id="30" name="Segnaposto contenuto 2">
            <a:extLst>
              <a:ext uri="{FF2B5EF4-FFF2-40B4-BE49-F238E27FC236}">
                <a16:creationId xmlns:a16="http://schemas.microsoft.com/office/drawing/2014/main" id="{851DC8BC-D18A-4C69-61E1-AD579C9D8853}"/>
              </a:ext>
            </a:extLst>
          </p:cNvPr>
          <p:cNvSpPr txBox="1">
            <a:spLocks/>
          </p:cNvSpPr>
          <p:nvPr/>
        </p:nvSpPr>
        <p:spPr bwMode="auto">
          <a:xfrm>
            <a:off x="3853800" y="2265345"/>
            <a:ext cx="1785669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/>
              <a:t>Stage 3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146A165B-E280-320E-2969-6AEB2540F90A}"/>
              </a:ext>
            </a:extLst>
          </p:cNvPr>
          <p:cNvSpPr/>
          <p:nvPr/>
        </p:nvSpPr>
        <p:spPr>
          <a:xfrm>
            <a:off x="558952" y="3546611"/>
            <a:ext cx="3639904" cy="63547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/>
              <a:t>LayerNorm2d </a:t>
            </a:r>
            <a:r>
              <a:rPr lang="it-IT" sz="1200" dirty="0">
                <a:sym typeface="Wingdings" panose="05000000000000000000" pitchFamily="2" charset="2"/>
              </a:rPr>
              <a:t> </a:t>
            </a:r>
            <a:r>
              <a:rPr lang="it-IT" sz="1200" dirty="0" err="1">
                <a:sym typeface="Wingdings" panose="05000000000000000000" pitchFamily="2" charset="2"/>
              </a:rPr>
              <a:t>GlobalAveragePooling</a:t>
            </a:r>
            <a:endParaRPr lang="it-IT" sz="1200" dirty="0"/>
          </a:p>
          <a:p>
            <a:pPr algn="ctr"/>
            <a:r>
              <a:rPr lang="it-IT" sz="1200" dirty="0"/>
              <a:t>Dropout 0.30 </a:t>
            </a:r>
            <a:r>
              <a:rPr lang="it-IT" sz="1200" dirty="0">
                <a:sym typeface="Wingdings" panose="05000000000000000000" pitchFamily="2" charset="2"/>
              </a:rPr>
              <a:t> Linear 512  1 </a:t>
            </a:r>
            <a:r>
              <a:rPr lang="it-IT" sz="1200" dirty="0" err="1">
                <a:sym typeface="Wingdings" panose="05000000000000000000" pitchFamily="2" charset="2"/>
              </a:rPr>
              <a:t>logit</a:t>
            </a:r>
            <a:endParaRPr lang="it-IT" sz="1200" dirty="0"/>
          </a:p>
        </p:txBody>
      </p:sp>
      <p:sp>
        <p:nvSpPr>
          <p:cNvPr id="34" name="Segnaposto contenuto 2">
            <a:extLst>
              <a:ext uri="{FF2B5EF4-FFF2-40B4-BE49-F238E27FC236}">
                <a16:creationId xmlns:a16="http://schemas.microsoft.com/office/drawing/2014/main" id="{9BDD734B-2643-A8B1-CF06-67A696799F6A}"/>
              </a:ext>
            </a:extLst>
          </p:cNvPr>
          <p:cNvSpPr txBox="1">
            <a:spLocks/>
          </p:cNvSpPr>
          <p:nvPr/>
        </p:nvSpPr>
        <p:spPr bwMode="auto">
          <a:xfrm>
            <a:off x="558952" y="3256057"/>
            <a:ext cx="3639904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 err="1"/>
              <a:t>Classification</a:t>
            </a:r>
            <a:r>
              <a:rPr lang="it-IT" sz="1400" dirty="0"/>
              <a:t> Head</a:t>
            </a:r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0918B1E5-9E2C-9C69-9211-7411224E3328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2905366" y="1593142"/>
            <a:ext cx="75984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09B2B62D-F1BF-14E0-6ABF-83039436F33F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5450882" y="1593142"/>
            <a:ext cx="6328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AEC02BC7-1D83-D82F-772D-E217422923A9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7869398" y="1593142"/>
            <a:ext cx="63284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a gomito 41">
            <a:extLst>
              <a:ext uri="{FF2B5EF4-FFF2-40B4-BE49-F238E27FC236}">
                <a16:creationId xmlns:a16="http://schemas.microsoft.com/office/drawing/2014/main" id="{B2E324F6-D157-C362-A5C6-7F4B100630F8}"/>
              </a:ext>
            </a:extLst>
          </p:cNvPr>
          <p:cNvCxnSpPr>
            <a:stCxn id="12" idx="3"/>
            <a:endCxn id="20" idx="3"/>
          </p:cNvCxnSpPr>
          <p:nvPr/>
        </p:nvCxnSpPr>
        <p:spPr>
          <a:xfrm>
            <a:off x="11003907" y="1593143"/>
            <a:ext cx="102626" cy="1184870"/>
          </a:xfrm>
          <a:prstGeom prst="bentConnector3">
            <a:avLst>
              <a:gd name="adj1" fmla="val 3227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2A6AB3AB-BBE0-E769-C402-B3B8CA505DBC}"/>
              </a:ext>
            </a:extLst>
          </p:cNvPr>
          <p:cNvCxnSpPr>
            <a:stCxn id="20" idx="1"/>
            <a:endCxn id="24" idx="3"/>
          </p:cNvCxnSpPr>
          <p:nvPr/>
        </p:nvCxnSpPr>
        <p:spPr>
          <a:xfrm flipH="1">
            <a:off x="8730997" y="2778013"/>
            <a:ext cx="58986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9A4676B7-4211-EB82-D4BA-917C266349B9}"/>
              </a:ext>
            </a:extLst>
          </p:cNvPr>
          <p:cNvCxnSpPr>
            <a:stCxn id="24" idx="1"/>
            <a:endCxn id="28" idx="3"/>
          </p:cNvCxnSpPr>
          <p:nvPr/>
        </p:nvCxnSpPr>
        <p:spPr>
          <a:xfrm flipH="1" flipV="1">
            <a:off x="5639469" y="2778013"/>
            <a:ext cx="58986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a gomito 47">
            <a:extLst>
              <a:ext uri="{FF2B5EF4-FFF2-40B4-BE49-F238E27FC236}">
                <a16:creationId xmlns:a16="http://schemas.microsoft.com/office/drawing/2014/main" id="{23446206-233B-4B51-D40D-ED60537F414C}"/>
              </a:ext>
            </a:extLst>
          </p:cNvPr>
          <p:cNvCxnSpPr>
            <a:stCxn id="28" idx="1"/>
            <a:endCxn id="34" idx="0"/>
          </p:cNvCxnSpPr>
          <p:nvPr/>
        </p:nvCxnSpPr>
        <p:spPr>
          <a:xfrm rot="10800000" flipV="1">
            <a:off x="2378904" y="2778013"/>
            <a:ext cx="1474896" cy="4780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ttangolo 48">
            <a:extLst>
              <a:ext uri="{FF2B5EF4-FFF2-40B4-BE49-F238E27FC236}">
                <a16:creationId xmlns:a16="http://schemas.microsoft.com/office/drawing/2014/main" id="{D49470B6-3806-60AB-D4F8-B8C7C72F3C21}"/>
              </a:ext>
            </a:extLst>
          </p:cNvPr>
          <p:cNvSpPr/>
          <p:nvPr/>
        </p:nvSpPr>
        <p:spPr>
          <a:xfrm>
            <a:off x="1130665" y="5093013"/>
            <a:ext cx="1079886" cy="5175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DepthWise</a:t>
            </a:r>
            <a:br>
              <a:rPr lang="it-IT" sz="1200" dirty="0"/>
            </a:br>
            <a:r>
              <a:rPr lang="it-IT" sz="1200" dirty="0"/>
              <a:t>Conv7x7</a:t>
            </a: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EE932138-85BE-1447-C355-8AD2D0C608B1}"/>
              </a:ext>
            </a:extLst>
          </p:cNvPr>
          <p:cNvSpPr/>
          <p:nvPr/>
        </p:nvSpPr>
        <p:spPr>
          <a:xfrm>
            <a:off x="3012685" y="5031190"/>
            <a:ext cx="1079887" cy="64123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LayerNorm</a:t>
            </a:r>
            <a:endParaRPr lang="it-IT" sz="1200" dirty="0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45DF941E-86AA-555B-4944-5A5811C932E9}"/>
              </a:ext>
            </a:extLst>
          </p:cNvPr>
          <p:cNvSpPr/>
          <p:nvPr/>
        </p:nvSpPr>
        <p:spPr>
          <a:xfrm>
            <a:off x="4894706" y="5002166"/>
            <a:ext cx="1079887" cy="6992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/>
              <a:t>3 X MLP</a:t>
            </a:r>
          </a:p>
          <a:p>
            <a:pPr algn="ctr"/>
            <a:r>
              <a:rPr lang="it-IT" sz="1200" dirty="0"/>
              <a:t>+</a:t>
            </a:r>
            <a:br>
              <a:rPr lang="it-IT" sz="1200" dirty="0"/>
            </a:br>
            <a:r>
              <a:rPr lang="it-IT" sz="1200" dirty="0"/>
              <a:t>GELU</a:t>
            </a:r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C5F08C88-598E-954A-0949-126F0F36F84B}"/>
              </a:ext>
            </a:extLst>
          </p:cNvPr>
          <p:cNvSpPr/>
          <p:nvPr/>
        </p:nvSpPr>
        <p:spPr>
          <a:xfrm>
            <a:off x="6776727" y="5034066"/>
            <a:ext cx="1512884" cy="63547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/>
              <a:t>Layer Scaling</a:t>
            </a:r>
          </a:p>
        </p:txBody>
      </p: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348D8A4B-CFC7-F4E3-B94C-60EBFCCBF748}"/>
              </a:ext>
            </a:extLst>
          </p:cNvPr>
          <p:cNvCxnSpPr>
            <a:cxnSpLocks/>
          </p:cNvCxnSpPr>
          <p:nvPr/>
        </p:nvCxnSpPr>
        <p:spPr>
          <a:xfrm flipV="1">
            <a:off x="2210551" y="5351805"/>
            <a:ext cx="80213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0EE802CB-EB6B-348E-9B0F-8E42258D603A}"/>
              </a:ext>
            </a:extLst>
          </p:cNvPr>
          <p:cNvCxnSpPr>
            <a:cxnSpLocks/>
          </p:cNvCxnSpPr>
          <p:nvPr/>
        </p:nvCxnSpPr>
        <p:spPr>
          <a:xfrm>
            <a:off x="4092572" y="5351805"/>
            <a:ext cx="802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6D87E9C2-3C46-941D-F27C-A3445B8DBC71}"/>
              </a:ext>
            </a:extLst>
          </p:cNvPr>
          <p:cNvCxnSpPr>
            <a:cxnSpLocks/>
          </p:cNvCxnSpPr>
          <p:nvPr/>
        </p:nvCxnSpPr>
        <p:spPr>
          <a:xfrm>
            <a:off x="5974593" y="5343052"/>
            <a:ext cx="80213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ttangolo 65">
            <a:extLst>
              <a:ext uri="{FF2B5EF4-FFF2-40B4-BE49-F238E27FC236}">
                <a16:creationId xmlns:a16="http://schemas.microsoft.com/office/drawing/2014/main" id="{F85B45C1-1327-C8A1-4AF5-D22D84974834}"/>
              </a:ext>
            </a:extLst>
          </p:cNvPr>
          <p:cNvSpPr/>
          <p:nvPr/>
        </p:nvSpPr>
        <p:spPr>
          <a:xfrm>
            <a:off x="9091746" y="5034066"/>
            <a:ext cx="1512884" cy="63547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Stochastic</a:t>
            </a:r>
            <a:r>
              <a:rPr lang="it-IT" sz="1200" dirty="0"/>
              <a:t> Depth</a:t>
            </a:r>
          </a:p>
        </p:txBody>
      </p:sp>
      <p:sp>
        <p:nvSpPr>
          <p:cNvPr id="68" name="Segnaposto contenuto 2">
            <a:extLst>
              <a:ext uri="{FF2B5EF4-FFF2-40B4-BE49-F238E27FC236}">
                <a16:creationId xmlns:a16="http://schemas.microsoft.com/office/drawing/2014/main" id="{01B3493D-A8C8-D903-B7FB-5B4AB42496CB}"/>
              </a:ext>
            </a:extLst>
          </p:cNvPr>
          <p:cNvSpPr txBox="1">
            <a:spLocks/>
          </p:cNvSpPr>
          <p:nvPr/>
        </p:nvSpPr>
        <p:spPr bwMode="auto">
          <a:xfrm>
            <a:off x="952995" y="6138302"/>
            <a:ext cx="993340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/>
              <a:t>About 8.66 M </a:t>
            </a:r>
            <a:r>
              <a:rPr lang="it-IT" sz="1400" dirty="0" err="1"/>
              <a:t>learnable</a:t>
            </a:r>
            <a:r>
              <a:rPr lang="it-IT" sz="1400" dirty="0"/>
              <a:t> </a:t>
            </a:r>
            <a:r>
              <a:rPr lang="it-IT" sz="1400" dirty="0" err="1"/>
              <a:t>parameters</a:t>
            </a:r>
            <a:r>
              <a:rPr lang="it-IT" sz="1400" dirty="0"/>
              <a:t> in </a:t>
            </a:r>
            <a:r>
              <a:rPr lang="it-IT" sz="1400" dirty="0" err="1"/>
              <a:t>total</a:t>
            </a:r>
            <a:endParaRPr lang="it-IT" sz="1400" dirty="0"/>
          </a:p>
        </p:txBody>
      </p: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EEDB43F9-7FD3-807E-9DE6-31BAC04AB090}"/>
              </a:ext>
            </a:extLst>
          </p:cNvPr>
          <p:cNvCxnSpPr>
            <a:cxnSpLocks/>
          </p:cNvCxnSpPr>
          <p:nvPr/>
        </p:nvCxnSpPr>
        <p:spPr>
          <a:xfrm>
            <a:off x="8289611" y="5350695"/>
            <a:ext cx="8021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747882C8-40DE-0A63-483D-E94957FF906E}"/>
              </a:ext>
            </a:extLst>
          </p:cNvPr>
          <p:cNvSpPr/>
          <p:nvPr/>
        </p:nvSpPr>
        <p:spPr>
          <a:xfrm>
            <a:off x="952995" y="4893699"/>
            <a:ext cx="9933405" cy="93205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3" name="Segnaposto contenuto 2">
            <a:extLst>
              <a:ext uri="{FF2B5EF4-FFF2-40B4-BE49-F238E27FC236}">
                <a16:creationId xmlns:a16="http://schemas.microsoft.com/office/drawing/2014/main" id="{F4A2180B-38E8-A9C2-83F5-7CC3E06F8F9D}"/>
              </a:ext>
            </a:extLst>
          </p:cNvPr>
          <p:cNvSpPr txBox="1">
            <a:spLocks/>
          </p:cNvSpPr>
          <p:nvPr/>
        </p:nvSpPr>
        <p:spPr bwMode="auto">
          <a:xfrm>
            <a:off x="952995" y="4575960"/>
            <a:ext cx="993340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b="1" dirty="0" err="1"/>
              <a:t>ConvNeXt</a:t>
            </a:r>
            <a:r>
              <a:rPr lang="it-IT" sz="1400" b="1" dirty="0"/>
              <a:t> Block</a:t>
            </a:r>
          </a:p>
        </p:txBody>
      </p:sp>
    </p:spTree>
    <p:extLst>
      <p:ext uri="{BB962C8B-B14F-4D97-AF65-F5344CB8AC3E}">
        <p14:creationId xmlns:p14="http://schemas.microsoft.com/office/powerpoint/2010/main" val="2377495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42260-4624-C3BE-FECD-90AB95BF1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6CA65A-6682-F619-4305-CA4639004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2407"/>
          </a:xfrm>
        </p:spPr>
        <p:txBody>
          <a:bodyPr/>
          <a:lstStyle/>
          <a:p>
            <a:r>
              <a:rPr lang="it-IT" sz="3200" dirty="0" err="1"/>
              <a:t>ConvNeXt</a:t>
            </a:r>
            <a:r>
              <a:rPr lang="it-IT" sz="3200" dirty="0"/>
              <a:t> – Training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DAB8B98-AC3C-2854-0AEF-FB7C774BCF2C}"/>
              </a:ext>
            </a:extLst>
          </p:cNvPr>
          <p:cNvSpPr/>
          <p:nvPr/>
        </p:nvSpPr>
        <p:spPr>
          <a:xfrm>
            <a:off x="838200" y="1336416"/>
            <a:ext cx="1311215" cy="7360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Splitted</a:t>
            </a:r>
            <a:r>
              <a:rPr lang="it-IT" sz="1400" dirty="0"/>
              <a:t> Dataset</a:t>
            </a:r>
          </a:p>
          <a:p>
            <a:pPr algn="ctr"/>
            <a:r>
              <a:rPr lang="it-IT" sz="1400" dirty="0" err="1"/>
              <a:t>Stratified</a:t>
            </a:r>
            <a:r>
              <a:rPr lang="it-IT" sz="1400" dirty="0"/>
              <a:t> </a:t>
            </a:r>
            <a:r>
              <a:rPr lang="it-IT" sz="1400" dirty="0" err="1"/>
              <a:t>KFold</a:t>
            </a:r>
            <a:endParaRPr lang="it-IT" sz="1400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9086E98-3BD6-2FEA-91C0-F114FCF683C2}"/>
              </a:ext>
            </a:extLst>
          </p:cNvPr>
          <p:cNvSpPr/>
          <p:nvPr/>
        </p:nvSpPr>
        <p:spPr>
          <a:xfrm>
            <a:off x="2829464" y="1336416"/>
            <a:ext cx="1984075" cy="736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Normalization</a:t>
            </a:r>
            <a:r>
              <a:rPr lang="it-IT" sz="1400" dirty="0"/>
              <a:t> </a:t>
            </a:r>
          </a:p>
          <a:p>
            <a:pPr algn="ctr"/>
            <a:r>
              <a:rPr lang="it-IT" sz="1400" dirty="0"/>
              <a:t>(</a:t>
            </a:r>
            <a:r>
              <a:rPr lang="it-IT" sz="1400" dirty="0" err="1"/>
              <a:t>mean</a:t>
            </a:r>
            <a:r>
              <a:rPr lang="it-IT" sz="1400" dirty="0"/>
              <a:t> and </a:t>
            </a:r>
            <a:r>
              <a:rPr lang="it-IT" sz="1400" dirty="0" err="1"/>
              <a:t>std</a:t>
            </a:r>
            <a:r>
              <a:rPr lang="it-IT" sz="1400" dirty="0"/>
              <a:t> for </a:t>
            </a:r>
            <a:r>
              <a:rPr lang="it-IT" sz="1400" dirty="0" err="1"/>
              <a:t>every</a:t>
            </a:r>
            <a:r>
              <a:rPr lang="it-IT" sz="1400" dirty="0"/>
              <a:t> </a:t>
            </a:r>
            <a:r>
              <a:rPr lang="it-IT" sz="1400" dirty="0" err="1"/>
              <a:t>channel</a:t>
            </a:r>
            <a:r>
              <a:rPr lang="it-IT" sz="1400" dirty="0"/>
              <a:t>)</a:t>
            </a:r>
          </a:p>
        </p:txBody>
      </p:sp>
      <p:sp>
        <p:nvSpPr>
          <p:cNvPr id="25" name="Segnaposto contenuto 2">
            <a:extLst>
              <a:ext uri="{FF2B5EF4-FFF2-40B4-BE49-F238E27FC236}">
                <a16:creationId xmlns:a16="http://schemas.microsoft.com/office/drawing/2014/main" id="{433F7680-2171-DB7D-3F3A-09AC70D8D0C3}"/>
              </a:ext>
            </a:extLst>
          </p:cNvPr>
          <p:cNvSpPr txBox="1">
            <a:spLocks/>
          </p:cNvSpPr>
          <p:nvPr/>
        </p:nvSpPr>
        <p:spPr bwMode="auto">
          <a:xfrm>
            <a:off x="2829463" y="1066775"/>
            <a:ext cx="198407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 err="1"/>
              <a:t>Preprocessing</a:t>
            </a:r>
            <a:endParaRPr lang="it-IT" sz="1400" dirty="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55B311C7-2C50-A9FF-ECE5-064C53BB5E2E}"/>
              </a:ext>
            </a:extLst>
          </p:cNvPr>
          <p:cNvSpPr/>
          <p:nvPr/>
        </p:nvSpPr>
        <p:spPr>
          <a:xfrm>
            <a:off x="5365630" y="1196533"/>
            <a:ext cx="5988170" cy="1862362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3EFCE6C7-DF61-C982-85EA-153C01423FD9}"/>
              </a:ext>
            </a:extLst>
          </p:cNvPr>
          <p:cNvSpPr/>
          <p:nvPr/>
        </p:nvSpPr>
        <p:spPr>
          <a:xfrm>
            <a:off x="5920616" y="1557863"/>
            <a:ext cx="2179588" cy="468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BCEWithLogitLoss</a:t>
            </a: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FA038397-84BD-E269-3D42-2F0E7527B224}"/>
              </a:ext>
            </a:extLst>
          </p:cNvPr>
          <p:cNvSpPr/>
          <p:nvPr/>
        </p:nvSpPr>
        <p:spPr>
          <a:xfrm>
            <a:off x="5920616" y="2177576"/>
            <a:ext cx="2179588" cy="46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AdamW</a:t>
            </a:r>
            <a:r>
              <a:rPr lang="it-IT" sz="1400" dirty="0"/>
              <a:t> * LR 3e-4</a:t>
            </a:r>
          </a:p>
        </p:txBody>
      </p:sp>
      <p:sp>
        <p:nvSpPr>
          <p:cNvPr id="67" name="Rettangolo 66">
            <a:extLst>
              <a:ext uri="{FF2B5EF4-FFF2-40B4-BE49-F238E27FC236}">
                <a16:creationId xmlns:a16="http://schemas.microsoft.com/office/drawing/2014/main" id="{59EBCE06-6725-87E8-F8DA-90FF44002A51}"/>
              </a:ext>
            </a:extLst>
          </p:cNvPr>
          <p:cNvSpPr/>
          <p:nvPr/>
        </p:nvSpPr>
        <p:spPr>
          <a:xfrm>
            <a:off x="8637208" y="1557862"/>
            <a:ext cx="2179588" cy="108771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Warm up: 5 </a:t>
            </a:r>
            <a:r>
              <a:rPr lang="it-IT" sz="1400" dirty="0" err="1"/>
              <a:t>epochs</a:t>
            </a:r>
            <a:endParaRPr lang="it-IT" sz="1400" dirty="0"/>
          </a:p>
          <a:p>
            <a:pPr algn="ctr"/>
            <a:r>
              <a:rPr lang="it-IT" sz="1400" dirty="0"/>
              <a:t>Cosine </a:t>
            </a:r>
            <a:r>
              <a:rPr lang="it-IT" sz="1400" dirty="0" err="1"/>
              <a:t>decay</a:t>
            </a:r>
            <a:endParaRPr lang="it-IT" sz="1400" dirty="0"/>
          </a:p>
          <a:p>
            <a:pPr algn="ctr"/>
            <a:r>
              <a:rPr lang="it-IT" sz="1400" dirty="0" err="1"/>
              <a:t>Gradient</a:t>
            </a:r>
            <a:r>
              <a:rPr lang="it-IT" sz="1400" dirty="0"/>
              <a:t> </a:t>
            </a:r>
            <a:r>
              <a:rPr lang="it-IT" sz="1400" dirty="0" err="1"/>
              <a:t>Accumulation</a:t>
            </a:r>
            <a:endParaRPr lang="it-IT" sz="1400" dirty="0"/>
          </a:p>
          <a:p>
            <a:pPr algn="ctr"/>
            <a:r>
              <a:rPr lang="it-IT" sz="1400" dirty="0" err="1"/>
              <a:t>Gradient</a:t>
            </a:r>
            <a:r>
              <a:rPr lang="it-IT" sz="1400" dirty="0"/>
              <a:t> clipping</a:t>
            </a:r>
          </a:p>
          <a:p>
            <a:pPr algn="ctr"/>
            <a:r>
              <a:rPr lang="it-IT" sz="1400" dirty="0"/>
              <a:t>Batch size =32</a:t>
            </a:r>
          </a:p>
        </p:txBody>
      </p:sp>
      <p:sp>
        <p:nvSpPr>
          <p:cNvPr id="74" name="Segnaposto contenuto 2">
            <a:extLst>
              <a:ext uri="{FF2B5EF4-FFF2-40B4-BE49-F238E27FC236}">
                <a16:creationId xmlns:a16="http://schemas.microsoft.com/office/drawing/2014/main" id="{E562C23E-3CAC-A423-20B5-8538676EFB18}"/>
              </a:ext>
            </a:extLst>
          </p:cNvPr>
          <p:cNvSpPr txBox="1">
            <a:spLocks/>
          </p:cNvSpPr>
          <p:nvPr/>
        </p:nvSpPr>
        <p:spPr bwMode="auto">
          <a:xfrm>
            <a:off x="5365630" y="891945"/>
            <a:ext cx="5988170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/>
              <a:t>Training</a:t>
            </a:r>
          </a:p>
        </p:txBody>
      </p:sp>
      <p:sp>
        <p:nvSpPr>
          <p:cNvPr id="76" name="Rettangolo 75">
            <a:extLst>
              <a:ext uri="{FF2B5EF4-FFF2-40B4-BE49-F238E27FC236}">
                <a16:creationId xmlns:a16="http://schemas.microsoft.com/office/drawing/2014/main" id="{D6CF606D-FB33-1C39-4580-E8B84F9FF7AF}"/>
              </a:ext>
            </a:extLst>
          </p:cNvPr>
          <p:cNvSpPr/>
          <p:nvPr/>
        </p:nvSpPr>
        <p:spPr>
          <a:xfrm>
            <a:off x="2829463" y="2799453"/>
            <a:ext cx="1984075" cy="102353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 err="1"/>
              <a:t>Validation</a:t>
            </a:r>
            <a:endParaRPr lang="it-IT" sz="1400" b="1" dirty="0"/>
          </a:p>
          <a:p>
            <a:pPr algn="ctr"/>
            <a:r>
              <a:rPr lang="it-IT" sz="1400" dirty="0" err="1"/>
              <a:t>Balanced</a:t>
            </a:r>
            <a:r>
              <a:rPr lang="it-IT" sz="1400" dirty="0"/>
              <a:t> </a:t>
            </a:r>
            <a:r>
              <a:rPr lang="it-IT" sz="1400" dirty="0" err="1"/>
              <a:t>Accuracy</a:t>
            </a:r>
            <a:endParaRPr lang="it-IT" sz="1400" dirty="0"/>
          </a:p>
          <a:p>
            <a:pPr algn="ctr"/>
            <a:r>
              <a:rPr lang="it-IT" sz="1400" dirty="0"/>
              <a:t>Best Checkpoint</a:t>
            </a:r>
          </a:p>
          <a:p>
            <a:pPr algn="ctr"/>
            <a:r>
              <a:rPr lang="it-IT" sz="1400" dirty="0"/>
              <a:t>Early </a:t>
            </a:r>
            <a:r>
              <a:rPr lang="it-IT" sz="1400" dirty="0" err="1"/>
              <a:t>Stopping</a:t>
            </a:r>
            <a:endParaRPr lang="it-IT" sz="1400" dirty="0"/>
          </a:p>
        </p:txBody>
      </p:sp>
      <p:sp>
        <p:nvSpPr>
          <p:cNvPr id="81" name="Rettangolo 80">
            <a:extLst>
              <a:ext uri="{FF2B5EF4-FFF2-40B4-BE49-F238E27FC236}">
                <a16:creationId xmlns:a16="http://schemas.microsoft.com/office/drawing/2014/main" id="{BB31DE73-45AF-7B07-DD70-D835EF21C36C}"/>
              </a:ext>
            </a:extLst>
          </p:cNvPr>
          <p:cNvSpPr/>
          <p:nvPr/>
        </p:nvSpPr>
        <p:spPr>
          <a:xfrm>
            <a:off x="785833" y="3034040"/>
            <a:ext cx="1415947" cy="55435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/>
              <a:t>Test Evaluation</a:t>
            </a:r>
          </a:p>
        </p:txBody>
      </p:sp>
      <p:cxnSp>
        <p:nvCxnSpPr>
          <p:cNvPr id="84" name="Connettore 2 83">
            <a:extLst>
              <a:ext uri="{FF2B5EF4-FFF2-40B4-BE49-F238E27FC236}">
                <a16:creationId xmlns:a16="http://schemas.microsoft.com/office/drawing/2014/main" id="{FE08B21F-1B97-CAAF-7EE9-E0D727C45E88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2149415" y="1704447"/>
            <a:ext cx="6800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ttore a gomito 85">
            <a:extLst>
              <a:ext uri="{FF2B5EF4-FFF2-40B4-BE49-F238E27FC236}">
                <a16:creationId xmlns:a16="http://schemas.microsoft.com/office/drawing/2014/main" id="{097FBEB9-0842-469F-EA4A-252FA3B9294F}"/>
              </a:ext>
            </a:extLst>
          </p:cNvPr>
          <p:cNvCxnSpPr>
            <a:stCxn id="5" idx="3"/>
            <a:endCxn id="29" idx="1"/>
          </p:cNvCxnSpPr>
          <p:nvPr/>
        </p:nvCxnSpPr>
        <p:spPr>
          <a:xfrm>
            <a:off x="4813539" y="1704447"/>
            <a:ext cx="552091" cy="4232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ttore a gomito 87">
            <a:extLst>
              <a:ext uri="{FF2B5EF4-FFF2-40B4-BE49-F238E27FC236}">
                <a16:creationId xmlns:a16="http://schemas.microsoft.com/office/drawing/2014/main" id="{D2A5B314-4478-901D-8C06-BE70C1F7A165}"/>
              </a:ext>
            </a:extLst>
          </p:cNvPr>
          <p:cNvCxnSpPr>
            <a:stCxn id="29" idx="2"/>
            <a:endCxn id="76" idx="3"/>
          </p:cNvCxnSpPr>
          <p:nvPr/>
        </p:nvCxnSpPr>
        <p:spPr>
          <a:xfrm rot="5400000">
            <a:off x="6460465" y="1411969"/>
            <a:ext cx="252325" cy="35461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2 89">
            <a:extLst>
              <a:ext uri="{FF2B5EF4-FFF2-40B4-BE49-F238E27FC236}">
                <a16:creationId xmlns:a16="http://schemas.microsoft.com/office/drawing/2014/main" id="{FD1B1035-361F-EF60-F013-54BAEE9CCE23}"/>
              </a:ext>
            </a:extLst>
          </p:cNvPr>
          <p:cNvCxnSpPr>
            <a:stCxn id="76" idx="1"/>
            <a:endCxn id="81" idx="3"/>
          </p:cNvCxnSpPr>
          <p:nvPr/>
        </p:nvCxnSpPr>
        <p:spPr>
          <a:xfrm flipH="1">
            <a:off x="2201780" y="3311220"/>
            <a:ext cx="6276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Immagine 94">
            <a:extLst>
              <a:ext uri="{FF2B5EF4-FFF2-40B4-BE49-F238E27FC236}">
                <a16:creationId xmlns:a16="http://schemas.microsoft.com/office/drawing/2014/main" id="{242EA1D1-4FA8-01C7-6BA1-81725E9E4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33" y="4204222"/>
            <a:ext cx="4763704" cy="2342657"/>
          </a:xfrm>
          <a:prstGeom prst="rect">
            <a:avLst/>
          </a:prstGeom>
        </p:spPr>
      </p:pic>
      <p:pic>
        <p:nvPicPr>
          <p:cNvPr id="97" name="Immagine 96">
            <a:extLst>
              <a:ext uri="{FF2B5EF4-FFF2-40B4-BE49-F238E27FC236}">
                <a16:creationId xmlns:a16="http://schemas.microsoft.com/office/drawing/2014/main" id="{B225EAE8-C920-47EC-6CE1-0B7FBE300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349" y="4149275"/>
            <a:ext cx="4765621" cy="2343600"/>
          </a:xfrm>
          <a:prstGeom prst="rect">
            <a:avLst/>
          </a:prstGeom>
        </p:spPr>
      </p:pic>
      <p:sp>
        <p:nvSpPr>
          <p:cNvPr id="99" name="Segnaposto contenuto 2">
            <a:extLst>
              <a:ext uri="{FF2B5EF4-FFF2-40B4-BE49-F238E27FC236}">
                <a16:creationId xmlns:a16="http://schemas.microsoft.com/office/drawing/2014/main" id="{E555402A-AE20-54F4-646C-2EF3817954B2}"/>
              </a:ext>
            </a:extLst>
          </p:cNvPr>
          <p:cNvSpPr txBox="1">
            <a:spLocks/>
          </p:cNvSpPr>
          <p:nvPr/>
        </p:nvSpPr>
        <p:spPr bwMode="auto">
          <a:xfrm>
            <a:off x="2829463" y="2522275"/>
            <a:ext cx="198407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/>
              <a:t>Best </a:t>
            </a:r>
            <a:r>
              <a:rPr lang="it-IT" sz="1400" dirty="0" err="1"/>
              <a:t>epoch</a:t>
            </a:r>
            <a:r>
              <a:rPr lang="it-IT" sz="1400" dirty="0"/>
              <a:t> = 2</a:t>
            </a:r>
          </a:p>
        </p:txBody>
      </p:sp>
    </p:spTree>
    <p:extLst>
      <p:ext uri="{BB962C8B-B14F-4D97-AF65-F5344CB8AC3E}">
        <p14:creationId xmlns:p14="http://schemas.microsoft.com/office/powerpoint/2010/main" val="1390833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A9493-0F7F-77D1-0261-F0AB2197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CBADCA-BFE4-8EE7-E9B8-1DE51A9DE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2407"/>
          </a:xfrm>
        </p:spPr>
        <p:txBody>
          <a:bodyPr/>
          <a:lstStyle/>
          <a:p>
            <a:r>
              <a:rPr lang="it-IT" sz="3200" dirty="0" err="1"/>
              <a:t>ConvNeXt</a:t>
            </a:r>
            <a:r>
              <a:rPr lang="it-IT" sz="3200" dirty="0"/>
              <a:t> – Training </a:t>
            </a:r>
            <a:r>
              <a:rPr lang="it-IT" sz="3200" dirty="0" err="1"/>
              <a:t>Results</a:t>
            </a:r>
            <a:endParaRPr lang="it-IT" sz="320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3178323-107E-2847-14E6-7B3564B54BDC}"/>
              </a:ext>
            </a:extLst>
          </p:cNvPr>
          <p:cNvSpPr/>
          <p:nvPr/>
        </p:nvSpPr>
        <p:spPr>
          <a:xfrm>
            <a:off x="838200" y="1336416"/>
            <a:ext cx="1311215" cy="7360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Splitted</a:t>
            </a:r>
            <a:r>
              <a:rPr lang="it-IT" sz="1400" dirty="0"/>
              <a:t> Dataset</a:t>
            </a:r>
          </a:p>
          <a:p>
            <a:pPr algn="ctr"/>
            <a:r>
              <a:rPr lang="it-IT" sz="1400" dirty="0" err="1"/>
              <a:t>Stratified</a:t>
            </a:r>
            <a:r>
              <a:rPr lang="it-IT" sz="1400" dirty="0"/>
              <a:t> </a:t>
            </a:r>
            <a:r>
              <a:rPr lang="it-IT" sz="1400" dirty="0" err="1"/>
              <a:t>KFold</a:t>
            </a:r>
            <a:endParaRPr lang="it-IT" sz="1400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02A8631-9ECB-846B-4801-B119A1624BB5}"/>
              </a:ext>
            </a:extLst>
          </p:cNvPr>
          <p:cNvSpPr/>
          <p:nvPr/>
        </p:nvSpPr>
        <p:spPr>
          <a:xfrm>
            <a:off x="2829464" y="1336416"/>
            <a:ext cx="1984075" cy="736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Normalization</a:t>
            </a:r>
            <a:r>
              <a:rPr lang="it-IT" sz="1400" dirty="0"/>
              <a:t> </a:t>
            </a:r>
          </a:p>
          <a:p>
            <a:pPr algn="ctr"/>
            <a:r>
              <a:rPr lang="it-IT" sz="1400" dirty="0"/>
              <a:t>(</a:t>
            </a:r>
            <a:r>
              <a:rPr lang="it-IT" sz="1400" dirty="0" err="1"/>
              <a:t>mean</a:t>
            </a:r>
            <a:r>
              <a:rPr lang="it-IT" sz="1400" dirty="0"/>
              <a:t> and </a:t>
            </a:r>
            <a:r>
              <a:rPr lang="it-IT" sz="1400" dirty="0" err="1"/>
              <a:t>std</a:t>
            </a:r>
            <a:r>
              <a:rPr lang="it-IT" sz="1400" dirty="0"/>
              <a:t> for </a:t>
            </a:r>
            <a:r>
              <a:rPr lang="it-IT" sz="1400" dirty="0" err="1"/>
              <a:t>every</a:t>
            </a:r>
            <a:r>
              <a:rPr lang="it-IT" sz="1400" dirty="0"/>
              <a:t> </a:t>
            </a:r>
            <a:r>
              <a:rPr lang="it-IT" sz="1400" dirty="0" err="1"/>
              <a:t>channel</a:t>
            </a:r>
            <a:r>
              <a:rPr lang="it-IT" sz="1400" dirty="0"/>
              <a:t>)</a:t>
            </a:r>
          </a:p>
        </p:txBody>
      </p:sp>
      <p:sp>
        <p:nvSpPr>
          <p:cNvPr id="25" name="Segnaposto contenuto 2">
            <a:extLst>
              <a:ext uri="{FF2B5EF4-FFF2-40B4-BE49-F238E27FC236}">
                <a16:creationId xmlns:a16="http://schemas.microsoft.com/office/drawing/2014/main" id="{66D8EF2D-67D3-C857-44E9-34A515CFB8EA}"/>
              </a:ext>
            </a:extLst>
          </p:cNvPr>
          <p:cNvSpPr txBox="1">
            <a:spLocks/>
          </p:cNvSpPr>
          <p:nvPr/>
        </p:nvSpPr>
        <p:spPr bwMode="auto">
          <a:xfrm>
            <a:off x="2829463" y="1066775"/>
            <a:ext cx="198407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 err="1"/>
              <a:t>Preprocessing</a:t>
            </a:r>
            <a:endParaRPr lang="it-IT" sz="1400" dirty="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273B0258-EE58-A412-0E52-1C6694592DC9}"/>
              </a:ext>
            </a:extLst>
          </p:cNvPr>
          <p:cNvSpPr/>
          <p:nvPr/>
        </p:nvSpPr>
        <p:spPr>
          <a:xfrm>
            <a:off x="5365630" y="1196533"/>
            <a:ext cx="5988170" cy="1862362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7CE60740-A962-1409-903A-AB6C438D9582}"/>
              </a:ext>
            </a:extLst>
          </p:cNvPr>
          <p:cNvSpPr/>
          <p:nvPr/>
        </p:nvSpPr>
        <p:spPr>
          <a:xfrm>
            <a:off x="5920616" y="1557863"/>
            <a:ext cx="2179588" cy="468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BCEWithLogitLoss</a:t>
            </a: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C572EB5B-EDF3-BEF0-161C-3874281423BB}"/>
              </a:ext>
            </a:extLst>
          </p:cNvPr>
          <p:cNvSpPr/>
          <p:nvPr/>
        </p:nvSpPr>
        <p:spPr>
          <a:xfrm>
            <a:off x="5920616" y="2177576"/>
            <a:ext cx="2179588" cy="46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AdamW</a:t>
            </a:r>
            <a:r>
              <a:rPr lang="it-IT" sz="1400" dirty="0"/>
              <a:t> * LR 3e-4</a:t>
            </a:r>
          </a:p>
        </p:txBody>
      </p:sp>
      <p:sp>
        <p:nvSpPr>
          <p:cNvPr id="67" name="Rettangolo 66">
            <a:extLst>
              <a:ext uri="{FF2B5EF4-FFF2-40B4-BE49-F238E27FC236}">
                <a16:creationId xmlns:a16="http://schemas.microsoft.com/office/drawing/2014/main" id="{1C7A0562-29CD-BCB0-3434-6EF48987FD96}"/>
              </a:ext>
            </a:extLst>
          </p:cNvPr>
          <p:cNvSpPr/>
          <p:nvPr/>
        </p:nvSpPr>
        <p:spPr>
          <a:xfrm>
            <a:off x="8637208" y="1557862"/>
            <a:ext cx="2179588" cy="108771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Warm up: 5 </a:t>
            </a:r>
            <a:r>
              <a:rPr lang="it-IT" sz="1400" dirty="0" err="1"/>
              <a:t>epochs</a:t>
            </a:r>
            <a:endParaRPr lang="it-IT" sz="1400" dirty="0"/>
          </a:p>
          <a:p>
            <a:pPr algn="ctr"/>
            <a:r>
              <a:rPr lang="it-IT" sz="1400" dirty="0"/>
              <a:t>Cosine </a:t>
            </a:r>
            <a:r>
              <a:rPr lang="it-IT" sz="1400" dirty="0" err="1"/>
              <a:t>decay</a:t>
            </a:r>
            <a:endParaRPr lang="it-IT" sz="1400" dirty="0"/>
          </a:p>
          <a:p>
            <a:pPr algn="ctr"/>
            <a:r>
              <a:rPr lang="it-IT" sz="1400" dirty="0" err="1"/>
              <a:t>Gradient</a:t>
            </a:r>
            <a:r>
              <a:rPr lang="it-IT" sz="1400" dirty="0"/>
              <a:t> </a:t>
            </a:r>
            <a:r>
              <a:rPr lang="it-IT" sz="1400" dirty="0" err="1"/>
              <a:t>Accumulation</a:t>
            </a:r>
            <a:endParaRPr lang="it-IT" sz="1400" dirty="0"/>
          </a:p>
          <a:p>
            <a:pPr algn="ctr"/>
            <a:r>
              <a:rPr lang="it-IT" sz="1400" dirty="0" err="1"/>
              <a:t>Gradient</a:t>
            </a:r>
            <a:r>
              <a:rPr lang="it-IT" sz="1400" dirty="0"/>
              <a:t> clipping</a:t>
            </a:r>
          </a:p>
          <a:p>
            <a:pPr algn="ctr"/>
            <a:r>
              <a:rPr lang="it-IT" sz="1400" dirty="0"/>
              <a:t>Batch size =32</a:t>
            </a:r>
          </a:p>
        </p:txBody>
      </p:sp>
      <p:sp>
        <p:nvSpPr>
          <p:cNvPr id="74" name="Segnaposto contenuto 2">
            <a:extLst>
              <a:ext uri="{FF2B5EF4-FFF2-40B4-BE49-F238E27FC236}">
                <a16:creationId xmlns:a16="http://schemas.microsoft.com/office/drawing/2014/main" id="{12D4259D-7E27-5FB0-B3F8-22B0EAFDF302}"/>
              </a:ext>
            </a:extLst>
          </p:cNvPr>
          <p:cNvSpPr txBox="1">
            <a:spLocks/>
          </p:cNvSpPr>
          <p:nvPr/>
        </p:nvSpPr>
        <p:spPr bwMode="auto">
          <a:xfrm>
            <a:off x="5365630" y="891945"/>
            <a:ext cx="5988170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/>
              <a:t>Training</a:t>
            </a:r>
          </a:p>
        </p:txBody>
      </p:sp>
      <p:sp>
        <p:nvSpPr>
          <p:cNvPr id="76" name="Rettangolo 75">
            <a:extLst>
              <a:ext uri="{FF2B5EF4-FFF2-40B4-BE49-F238E27FC236}">
                <a16:creationId xmlns:a16="http://schemas.microsoft.com/office/drawing/2014/main" id="{009C4903-7A6C-0332-9604-1A047599375A}"/>
              </a:ext>
            </a:extLst>
          </p:cNvPr>
          <p:cNvSpPr/>
          <p:nvPr/>
        </p:nvSpPr>
        <p:spPr>
          <a:xfrm>
            <a:off x="2829463" y="2799453"/>
            <a:ext cx="1984075" cy="102353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 err="1"/>
              <a:t>Validation</a:t>
            </a:r>
            <a:endParaRPr lang="it-IT" sz="1400" b="1" dirty="0"/>
          </a:p>
          <a:p>
            <a:pPr algn="ctr"/>
            <a:r>
              <a:rPr lang="it-IT" sz="1400" dirty="0" err="1"/>
              <a:t>Balanced</a:t>
            </a:r>
            <a:r>
              <a:rPr lang="it-IT" sz="1400" dirty="0"/>
              <a:t> </a:t>
            </a:r>
            <a:r>
              <a:rPr lang="it-IT" sz="1400" dirty="0" err="1"/>
              <a:t>Accuracy</a:t>
            </a:r>
            <a:endParaRPr lang="it-IT" sz="1400" dirty="0"/>
          </a:p>
          <a:p>
            <a:pPr algn="ctr"/>
            <a:r>
              <a:rPr lang="it-IT" sz="1400" dirty="0"/>
              <a:t>Best Checkpoint</a:t>
            </a:r>
          </a:p>
          <a:p>
            <a:pPr algn="ctr"/>
            <a:r>
              <a:rPr lang="it-IT" sz="1400" dirty="0"/>
              <a:t>Early </a:t>
            </a:r>
            <a:r>
              <a:rPr lang="it-IT" sz="1400" dirty="0" err="1"/>
              <a:t>Stopping</a:t>
            </a:r>
            <a:endParaRPr lang="it-IT" sz="1400" dirty="0"/>
          </a:p>
        </p:txBody>
      </p:sp>
      <p:sp>
        <p:nvSpPr>
          <p:cNvPr id="81" name="Rettangolo 80">
            <a:extLst>
              <a:ext uri="{FF2B5EF4-FFF2-40B4-BE49-F238E27FC236}">
                <a16:creationId xmlns:a16="http://schemas.microsoft.com/office/drawing/2014/main" id="{08791F01-D98B-34E4-AB19-C0B2351D9D3F}"/>
              </a:ext>
            </a:extLst>
          </p:cNvPr>
          <p:cNvSpPr/>
          <p:nvPr/>
        </p:nvSpPr>
        <p:spPr>
          <a:xfrm>
            <a:off x="785833" y="3034040"/>
            <a:ext cx="1415947" cy="55435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/>
              <a:t>Test Evaluation</a:t>
            </a:r>
          </a:p>
        </p:txBody>
      </p:sp>
      <p:cxnSp>
        <p:nvCxnSpPr>
          <p:cNvPr id="84" name="Connettore 2 83">
            <a:extLst>
              <a:ext uri="{FF2B5EF4-FFF2-40B4-BE49-F238E27FC236}">
                <a16:creationId xmlns:a16="http://schemas.microsoft.com/office/drawing/2014/main" id="{56A7945F-5A4E-3B24-0C7F-759D9C21843E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2149415" y="1704447"/>
            <a:ext cx="6800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ttore a gomito 85">
            <a:extLst>
              <a:ext uri="{FF2B5EF4-FFF2-40B4-BE49-F238E27FC236}">
                <a16:creationId xmlns:a16="http://schemas.microsoft.com/office/drawing/2014/main" id="{6486C8AE-1799-BA37-15C3-E56C77EF85EC}"/>
              </a:ext>
            </a:extLst>
          </p:cNvPr>
          <p:cNvCxnSpPr>
            <a:stCxn id="5" idx="3"/>
            <a:endCxn id="29" idx="1"/>
          </p:cNvCxnSpPr>
          <p:nvPr/>
        </p:nvCxnSpPr>
        <p:spPr>
          <a:xfrm>
            <a:off x="4813539" y="1704447"/>
            <a:ext cx="552091" cy="4232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ttore a gomito 87">
            <a:extLst>
              <a:ext uri="{FF2B5EF4-FFF2-40B4-BE49-F238E27FC236}">
                <a16:creationId xmlns:a16="http://schemas.microsoft.com/office/drawing/2014/main" id="{99AF1DED-DEF0-3763-E1FB-DB71C3B9D996}"/>
              </a:ext>
            </a:extLst>
          </p:cNvPr>
          <p:cNvCxnSpPr>
            <a:stCxn id="29" idx="2"/>
            <a:endCxn id="76" idx="3"/>
          </p:cNvCxnSpPr>
          <p:nvPr/>
        </p:nvCxnSpPr>
        <p:spPr>
          <a:xfrm rot="5400000">
            <a:off x="6460465" y="1411969"/>
            <a:ext cx="252325" cy="35461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2 89">
            <a:extLst>
              <a:ext uri="{FF2B5EF4-FFF2-40B4-BE49-F238E27FC236}">
                <a16:creationId xmlns:a16="http://schemas.microsoft.com/office/drawing/2014/main" id="{57951F94-D77E-C53D-A0ED-F7DCECB3214F}"/>
              </a:ext>
            </a:extLst>
          </p:cNvPr>
          <p:cNvCxnSpPr>
            <a:stCxn id="76" idx="1"/>
            <a:endCxn id="81" idx="3"/>
          </p:cNvCxnSpPr>
          <p:nvPr/>
        </p:nvCxnSpPr>
        <p:spPr>
          <a:xfrm flipH="1">
            <a:off x="2201780" y="3311220"/>
            <a:ext cx="6276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3" name="Tabella 92">
            <a:extLst>
              <a:ext uri="{FF2B5EF4-FFF2-40B4-BE49-F238E27FC236}">
                <a16:creationId xmlns:a16="http://schemas.microsoft.com/office/drawing/2014/main" id="{F7CEFB95-2944-D33E-EFB3-BD3FDEC767AA}"/>
              </a:ext>
            </a:extLst>
          </p:cNvPr>
          <p:cNvGraphicFramePr>
            <a:graphicFrameLocks noGrp="1"/>
          </p:cNvGraphicFramePr>
          <p:nvPr/>
        </p:nvGraphicFramePr>
        <p:xfrm>
          <a:off x="640511" y="4464738"/>
          <a:ext cx="1091097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673">
                  <a:extLst>
                    <a:ext uri="{9D8B030D-6E8A-4147-A177-3AD203B41FA5}">
                      <a16:colId xmlns:a16="http://schemas.microsoft.com/office/drawing/2014/main" val="3005499671"/>
                    </a:ext>
                  </a:extLst>
                </a:gridCol>
                <a:gridCol w="1176686">
                  <a:extLst>
                    <a:ext uri="{9D8B030D-6E8A-4147-A177-3AD203B41FA5}">
                      <a16:colId xmlns:a16="http://schemas.microsoft.com/office/drawing/2014/main" val="4251709622"/>
                    </a:ext>
                  </a:extLst>
                </a:gridCol>
                <a:gridCol w="1268753">
                  <a:extLst>
                    <a:ext uri="{9D8B030D-6E8A-4147-A177-3AD203B41FA5}">
                      <a16:colId xmlns:a16="http://schemas.microsoft.com/office/drawing/2014/main" val="566477960"/>
                    </a:ext>
                  </a:extLst>
                </a:gridCol>
                <a:gridCol w="1032934">
                  <a:extLst>
                    <a:ext uri="{9D8B030D-6E8A-4147-A177-3AD203B41FA5}">
                      <a16:colId xmlns:a16="http://schemas.microsoft.com/office/drawing/2014/main" val="426997274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195058313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292583598"/>
                    </a:ext>
                  </a:extLst>
                </a:gridCol>
                <a:gridCol w="1024466">
                  <a:extLst>
                    <a:ext uri="{9D8B030D-6E8A-4147-A177-3AD203B41FA5}">
                      <a16:colId xmlns:a16="http://schemas.microsoft.com/office/drawing/2014/main" val="2609613875"/>
                    </a:ext>
                  </a:extLst>
                </a:gridCol>
                <a:gridCol w="774606">
                  <a:extLst>
                    <a:ext uri="{9D8B030D-6E8A-4147-A177-3AD203B41FA5}">
                      <a16:colId xmlns:a16="http://schemas.microsoft.com/office/drawing/2014/main" val="1483795687"/>
                    </a:ext>
                  </a:extLst>
                </a:gridCol>
                <a:gridCol w="1102830">
                  <a:extLst>
                    <a:ext uri="{9D8B030D-6E8A-4147-A177-3AD203B41FA5}">
                      <a16:colId xmlns:a16="http://schemas.microsoft.com/office/drawing/2014/main" val="3998743104"/>
                    </a:ext>
                  </a:extLst>
                </a:gridCol>
                <a:gridCol w="1102830">
                  <a:extLst>
                    <a:ext uri="{9D8B030D-6E8A-4147-A177-3AD203B41FA5}">
                      <a16:colId xmlns:a16="http://schemas.microsoft.com/office/drawing/2014/main" val="279493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N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Accuracy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Balanced</a:t>
                      </a:r>
                      <a:r>
                        <a:rPr lang="it-IT" sz="1600" dirty="0"/>
                        <a:t> </a:t>
                      </a:r>
                      <a:r>
                        <a:rPr lang="it-IT" sz="1600" dirty="0" err="1"/>
                        <a:t>accuracy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PR-AUC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21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2825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0.0472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0.98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0.98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0.98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0.98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97696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Validation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0.1284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0.98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35175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0.1056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0.97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0.94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98980760"/>
                  </a:ext>
                </a:extLst>
              </a:tr>
            </a:tbl>
          </a:graphicData>
        </a:graphic>
      </p:graphicFrame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9C07E7F7-04EE-D007-FB58-76CD5C193805}"/>
              </a:ext>
            </a:extLst>
          </p:cNvPr>
          <p:cNvSpPr txBox="1">
            <a:spLocks/>
          </p:cNvSpPr>
          <p:nvPr/>
        </p:nvSpPr>
        <p:spPr bwMode="auto">
          <a:xfrm>
            <a:off x="2829463" y="2522275"/>
            <a:ext cx="198407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/>
              <a:t>Best </a:t>
            </a:r>
            <a:r>
              <a:rPr lang="it-IT" sz="1400" dirty="0" err="1"/>
              <a:t>epoch</a:t>
            </a:r>
            <a:r>
              <a:rPr lang="it-IT" sz="1400" dirty="0"/>
              <a:t> = 2</a:t>
            </a:r>
          </a:p>
        </p:txBody>
      </p:sp>
    </p:spTree>
    <p:extLst>
      <p:ext uri="{BB962C8B-B14F-4D97-AF65-F5344CB8AC3E}">
        <p14:creationId xmlns:p14="http://schemas.microsoft.com/office/powerpoint/2010/main" val="1833346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69BF074-DE8E-A02A-8D5E-A1EC188C0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sz="6600"/>
              <a:t>ConvNeXt – Confusion Matrices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7D272F6-67E8-03B7-D966-C24882BB9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75092" y="2813181"/>
            <a:ext cx="3758184" cy="3213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9D804AA-9D8A-D53B-3811-8AB2F332C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908" y="2813181"/>
            <a:ext cx="3758184" cy="321324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F186D34-571E-3CB9-A9D8-28D266D8BF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24" y="2841367"/>
            <a:ext cx="3758184" cy="315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90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7F695-192B-74ED-2ED4-E62D3A3F3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FEFBC9-45EA-26A3-670C-91A7F9F33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4166"/>
          </a:xfrm>
        </p:spPr>
        <p:txBody>
          <a:bodyPr/>
          <a:lstStyle/>
          <a:p>
            <a:r>
              <a:rPr lang="it-IT" dirty="0"/>
              <a:t>Ensemble - Architecture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9288DEF-AC61-3069-2DF4-24A687ED78ED}"/>
              </a:ext>
            </a:extLst>
          </p:cNvPr>
          <p:cNvSpPr/>
          <p:nvPr/>
        </p:nvSpPr>
        <p:spPr>
          <a:xfrm>
            <a:off x="854996" y="2415635"/>
            <a:ext cx="1311215" cy="7360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Splitted</a:t>
            </a:r>
            <a:r>
              <a:rPr lang="it-IT" sz="1400" dirty="0"/>
              <a:t> Dataset</a:t>
            </a:r>
          </a:p>
          <a:p>
            <a:pPr algn="ctr"/>
            <a:r>
              <a:rPr lang="it-IT" sz="1400" dirty="0" err="1"/>
              <a:t>Stratified</a:t>
            </a:r>
            <a:r>
              <a:rPr lang="it-IT" sz="1400" dirty="0"/>
              <a:t> </a:t>
            </a:r>
            <a:r>
              <a:rPr lang="it-IT" sz="1400" dirty="0" err="1"/>
              <a:t>KFold</a:t>
            </a:r>
            <a:endParaRPr lang="it-IT" sz="1400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128D076-DCF8-6270-3535-33173D18CB17}"/>
              </a:ext>
            </a:extLst>
          </p:cNvPr>
          <p:cNvSpPr/>
          <p:nvPr/>
        </p:nvSpPr>
        <p:spPr>
          <a:xfrm>
            <a:off x="3347253" y="1816985"/>
            <a:ext cx="1656672" cy="461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SVM RBF</a:t>
            </a:r>
          </a:p>
        </p:txBody>
      </p:sp>
      <p:sp>
        <p:nvSpPr>
          <p:cNvPr id="45" name="Segnaposto contenuto 2">
            <a:extLst>
              <a:ext uri="{FF2B5EF4-FFF2-40B4-BE49-F238E27FC236}">
                <a16:creationId xmlns:a16="http://schemas.microsoft.com/office/drawing/2014/main" id="{9F587179-C28D-C8F5-8754-5CB1ADD50D67}"/>
              </a:ext>
            </a:extLst>
          </p:cNvPr>
          <p:cNvSpPr txBox="1">
            <a:spLocks/>
          </p:cNvSpPr>
          <p:nvPr/>
        </p:nvSpPr>
        <p:spPr bwMode="auto">
          <a:xfrm>
            <a:off x="2996963" y="1394263"/>
            <a:ext cx="2346385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/>
              <a:t>Ensemble*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7C850C6-9DA2-B17E-5F0C-DF8A10D29CDD}"/>
              </a:ext>
            </a:extLst>
          </p:cNvPr>
          <p:cNvSpPr/>
          <p:nvPr/>
        </p:nvSpPr>
        <p:spPr>
          <a:xfrm>
            <a:off x="3347253" y="2513059"/>
            <a:ext cx="1656672" cy="461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XGBoost</a:t>
            </a:r>
            <a:endParaRPr lang="it-IT" sz="1400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7D02057-DC11-67C5-CB74-2D266FDB0008}"/>
              </a:ext>
            </a:extLst>
          </p:cNvPr>
          <p:cNvSpPr/>
          <p:nvPr/>
        </p:nvSpPr>
        <p:spPr>
          <a:xfrm>
            <a:off x="3347253" y="3209133"/>
            <a:ext cx="1656672" cy="461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CNN </a:t>
            </a:r>
            <a:r>
              <a:rPr lang="it-IT" sz="1400" dirty="0" err="1"/>
              <a:t>Spatial</a:t>
            </a:r>
            <a:r>
              <a:rPr lang="it-IT" sz="1400" dirty="0"/>
              <a:t> Head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EBFCA2F-1F21-2A94-E800-1D9404432014}"/>
              </a:ext>
            </a:extLst>
          </p:cNvPr>
          <p:cNvSpPr/>
          <p:nvPr/>
        </p:nvSpPr>
        <p:spPr>
          <a:xfrm>
            <a:off x="838200" y="5935549"/>
            <a:ext cx="1656672" cy="4618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ConvNext</a:t>
            </a:r>
            <a:endParaRPr lang="it-IT" sz="1400" dirty="0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8EA076D1-5B19-3A30-0FDA-C0FEB09914DA}"/>
              </a:ext>
            </a:extLst>
          </p:cNvPr>
          <p:cNvSpPr/>
          <p:nvPr/>
        </p:nvSpPr>
        <p:spPr>
          <a:xfrm>
            <a:off x="2996963" y="1657736"/>
            <a:ext cx="2346385" cy="224286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tangolo 20">
                <a:extLst>
                  <a:ext uri="{FF2B5EF4-FFF2-40B4-BE49-F238E27FC236}">
                    <a16:creationId xmlns:a16="http://schemas.microsoft.com/office/drawing/2014/main" id="{4670DA2C-A066-8DC7-B9B4-6F19960AD95A}"/>
                  </a:ext>
                </a:extLst>
              </p:cNvPr>
              <p:cNvSpPr/>
              <p:nvPr/>
            </p:nvSpPr>
            <p:spPr>
              <a:xfrm>
                <a:off x="6368651" y="1508629"/>
                <a:ext cx="4586895" cy="115792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b="1" dirty="0"/>
                  <a:t>Fair </a:t>
                </a:r>
                <a:r>
                  <a:rPr lang="it-IT" sz="1400" b="1" dirty="0" err="1"/>
                  <a:t>voting</a:t>
                </a:r>
                <a:endParaRPr lang="it-IT" sz="1400" b="1" dirty="0"/>
              </a:p>
              <a:p>
                <a:pPr algn="ctr"/>
                <a:endParaRPr lang="it-IT" sz="1400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𝑆𝑉𝑀</m:t>
                              </m:r>
                            </m:e>
                          </m:d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𝑋𝐺𝐵</m:t>
                              </m:r>
                            </m:e>
                          </m:d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𝐶𝑁𝑁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21" name="Rettangolo 20">
                <a:extLst>
                  <a:ext uri="{FF2B5EF4-FFF2-40B4-BE49-F238E27FC236}">
                    <a16:creationId xmlns:a16="http://schemas.microsoft.com/office/drawing/2014/main" id="{4670DA2C-A066-8DC7-B9B4-6F19960AD9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651" y="1508629"/>
                <a:ext cx="4586895" cy="11579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tangolo 22">
                <a:extLst>
                  <a:ext uri="{FF2B5EF4-FFF2-40B4-BE49-F238E27FC236}">
                    <a16:creationId xmlns:a16="http://schemas.microsoft.com/office/drawing/2014/main" id="{5CF8E324-7A84-C300-A06A-A094180736E1}"/>
                  </a:ext>
                </a:extLst>
              </p:cNvPr>
              <p:cNvSpPr/>
              <p:nvPr/>
            </p:nvSpPr>
            <p:spPr>
              <a:xfrm>
                <a:off x="6368651" y="2783666"/>
                <a:ext cx="4586896" cy="1157926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b="1" dirty="0"/>
                  <a:t>Soft </a:t>
                </a:r>
                <a:r>
                  <a:rPr lang="it-IT" sz="1400" b="1" dirty="0" err="1"/>
                  <a:t>weighted</a:t>
                </a:r>
                <a:r>
                  <a:rPr lang="it-IT" sz="1400" b="1" dirty="0"/>
                  <a:t> </a:t>
                </a:r>
                <a:r>
                  <a:rPr lang="it-IT" sz="1400" b="1" dirty="0" err="1"/>
                  <a:t>voting</a:t>
                </a:r>
                <a:endParaRPr lang="it-IT" sz="1400" b="1" dirty="0"/>
              </a:p>
              <a:p>
                <a:pPr algn="ctr"/>
                <a:endParaRPr lang="it-IT" sz="1400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it-IT" sz="1400" b="0" i="1" baseline="-25000" smtClean="0">
                              <a:latin typeface="Cambria Math" panose="02040503050406030204" pitchFamily="18" charset="0"/>
                            </a:rPr>
                            <m:t>𝑠𝑣𝑚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𝑆𝑉𝑀</m:t>
                              </m:r>
                            </m:e>
                          </m:d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𝑤𝑋𝐺</m:t>
                          </m:r>
                          <m:r>
                            <a:rPr lang="it-IT" sz="1400" b="0" i="1" baseline="-2500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𝑋𝐺𝐵</m:t>
                              </m:r>
                            </m:e>
                          </m:d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𝑤𝐶𝑁</m:t>
                          </m:r>
                          <m:r>
                            <a:rPr lang="it-IT" sz="1400" b="0" i="1" baseline="-2500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𝐶𝑁𝑁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23" name="Rettangolo 22">
                <a:extLst>
                  <a:ext uri="{FF2B5EF4-FFF2-40B4-BE49-F238E27FC236}">
                    <a16:creationId xmlns:a16="http://schemas.microsoft.com/office/drawing/2014/main" id="{5CF8E324-7A84-C300-A06A-A094180736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651" y="2783666"/>
                <a:ext cx="4586896" cy="11579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CBEC558D-7AC5-C0FD-D230-E06ED4AEAE9D}"/>
              </a:ext>
            </a:extLst>
          </p:cNvPr>
          <p:cNvSpPr/>
          <p:nvPr/>
        </p:nvSpPr>
        <p:spPr>
          <a:xfrm>
            <a:off x="6131944" y="1337645"/>
            <a:ext cx="5082396" cy="279880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Segnaposto contenuto 2">
            <a:extLst>
              <a:ext uri="{FF2B5EF4-FFF2-40B4-BE49-F238E27FC236}">
                <a16:creationId xmlns:a16="http://schemas.microsoft.com/office/drawing/2014/main" id="{6336195C-3894-EF4A-72EB-ACAAE80D60B3}"/>
              </a:ext>
            </a:extLst>
          </p:cNvPr>
          <p:cNvSpPr txBox="1">
            <a:spLocks/>
          </p:cNvSpPr>
          <p:nvPr/>
        </p:nvSpPr>
        <p:spPr bwMode="auto">
          <a:xfrm>
            <a:off x="6131944" y="1080039"/>
            <a:ext cx="5082396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/>
              <a:t>2 </a:t>
            </a:r>
            <a:r>
              <a:rPr lang="it-IT" sz="1400" dirty="0" err="1"/>
              <a:t>Voting</a:t>
            </a:r>
            <a:r>
              <a:rPr lang="it-IT" sz="1400" dirty="0"/>
              <a:t> Systems </a:t>
            </a:r>
            <a:r>
              <a:rPr lang="it-IT" sz="1400" dirty="0" err="1"/>
              <a:t>compared</a:t>
            </a:r>
            <a:endParaRPr lang="it-IT" sz="1400" dirty="0"/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D848EAF3-E0CA-4742-5C05-144390A18BC3}"/>
              </a:ext>
            </a:extLst>
          </p:cNvPr>
          <p:cNvCxnSpPr>
            <a:stCxn id="4" idx="3"/>
            <a:endCxn id="17" idx="1"/>
          </p:cNvCxnSpPr>
          <p:nvPr/>
        </p:nvCxnSpPr>
        <p:spPr>
          <a:xfrm flipV="1">
            <a:off x="2166211" y="2779170"/>
            <a:ext cx="830752" cy="4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a gomito 39">
            <a:extLst>
              <a:ext uri="{FF2B5EF4-FFF2-40B4-BE49-F238E27FC236}">
                <a16:creationId xmlns:a16="http://schemas.microsoft.com/office/drawing/2014/main" id="{5313CC58-D4B8-CDF3-E3CD-3C0649D3D2CB}"/>
              </a:ext>
            </a:extLst>
          </p:cNvPr>
          <p:cNvCxnSpPr>
            <a:stCxn id="8" idx="3"/>
            <a:endCxn id="25" idx="1"/>
          </p:cNvCxnSpPr>
          <p:nvPr/>
        </p:nvCxnSpPr>
        <p:spPr>
          <a:xfrm>
            <a:off x="5003925" y="2047911"/>
            <a:ext cx="1128019" cy="6891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a gomito 41">
            <a:extLst>
              <a:ext uri="{FF2B5EF4-FFF2-40B4-BE49-F238E27FC236}">
                <a16:creationId xmlns:a16="http://schemas.microsoft.com/office/drawing/2014/main" id="{274168C9-6DC0-37CF-E47D-317E59131BA0}"/>
              </a:ext>
            </a:extLst>
          </p:cNvPr>
          <p:cNvCxnSpPr>
            <a:stCxn id="11" idx="3"/>
            <a:endCxn id="25" idx="1"/>
          </p:cNvCxnSpPr>
          <p:nvPr/>
        </p:nvCxnSpPr>
        <p:spPr>
          <a:xfrm flipV="1">
            <a:off x="5003925" y="2737046"/>
            <a:ext cx="1128019" cy="7030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A9184613-24F0-FF68-7542-007A2DBDDD90}"/>
              </a:ext>
            </a:extLst>
          </p:cNvPr>
          <p:cNvCxnSpPr>
            <a:stCxn id="7" idx="3"/>
            <a:endCxn id="25" idx="1"/>
          </p:cNvCxnSpPr>
          <p:nvPr/>
        </p:nvCxnSpPr>
        <p:spPr>
          <a:xfrm flipV="1">
            <a:off x="5003925" y="2737046"/>
            <a:ext cx="1128019" cy="6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ttangolo 48">
            <a:extLst>
              <a:ext uri="{FF2B5EF4-FFF2-40B4-BE49-F238E27FC236}">
                <a16:creationId xmlns:a16="http://schemas.microsoft.com/office/drawing/2014/main" id="{D55625AA-BC78-85D8-9A3D-16E9BF5ECAF5}"/>
              </a:ext>
            </a:extLst>
          </p:cNvPr>
          <p:cNvSpPr/>
          <p:nvPr/>
        </p:nvSpPr>
        <p:spPr>
          <a:xfrm>
            <a:off x="7443348" y="4579182"/>
            <a:ext cx="2459588" cy="8084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Comparing</a:t>
            </a:r>
            <a:r>
              <a:rPr lang="it-IT" sz="1400" dirty="0"/>
              <a:t> the 2 </a:t>
            </a:r>
            <a:r>
              <a:rPr lang="it-IT" sz="1400" dirty="0" err="1"/>
              <a:t>voting</a:t>
            </a:r>
            <a:r>
              <a:rPr lang="it-IT" sz="1400" dirty="0"/>
              <a:t> systems on the </a:t>
            </a:r>
            <a:r>
              <a:rPr lang="it-IT" sz="1400" dirty="0" err="1"/>
              <a:t>validation</a:t>
            </a:r>
            <a:r>
              <a:rPr lang="it-IT" sz="1400" dirty="0"/>
              <a:t> set</a:t>
            </a:r>
          </a:p>
          <a:p>
            <a:pPr algn="ctr"/>
            <a:r>
              <a:rPr lang="it-IT" sz="1400" dirty="0"/>
              <a:t>(</a:t>
            </a:r>
            <a:r>
              <a:rPr lang="it-IT" sz="1400" dirty="0" err="1"/>
              <a:t>Balanced</a:t>
            </a:r>
            <a:r>
              <a:rPr lang="it-IT" sz="1400" dirty="0"/>
              <a:t> </a:t>
            </a:r>
            <a:r>
              <a:rPr lang="it-IT" sz="1400" dirty="0" err="1"/>
              <a:t>Accuracy</a:t>
            </a:r>
            <a:r>
              <a:rPr lang="it-IT" sz="1400" dirty="0"/>
              <a:t>)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161622A8-ADA5-402F-CC6A-73F269255E39}"/>
              </a:ext>
            </a:extLst>
          </p:cNvPr>
          <p:cNvSpPr/>
          <p:nvPr/>
        </p:nvSpPr>
        <p:spPr>
          <a:xfrm>
            <a:off x="4140774" y="4752471"/>
            <a:ext cx="1656672" cy="4618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Best Ensemble performer</a:t>
            </a: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EB50B19E-C3E6-961E-0F21-6BB421B9E198}"/>
              </a:ext>
            </a:extLst>
          </p:cNvPr>
          <p:cNvSpPr/>
          <p:nvPr/>
        </p:nvSpPr>
        <p:spPr>
          <a:xfrm>
            <a:off x="838200" y="4752471"/>
            <a:ext cx="1656672" cy="461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Comparison</a:t>
            </a:r>
            <a:r>
              <a:rPr lang="it-IT" sz="1400" dirty="0"/>
              <a:t> on Test Split</a:t>
            </a:r>
          </a:p>
        </p:txBody>
      </p: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75B7D7D1-6CD0-12A7-18F1-71EE3F4AEC0E}"/>
              </a:ext>
            </a:extLst>
          </p:cNvPr>
          <p:cNvCxnSpPr>
            <a:stCxn id="25" idx="2"/>
            <a:endCxn id="49" idx="0"/>
          </p:cNvCxnSpPr>
          <p:nvPr/>
        </p:nvCxnSpPr>
        <p:spPr>
          <a:xfrm>
            <a:off x="8673142" y="4136447"/>
            <a:ext cx="0" cy="442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2 56">
            <a:extLst>
              <a:ext uri="{FF2B5EF4-FFF2-40B4-BE49-F238E27FC236}">
                <a16:creationId xmlns:a16="http://schemas.microsoft.com/office/drawing/2014/main" id="{377A4372-C28F-3C8A-B39F-944FFC7C8224}"/>
              </a:ext>
            </a:extLst>
          </p:cNvPr>
          <p:cNvCxnSpPr>
            <a:stCxn id="49" idx="1"/>
            <a:endCxn id="51" idx="3"/>
          </p:cNvCxnSpPr>
          <p:nvPr/>
        </p:nvCxnSpPr>
        <p:spPr>
          <a:xfrm flipH="1" flipV="1">
            <a:off x="5797446" y="4983397"/>
            <a:ext cx="164590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56BF01E4-9EE7-ACCA-FE76-1A3CB53F356E}"/>
              </a:ext>
            </a:extLst>
          </p:cNvPr>
          <p:cNvCxnSpPr>
            <a:stCxn id="51" idx="1"/>
            <a:endCxn id="53" idx="3"/>
          </p:cNvCxnSpPr>
          <p:nvPr/>
        </p:nvCxnSpPr>
        <p:spPr>
          <a:xfrm flipH="1">
            <a:off x="2494872" y="4983397"/>
            <a:ext cx="16459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2 61">
            <a:extLst>
              <a:ext uri="{FF2B5EF4-FFF2-40B4-BE49-F238E27FC236}">
                <a16:creationId xmlns:a16="http://schemas.microsoft.com/office/drawing/2014/main" id="{A0BA764C-0028-2FEA-78EE-2E02535FB873}"/>
              </a:ext>
            </a:extLst>
          </p:cNvPr>
          <p:cNvCxnSpPr>
            <a:stCxn id="15" idx="0"/>
            <a:endCxn id="53" idx="2"/>
          </p:cNvCxnSpPr>
          <p:nvPr/>
        </p:nvCxnSpPr>
        <p:spPr>
          <a:xfrm flipV="1">
            <a:off x="1666536" y="5214323"/>
            <a:ext cx="0" cy="721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Segnaposto contenuto 2">
            <a:extLst>
              <a:ext uri="{FF2B5EF4-FFF2-40B4-BE49-F238E27FC236}">
                <a16:creationId xmlns:a16="http://schemas.microsoft.com/office/drawing/2014/main" id="{2757CA01-1002-40A8-69C5-DEA48B834ED1}"/>
              </a:ext>
            </a:extLst>
          </p:cNvPr>
          <p:cNvSpPr txBox="1">
            <a:spLocks/>
          </p:cNvSpPr>
          <p:nvPr/>
        </p:nvSpPr>
        <p:spPr bwMode="auto">
          <a:xfrm>
            <a:off x="6131944" y="5563096"/>
            <a:ext cx="5082396" cy="228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/>
              <a:t>Soft </a:t>
            </a:r>
            <a:r>
              <a:rPr lang="it-IT" sz="1400" dirty="0" err="1"/>
              <a:t>weighted</a:t>
            </a:r>
            <a:r>
              <a:rPr lang="it-IT" sz="1400" dirty="0"/>
              <a:t> </a:t>
            </a:r>
            <a:r>
              <a:rPr lang="it-IT" sz="1400" dirty="0" err="1"/>
              <a:t>voting</a:t>
            </a:r>
            <a:r>
              <a:rPr lang="it-IT" sz="1400" dirty="0"/>
              <a:t> won!</a:t>
            </a:r>
          </a:p>
        </p:txBody>
      </p:sp>
      <p:sp>
        <p:nvSpPr>
          <p:cNvPr id="66" name="Segnaposto contenuto 2">
            <a:extLst>
              <a:ext uri="{FF2B5EF4-FFF2-40B4-BE49-F238E27FC236}">
                <a16:creationId xmlns:a16="http://schemas.microsoft.com/office/drawing/2014/main" id="{467C049B-D791-4CB4-D5B4-1E3C3CDD0ABC}"/>
              </a:ext>
            </a:extLst>
          </p:cNvPr>
          <p:cNvSpPr txBox="1">
            <a:spLocks/>
          </p:cNvSpPr>
          <p:nvPr/>
        </p:nvSpPr>
        <p:spPr bwMode="auto">
          <a:xfrm>
            <a:off x="2967580" y="6084673"/>
            <a:ext cx="8386220" cy="286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dirty="0"/>
              <a:t>*The Ensemble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composed</a:t>
            </a:r>
            <a:r>
              <a:rPr lang="it-IT" sz="1400" dirty="0"/>
              <a:t> by the 3 </a:t>
            </a:r>
            <a:r>
              <a:rPr lang="it-IT" sz="1400" dirty="0" err="1"/>
              <a:t>already</a:t>
            </a:r>
            <a:r>
              <a:rPr lang="it-IT" sz="1400" dirty="0"/>
              <a:t> </a:t>
            </a:r>
            <a:r>
              <a:rPr lang="it-IT" sz="1400" dirty="0" err="1"/>
              <a:t>trained</a:t>
            </a:r>
            <a:r>
              <a:rPr lang="it-IT" sz="1400" dirty="0"/>
              <a:t> and best </a:t>
            </a:r>
            <a:r>
              <a:rPr lang="it-IT" sz="1400" dirty="0" err="1"/>
              <a:t>performing</a:t>
            </a:r>
            <a:r>
              <a:rPr lang="it-IT" sz="1400" dirty="0"/>
              <a:t> models </a:t>
            </a:r>
            <a:r>
              <a:rPr lang="it-IT" sz="1400" dirty="0" err="1"/>
              <a:t>seen</a:t>
            </a:r>
            <a:r>
              <a:rPr lang="it-IT" sz="1400" dirty="0"/>
              <a:t> </a:t>
            </a:r>
            <a:r>
              <a:rPr lang="it-IT" sz="1400" dirty="0" err="1"/>
              <a:t>previoulsy</a:t>
            </a:r>
            <a:r>
              <a:rPr lang="it-IT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5498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4798B-91EE-E479-17F6-01601284E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6B2FC2-CAA8-4579-F1FC-046690DA8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4166"/>
          </a:xfrm>
        </p:spPr>
        <p:txBody>
          <a:bodyPr/>
          <a:lstStyle/>
          <a:p>
            <a:r>
              <a:rPr lang="it-IT" dirty="0"/>
              <a:t>Ensemble – </a:t>
            </a:r>
            <a:r>
              <a:rPr lang="it-IT" dirty="0" err="1"/>
              <a:t>Comparison</a:t>
            </a:r>
            <a:r>
              <a:rPr lang="it-IT" dirty="0"/>
              <a:t> </a:t>
            </a:r>
            <a:r>
              <a:rPr lang="it-IT" dirty="0" err="1"/>
              <a:t>Results</a:t>
            </a:r>
            <a:endParaRPr lang="it-IT" dirty="0"/>
          </a:p>
        </p:txBody>
      </p:sp>
      <p:sp>
        <p:nvSpPr>
          <p:cNvPr id="66" name="Segnaposto contenuto 2">
            <a:extLst>
              <a:ext uri="{FF2B5EF4-FFF2-40B4-BE49-F238E27FC236}">
                <a16:creationId xmlns:a16="http://schemas.microsoft.com/office/drawing/2014/main" id="{506F60F0-65C8-125C-BFEE-1019A68C06CF}"/>
              </a:ext>
            </a:extLst>
          </p:cNvPr>
          <p:cNvSpPr txBox="1">
            <a:spLocks/>
          </p:cNvSpPr>
          <p:nvPr/>
        </p:nvSpPr>
        <p:spPr bwMode="auto">
          <a:xfrm>
            <a:off x="640511" y="3824728"/>
            <a:ext cx="10910978" cy="286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b="1" dirty="0" err="1"/>
              <a:t>ConvNeXt</a:t>
            </a:r>
            <a:endParaRPr lang="it-IT" sz="1400" b="1" dirty="0"/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60FC4941-9DC8-5010-21FA-17BC38DA4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49276"/>
              </p:ext>
            </p:extLst>
          </p:nvPr>
        </p:nvGraphicFramePr>
        <p:xfrm>
          <a:off x="640511" y="4340210"/>
          <a:ext cx="10910978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673">
                  <a:extLst>
                    <a:ext uri="{9D8B030D-6E8A-4147-A177-3AD203B41FA5}">
                      <a16:colId xmlns:a16="http://schemas.microsoft.com/office/drawing/2014/main" val="3005499671"/>
                    </a:ext>
                  </a:extLst>
                </a:gridCol>
                <a:gridCol w="1176686">
                  <a:extLst>
                    <a:ext uri="{9D8B030D-6E8A-4147-A177-3AD203B41FA5}">
                      <a16:colId xmlns:a16="http://schemas.microsoft.com/office/drawing/2014/main" val="4251709622"/>
                    </a:ext>
                  </a:extLst>
                </a:gridCol>
                <a:gridCol w="1268753">
                  <a:extLst>
                    <a:ext uri="{9D8B030D-6E8A-4147-A177-3AD203B41FA5}">
                      <a16:colId xmlns:a16="http://schemas.microsoft.com/office/drawing/2014/main" val="566477960"/>
                    </a:ext>
                  </a:extLst>
                </a:gridCol>
                <a:gridCol w="1032934">
                  <a:extLst>
                    <a:ext uri="{9D8B030D-6E8A-4147-A177-3AD203B41FA5}">
                      <a16:colId xmlns:a16="http://schemas.microsoft.com/office/drawing/2014/main" val="426997274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195058313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292583598"/>
                    </a:ext>
                  </a:extLst>
                </a:gridCol>
                <a:gridCol w="1024466">
                  <a:extLst>
                    <a:ext uri="{9D8B030D-6E8A-4147-A177-3AD203B41FA5}">
                      <a16:colId xmlns:a16="http://schemas.microsoft.com/office/drawing/2014/main" val="2609613875"/>
                    </a:ext>
                  </a:extLst>
                </a:gridCol>
                <a:gridCol w="774606">
                  <a:extLst>
                    <a:ext uri="{9D8B030D-6E8A-4147-A177-3AD203B41FA5}">
                      <a16:colId xmlns:a16="http://schemas.microsoft.com/office/drawing/2014/main" val="1483795687"/>
                    </a:ext>
                  </a:extLst>
                </a:gridCol>
                <a:gridCol w="1102830">
                  <a:extLst>
                    <a:ext uri="{9D8B030D-6E8A-4147-A177-3AD203B41FA5}">
                      <a16:colId xmlns:a16="http://schemas.microsoft.com/office/drawing/2014/main" val="3998743104"/>
                    </a:ext>
                  </a:extLst>
                </a:gridCol>
                <a:gridCol w="1102830">
                  <a:extLst>
                    <a:ext uri="{9D8B030D-6E8A-4147-A177-3AD203B41FA5}">
                      <a16:colId xmlns:a16="http://schemas.microsoft.com/office/drawing/2014/main" val="279493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N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Accuracy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Balanced</a:t>
                      </a:r>
                      <a:r>
                        <a:rPr lang="it-IT" sz="1600" dirty="0"/>
                        <a:t> </a:t>
                      </a:r>
                      <a:r>
                        <a:rPr lang="it-IT" sz="1600" dirty="0" err="1"/>
                        <a:t>accuracy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PR-AUC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21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0.1056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0.97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0.94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98980760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48BF0495-740D-4B0B-F25C-409FE8537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188494"/>
              </p:ext>
            </p:extLst>
          </p:nvPr>
        </p:nvGraphicFramePr>
        <p:xfrm>
          <a:off x="640511" y="2029376"/>
          <a:ext cx="10910978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673">
                  <a:extLst>
                    <a:ext uri="{9D8B030D-6E8A-4147-A177-3AD203B41FA5}">
                      <a16:colId xmlns:a16="http://schemas.microsoft.com/office/drawing/2014/main" val="3005499671"/>
                    </a:ext>
                  </a:extLst>
                </a:gridCol>
                <a:gridCol w="1176686">
                  <a:extLst>
                    <a:ext uri="{9D8B030D-6E8A-4147-A177-3AD203B41FA5}">
                      <a16:colId xmlns:a16="http://schemas.microsoft.com/office/drawing/2014/main" val="4251709622"/>
                    </a:ext>
                  </a:extLst>
                </a:gridCol>
                <a:gridCol w="1268753">
                  <a:extLst>
                    <a:ext uri="{9D8B030D-6E8A-4147-A177-3AD203B41FA5}">
                      <a16:colId xmlns:a16="http://schemas.microsoft.com/office/drawing/2014/main" val="566477960"/>
                    </a:ext>
                  </a:extLst>
                </a:gridCol>
                <a:gridCol w="1032934">
                  <a:extLst>
                    <a:ext uri="{9D8B030D-6E8A-4147-A177-3AD203B41FA5}">
                      <a16:colId xmlns:a16="http://schemas.microsoft.com/office/drawing/2014/main" val="426997274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195058313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292583598"/>
                    </a:ext>
                  </a:extLst>
                </a:gridCol>
                <a:gridCol w="1024466">
                  <a:extLst>
                    <a:ext uri="{9D8B030D-6E8A-4147-A177-3AD203B41FA5}">
                      <a16:colId xmlns:a16="http://schemas.microsoft.com/office/drawing/2014/main" val="2609613875"/>
                    </a:ext>
                  </a:extLst>
                </a:gridCol>
                <a:gridCol w="774606">
                  <a:extLst>
                    <a:ext uri="{9D8B030D-6E8A-4147-A177-3AD203B41FA5}">
                      <a16:colId xmlns:a16="http://schemas.microsoft.com/office/drawing/2014/main" val="1483795687"/>
                    </a:ext>
                  </a:extLst>
                </a:gridCol>
                <a:gridCol w="1102830">
                  <a:extLst>
                    <a:ext uri="{9D8B030D-6E8A-4147-A177-3AD203B41FA5}">
                      <a16:colId xmlns:a16="http://schemas.microsoft.com/office/drawing/2014/main" val="3998743104"/>
                    </a:ext>
                  </a:extLst>
                </a:gridCol>
                <a:gridCol w="1102830">
                  <a:extLst>
                    <a:ext uri="{9D8B030D-6E8A-4147-A177-3AD203B41FA5}">
                      <a16:colId xmlns:a16="http://schemas.microsoft.com/office/drawing/2014/main" val="279493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N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Accuracy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/>
                        <a:t>Balanced</a:t>
                      </a:r>
                      <a:r>
                        <a:rPr lang="it-IT" sz="1600" dirty="0"/>
                        <a:t> </a:t>
                      </a:r>
                      <a:r>
                        <a:rPr lang="it-IT" sz="1600" dirty="0" err="1"/>
                        <a:t>accuracy</a:t>
                      </a:r>
                      <a:endParaRPr lang="it-I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PR-AUC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21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0.97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0.97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98980760"/>
                  </a:ext>
                </a:extLst>
              </a:tr>
            </a:tbl>
          </a:graphicData>
        </a:graphic>
      </p:graphicFrame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3BABA5BE-0863-DAD4-81A3-41104BA22D85}"/>
              </a:ext>
            </a:extLst>
          </p:cNvPr>
          <p:cNvSpPr txBox="1">
            <a:spLocks/>
          </p:cNvSpPr>
          <p:nvPr/>
        </p:nvSpPr>
        <p:spPr bwMode="auto">
          <a:xfrm>
            <a:off x="640511" y="1567830"/>
            <a:ext cx="10910978" cy="286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t-IT" sz="1400" b="1" dirty="0"/>
              <a:t>Ensemble, soft </a:t>
            </a:r>
            <a:r>
              <a:rPr lang="it-IT" sz="1400" b="1" dirty="0" err="1"/>
              <a:t>weighted</a:t>
            </a:r>
            <a:r>
              <a:rPr lang="it-IT" sz="1400" b="1" dirty="0"/>
              <a:t> </a:t>
            </a:r>
            <a:r>
              <a:rPr lang="it-IT" sz="1400" b="1" dirty="0" err="1"/>
              <a:t>voting</a:t>
            </a:r>
            <a:endParaRPr lang="it-IT" sz="1400" b="1" dirty="0"/>
          </a:p>
        </p:txBody>
      </p:sp>
    </p:spTree>
    <p:extLst>
      <p:ext uri="{BB962C8B-B14F-4D97-AF65-F5344CB8AC3E}">
        <p14:creationId xmlns:p14="http://schemas.microsoft.com/office/powerpoint/2010/main" val="2024649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339D23-255E-714F-9AED-F55D5430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Conclusions</a:t>
            </a:r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DC0E984-7ADE-9A5B-B619-C35BE0E19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1" y="3016251"/>
            <a:ext cx="5157787" cy="494371"/>
          </a:xfrm>
        </p:spPr>
        <p:txBody>
          <a:bodyPr/>
          <a:lstStyle/>
          <a:p>
            <a:pPr algn="ctr"/>
            <a:r>
              <a:rPr lang="it-IT" sz="2800" dirty="0"/>
              <a:t>Ensemble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65B885-E5FE-8347-DA11-C2845335B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1" y="3840163"/>
            <a:ext cx="5157787" cy="221085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it-IT" sz="2400" dirty="0"/>
              <a:t> SVM, </a:t>
            </a:r>
            <a:r>
              <a:rPr lang="it-IT" sz="2400" dirty="0" err="1"/>
              <a:t>XGBoost</a:t>
            </a:r>
            <a:r>
              <a:rPr lang="it-IT" sz="2400" dirty="0"/>
              <a:t>, CNN are </a:t>
            </a:r>
            <a:r>
              <a:rPr lang="it-IT" sz="2400" dirty="0" err="1"/>
              <a:t>trained</a:t>
            </a:r>
            <a:r>
              <a:rPr lang="it-IT" sz="2400" dirty="0"/>
              <a:t> on personal machine, </a:t>
            </a:r>
            <a:r>
              <a:rPr lang="it-IT" sz="2400" dirty="0" err="1"/>
              <a:t>less</a:t>
            </a:r>
            <a:r>
              <a:rPr lang="it-IT" sz="2400" dirty="0"/>
              <a:t> </a:t>
            </a:r>
            <a:r>
              <a:rPr lang="it-IT" sz="2400" dirty="0" err="1"/>
              <a:t>computational</a:t>
            </a:r>
            <a:r>
              <a:rPr lang="it-IT" sz="2400" dirty="0"/>
              <a:t> </a:t>
            </a:r>
            <a:r>
              <a:rPr lang="it-IT" sz="2400" dirty="0" err="1"/>
              <a:t>requirements</a:t>
            </a:r>
            <a:r>
              <a:rPr lang="it-IT" sz="2400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it-IT" sz="2400" dirty="0"/>
              <a:t> Must handle 3 </a:t>
            </a:r>
            <a:r>
              <a:rPr lang="it-IT" sz="2400" dirty="0" err="1"/>
              <a:t>different</a:t>
            </a:r>
            <a:r>
              <a:rPr lang="it-IT" sz="2400" dirty="0"/>
              <a:t> models.</a:t>
            </a:r>
          </a:p>
          <a:p>
            <a:endParaRPr lang="it-IT" sz="2400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CC331C2-799A-B410-E67D-18AE9EF6D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3" y="3016251"/>
            <a:ext cx="5183188" cy="494371"/>
          </a:xfrm>
        </p:spPr>
        <p:txBody>
          <a:bodyPr/>
          <a:lstStyle/>
          <a:p>
            <a:pPr algn="ctr"/>
            <a:r>
              <a:rPr lang="it-IT" sz="2800" dirty="0" err="1"/>
              <a:t>ConvNeXt</a:t>
            </a:r>
            <a:endParaRPr lang="it-IT" sz="2800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6AA8CA5-2AF4-6BE6-F843-D087FA556C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3" y="3840163"/>
            <a:ext cx="5183188" cy="2210858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it-IT" sz="2400" dirty="0"/>
              <a:t> </a:t>
            </a:r>
            <a:r>
              <a:rPr lang="it-IT" sz="2400" dirty="0" err="1"/>
              <a:t>ConNeXt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trained</a:t>
            </a:r>
            <a:r>
              <a:rPr lang="it-IT" sz="2400" dirty="0"/>
              <a:t> on </a:t>
            </a:r>
            <a:r>
              <a:rPr lang="it-IT" sz="2400" dirty="0" err="1"/>
              <a:t>external</a:t>
            </a:r>
            <a:r>
              <a:rPr lang="it-IT" sz="2400" dirty="0"/>
              <a:t> machine with a more </a:t>
            </a:r>
            <a:r>
              <a:rPr lang="it-IT" sz="2400" dirty="0" err="1"/>
              <a:t>powerful</a:t>
            </a:r>
            <a:r>
              <a:rPr lang="it-IT" sz="2400" dirty="0"/>
              <a:t> GPU. More </a:t>
            </a:r>
            <a:r>
              <a:rPr lang="it-IT" sz="2400" dirty="0" err="1"/>
              <a:t>computational</a:t>
            </a:r>
            <a:r>
              <a:rPr lang="it-IT" sz="2400" dirty="0"/>
              <a:t> power </a:t>
            </a:r>
            <a:r>
              <a:rPr lang="it-IT" sz="2400" dirty="0" err="1"/>
              <a:t>required</a:t>
            </a:r>
            <a:r>
              <a:rPr lang="it-IT" sz="2400" dirty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it-IT" sz="2400" dirty="0"/>
              <a:t> </a:t>
            </a:r>
            <a:r>
              <a:rPr lang="it-IT" sz="2400" dirty="0" err="1"/>
              <a:t>Only</a:t>
            </a:r>
            <a:r>
              <a:rPr lang="it-IT" sz="2400" dirty="0"/>
              <a:t> one model to handle.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FE5166C-D071-0D8A-7047-8710069BE87D}"/>
              </a:ext>
            </a:extLst>
          </p:cNvPr>
          <p:cNvSpPr txBox="1"/>
          <p:nvPr/>
        </p:nvSpPr>
        <p:spPr>
          <a:xfrm>
            <a:off x="836612" y="1604985"/>
            <a:ext cx="105155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dirty="0"/>
              <a:t>Performances </a:t>
            </a:r>
            <a:r>
              <a:rPr lang="it-IT" sz="2400" dirty="0" err="1"/>
              <a:t>between</a:t>
            </a:r>
            <a:r>
              <a:rPr lang="it-IT" sz="2400" dirty="0"/>
              <a:t> ensemble and </a:t>
            </a:r>
            <a:r>
              <a:rPr lang="it-IT" sz="2400" dirty="0" err="1"/>
              <a:t>ConvNeXt</a:t>
            </a:r>
            <a:r>
              <a:rPr lang="it-IT" sz="2400" dirty="0"/>
              <a:t> are comparable </a:t>
            </a:r>
            <a:r>
              <a:rPr lang="it-IT" sz="2400" dirty="0" err="1"/>
              <a:t>because</a:t>
            </a:r>
            <a:r>
              <a:rPr lang="it-IT" sz="2400" dirty="0"/>
              <a:t> </a:t>
            </a:r>
            <a:r>
              <a:rPr lang="it-IT" sz="2400" dirty="0" err="1"/>
              <a:t>all</a:t>
            </a:r>
            <a:r>
              <a:rPr lang="it-IT" sz="2400" dirty="0"/>
              <a:t> the models are </a:t>
            </a:r>
            <a:r>
              <a:rPr lang="it-IT" sz="2400" dirty="0" err="1"/>
              <a:t>evaluated</a:t>
            </a:r>
            <a:r>
              <a:rPr lang="it-IT" sz="2400" dirty="0"/>
              <a:t> on the </a:t>
            </a:r>
            <a:r>
              <a:rPr lang="it-IT" sz="2400" dirty="0" err="1"/>
              <a:t>same</a:t>
            </a:r>
            <a:r>
              <a:rPr lang="it-IT" sz="2400" dirty="0"/>
              <a:t> test split.</a:t>
            </a:r>
          </a:p>
        </p:txBody>
      </p:sp>
    </p:spTree>
    <p:extLst>
      <p:ext uri="{BB962C8B-B14F-4D97-AF65-F5344CB8AC3E}">
        <p14:creationId xmlns:p14="http://schemas.microsoft.com/office/powerpoint/2010/main" val="3258775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olo 8">
            <a:extLst>
              <a:ext uri="{FF2B5EF4-FFF2-40B4-BE49-F238E27FC236}">
                <a16:creationId xmlns:a16="http://schemas.microsoft.com/office/drawing/2014/main" id="{EFEF7906-AE21-7CBB-492B-AA5427EE5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6522720" cy="1087819"/>
          </a:xfrm>
        </p:spPr>
        <p:txBody>
          <a:bodyPr anchor="b">
            <a:normAutofit/>
          </a:bodyPr>
          <a:lstStyle/>
          <a:p>
            <a:r>
              <a:rPr lang="it-IT" sz="3400" b="1" dirty="0"/>
              <a:t>GELU</a:t>
            </a:r>
            <a:r>
              <a:rPr lang="it-IT" sz="3400" dirty="0"/>
              <a:t> </a:t>
            </a:r>
            <a:r>
              <a:rPr lang="it-IT" sz="3400" dirty="0" err="1"/>
              <a:t>activation</a:t>
            </a:r>
            <a:r>
              <a:rPr lang="it-IT" sz="3400" dirty="0"/>
              <a:t> </a:t>
            </a:r>
            <a:r>
              <a:rPr lang="it-IT" sz="3400" dirty="0" err="1"/>
              <a:t>function</a:t>
            </a:r>
            <a:br>
              <a:rPr lang="it-IT" sz="3400" dirty="0"/>
            </a:br>
            <a:r>
              <a:rPr lang="it-IT" sz="3400" dirty="0"/>
              <a:t>(</a:t>
            </a:r>
            <a:r>
              <a:rPr lang="it-IT" sz="3400" dirty="0" err="1"/>
              <a:t>Gaussian</a:t>
            </a:r>
            <a:r>
              <a:rPr lang="it-IT" sz="3400" dirty="0"/>
              <a:t> Error Linear Unit)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5D12AFAA-0015-7E43-409F-022025F3D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4095"/>
            <a:ext cx="6734387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/>
              <a:t>While </a:t>
            </a:r>
            <a:r>
              <a:rPr lang="it-IT" sz="2000" dirty="0" err="1"/>
              <a:t>ReLU</a:t>
            </a:r>
            <a:r>
              <a:rPr lang="it-IT" sz="2000" dirty="0"/>
              <a:t> sets </a:t>
            </a:r>
            <a:r>
              <a:rPr lang="it-IT" sz="2000" dirty="0" err="1"/>
              <a:t>all</a:t>
            </a:r>
            <a:r>
              <a:rPr lang="it-IT" sz="2000" dirty="0"/>
              <a:t> negative </a:t>
            </a:r>
            <a:r>
              <a:rPr lang="it-IT" sz="2000" dirty="0" err="1"/>
              <a:t>values</a:t>
            </a:r>
            <a:r>
              <a:rPr lang="it-IT" sz="2000" dirty="0"/>
              <a:t> to zero, </a:t>
            </a:r>
            <a:r>
              <a:rPr lang="it-IT" sz="2000" b="1" dirty="0"/>
              <a:t>GELU</a:t>
            </a:r>
            <a:r>
              <a:rPr lang="it-IT" sz="2000" dirty="0"/>
              <a:t> </a:t>
            </a:r>
            <a:r>
              <a:rPr lang="it-IT" sz="2000" dirty="0" err="1"/>
              <a:t>allows</a:t>
            </a:r>
            <a:r>
              <a:rPr lang="it-IT" sz="2000" dirty="0"/>
              <a:t> small negative </a:t>
            </a:r>
            <a:r>
              <a:rPr lang="it-IT" sz="2000" dirty="0" err="1"/>
              <a:t>values</a:t>
            </a:r>
            <a:r>
              <a:rPr lang="it-IT" sz="2000" dirty="0"/>
              <a:t> to pass </a:t>
            </a:r>
            <a:r>
              <a:rPr lang="it-IT" sz="2000" dirty="0" err="1"/>
              <a:t>through</a:t>
            </a:r>
            <a:r>
              <a:rPr lang="it-IT" sz="2000" dirty="0"/>
              <a:t> </a:t>
            </a:r>
            <a:r>
              <a:rPr lang="it-IT" sz="2000" dirty="0" err="1"/>
              <a:t>gradually</a:t>
            </a:r>
            <a:r>
              <a:rPr lang="it-IT" sz="2000" dirty="0"/>
              <a:t>, so small inputs can </a:t>
            </a:r>
            <a:r>
              <a:rPr lang="it-IT" sz="2000" dirty="0" err="1"/>
              <a:t>still</a:t>
            </a:r>
            <a:r>
              <a:rPr lang="it-IT" sz="2000" dirty="0"/>
              <a:t> </a:t>
            </a:r>
            <a:r>
              <a:rPr lang="it-IT" sz="2000" dirty="0" err="1"/>
              <a:t>contribute</a:t>
            </a:r>
            <a:r>
              <a:rPr lang="it-IT" sz="2000" dirty="0"/>
              <a:t> to the output.</a:t>
            </a:r>
            <a:br>
              <a:rPr lang="it-IT" sz="2000" dirty="0"/>
            </a:br>
            <a:r>
              <a:rPr lang="it-IT" sz="2000" dirty="0"/>
              <a:t>GELU </a:t>
            </a:r>
            <a:r>
              <a:rPr lang="it-IT" sz="2000" dirty="0" err="1"/>
              <a:t>smoothly</a:t>
            </a:r>
            <a:r>
              <a:rPr lang="it-IT" sz="2000" dirty="0"/>
              <a:t> weights </a:t>
            </a:r>
            <a:r>
              <a:rPr lang="it-IT" sz="2000" dirty="0" err="1"/>
              <a:t>each</a:t>
            </a:r>
            <a:r>
              <a:rPr lang="it-IT" sz="2000" dirty="0"/>
              <a:t> input by </a:t>
            </a:r>
            <a:r>
              <a:rPr lang="it-IT" sz="2000" dirty="0" err="1"/>
              <a:t>its</a:t>
            </a:r>
            <a:r>
              <a:rPr lang="it-IT" sz="2000" dirty="0"/>
              <a:t> </a:t>
            </a:r>
            <a:r>
              <a:rPr lang="it-IT" sz="2000" dirty="0" err="1"/>
              <a:t>probability</a:t>
            </a:r>
            <a:r>
              <a:rPr lang="it-IT" sz="2000" dirty="0"/>
              <a:t> of </a:t>
            </a:r>
            <a:r>
              <a:rPr lang="it-IT" sz="2000" dirty="0" err="1"/>
              <a:t>being</a:t>
            </a:r>
            <a:r>
              <a:rPr lang="it-IT" sz="2000" dirty="0"/>
              <a:t> positive under a </a:t>
            </a:r>
            <a:r>
              <a:rPr lang="it-IT" sz="2000" dirty="0" err="1"/>
              <a:t>Gaussian</a:t>
            </a:r>
            <a:r>
              <a:rPr lang="it-IT" sz="2000" dirty="0"/>
              <a:t> </a:t>
            </a:r>
            <a:r>
              <a:rPr lang="it-IT" sz="2000" dirty="0" err="1"/>
              <a:t>distribution</a:t>
            </a:r>
            <a:r>
              <a:rPr lang="it-IT" sz="2000" dirty="0"/>
              <a:t>.</a:t>
            </a:r>
          </a:p>
        </p:txBody>
      </p:sp>
      <p:pic>
        <p:nvPicPr>
          <p:cNvPr id="11" name="Immagine 10" descr="Plot showing GELU as a smooth S-shaped curve with slight negative dip.">
            <a:extLst>
              <a:ext uri="{FF2B5EF4-FFF2-40B4-BE49-F238E27FC236}">
                <a16:creationId xmlns:a16="http://schemas.microsoft.com/office/drawing/2014/main" id="{12D3F99F-382B-7EF6-DB39-71F62B86D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347" y="1671104"/>
            <a:ext cx="4223173" cy="351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20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7C7B53-FB7C-E6FE-4D8F-5F05ED50C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AdamW</a:t>
            </a:r>
            <a:r>
              <a:rPr lang="it-IT" dirty="0"/>
              <a:t> </a:t>
            </a:r>
            <a:r>
              <a:rPr lang="it-IT" dirty="0" err="1"/>
              <a:t>optimizer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750F09-C72C-91FC-A1E2-19BB515FA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04042"/>
          </a:xfrm>
        </p:spPr>
        <p:txBody>
          <a:bodyPr/>
          <a:lstStyle/>
          <a:p>
            <a:r>
              <a:rPr lang="it-IT" sz="2400" dirty="0" err="1"/>
              <a:t>Is</a:t>
            </a:r>
            <a:r>
              <a:rPr lang="it-IT" sz="2400" dirty="0"/>
              <a:t> an </a:t>
            </a:r>
            <a:r>
              <a:rPr lang="it-IT" sz="2400" b="1" dirty="0" err="1"/>
              <a:t>adaptive</a:t>
            </a:r>
            <a:r>
              <a:rPr lang="it-IT" sz="2400" b="1" dirty="0"/>
              <a:t> </a:t>
            </a:r>
            <a:r>
              <a:rPr lang="it-IT" sz="2400" b="1" dirty="0" err="1"/>
              <a:t>optimizer</a:t>
            </a:r>
            <a:r>
              <a:rPr lang="it-IT" sz="2400" dirty="0"/>
              <a:t>. For </a:t>
            </a:r>
            <a:r>
              <a:rPr lang="it-IT" sz="2400" dirty="0" err="1"/>
              <a:t>every</a:t>
            </a:r>
            <a:r>
              <a:rPr lang="it-IT" sz="2400" dirty="0"/>
              <a:t> </a:t>
            </a:r>
            <a:r>
              <a:rPr lang="it-IT" sz="2400" dirty="0" err="1"/>
              <a:t>parameters</a:t>
            </a:r>
            <a:r>
              <a:rPr lang="it-IT" sz="2400" dirty="0"/>
              <a:t> </a:t>
            </a:r>
            <a:r>
              <a:rPr lang="it-IT" sz="2400" dirty="0" err="1"/>
              <a:t>it</a:t>
            </a:r>
            <a:r>
              <a:rPr lang="it-IT" sz="2400" dirty="0"/>
              <a:t> tracks</a:t>
            </a:r>
          </a:p>
          <a:p>
            <a:pPr lvl="1"/>
            <a:r>
              <a:rPr lang="it-IT" dirty="0"/>
              <a:t>Mean of </a:t>
            </a:r>
            <a:r>
              <a:rPr lang="it-IT" dirty="0" err="1"/>
              <a:t>past</a:t>
            </a:r>
            <a:r>
              <a:rPr lang="it-IT" dirty="0"/>
              <a:t> </a:t>
            </a:r>
            <a:r>
              <a:rPr lang="it-IT" dirty="0" err="1"/>
              <a:t>gradients</a:t>
            </a:r>
            <a:r>
              <a:rPr lang="it-IT" dirty="0"/>
              <a:t> (the </a:t>
            </a:r>
            <a:r>
              <a:rPr lang="it-IT" dirty="0" err="1"/>
              <a:t>average</a:t>
            </a:r>
            <a:r>
              <a:rPr lang="it-IT" dirty="0"/>
              <a:t> update </a:t>
            </a:r>
            <a:r>
              <a:rPr lang="it-IT" dirty="0" err="1"/>
              <a:t>direction</a:t>
            </a:r>
            <a:r>
              <a:rPr lang="it-IT" dirty="0"/>
              <a:t>).</a:t>
            </a:r>
          </a:p>
          <a:p>
            <a:pPr lvl="1"/>
            <a:r>
              <a:rPr lang="it-IT" dirty="0" err="1"/>
              <a:t>Squared</a:t>
            </a:r>
            <a:r>
              <a:rPr lang="it-IT" dirty="0"/>
              <a:t> </a:t>
            </a:r>
            <a:r>
              <a:rPr lang="it-IT" dirty="0" err="1"/>
              <a:t>mean</a:t>
            </a:r>
            <a:r>
              <a:rPr lang="it-IT" dirty="0"/>
              <a:t> of </a:t>
            </a:r>
            <a:r>
              <a:rPr lang="it-IT" dirty="0" err="1"/>
              <a:t>past</a:t>
            </a:r>
            <a:r>
              <a:rPr lang="it-IT" dirty="0"/>
              <a:t> </a:t>
            </a:r>
            <a:r>
              <a:rPr lang="it-IT" dirty="0" err="1"/>
              <a:t>gradients</a:t>
            </a:r>
            <a:r>
              <a:rPr lang="it-IT" dirty="0"/>
              <a:t> (</a:t>
            </a:r>
            <a:r>
              <a:rPr lang="it-IT" dirty="0" err="1"/>
              <a:t>when</a:t>
            </a:r>
            <a:r>
              <a:rPr lang="it-IT" dirty="0"/>
              <a:t> the </a:t>
            </a:r>
            <a:r>
              <a:rPr lang="it-IT" dirty="0" err="1"/>
              <a:t>gradient</a:t>
            </a:r>
            <a:r>
              <a:rPr lang="it-IT" dirty="0"/>
              <a:t> </a:t>
            </a:r>
            <a:r>
              <a:rPr lang="it-IT" dirty="0" err="1"/>
              <a:t>changes</a:t>
            </a:r>
            <a:r>
              <a:rPr lang="it-IT" dirty="0"/>
              <a:t>).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it-IT" sz="2400" dirty="0">
                <a:sym typeface="Wingdings" panose="05000000000000000000" pitchFamily="2" charset="2"/>
              </a:rPr>
              <a:t> Every </a:t>
            </a:r>
            <a:r>
              <a:rPr lang="it-IT" sz="2400" dirty="0" err="1">
                <a:sym typeface="Wingdings" panose="05000000000000000000" pitchFamily="2" charset="2"/>
              </a:rPr>
              <a:t>parameters</a:t>
            </a:r>
            <a:r>
              <a:rPr lang="it-IT" sz="2400" dirty="0">
                <a:sym typeface="Wingdings" panose="05000000000000000000" pitchFamily="2" charset="2"/>
              </a:rPr>
              <a:t> </a:t>
            </a:r>
            <a:r>
              <a:rPr lang="it-IT" sz="2400" dirty="0" err="1">
                <a:sym typeface="Wingdings" panose="05000000000000000000" pitchFamily="2" charset="2"/>
              </a:rPr>
              <a:t>receives</a:t>
            </a:r>
            <a:r>
              <a:rPr lang="it-IT" sz="2400" dirty="0">
                <a:sym typeface="Wingdings" panose="05000000000000000000" pitchFamily="2" charset="2"/>
              </a:rPr>
              <a:t> a </a:t>
            </a:r>
            <a:r>
              <a:rPr lang="it-IT" sz="2400" b="1" dirty="0">
                <a:sym typeface="Wingdings" panose="05000000000000000000" pitchFamily="2" charset="2"/>
              </a:rPr>
              <a:t>custom learning rate</a:t>
            </a:r>
            <a:r>
              <a:rPr lang="it-IT" sz="2400" dirty="0">
                <a:sym typeface="Wingdings" panose="05000000000000000000" pitchFamily="2" charset="2"/>
              </a:rPr>
              <a:t>.</a:t>
            </a:r>
          </a:p>
          <a:p>
            <a:pPr>
              <a:buFont typeface="Wingdings" panose="05000000000000000000" pitchFamily="2" charset="2"/>
              <a:buChar char="à"/>
            </a:pPr>
            <a:endParaRPr lang="it-IT" sz="2400" dirty="0">
              <a:sym typeface="Wingdings" panose="05000000000000000000" pitchFamily="2" charset="2"/>
            </a:endParaRPr>
          </a:p>
          <a:p>
            <a:r>
              <a:rPr lang="it-IT" sz="2400" dirty="0">
                <a:sym typeface="Wingdings" panose="05000000000000000000" pitchFamily="2" charset="2"/>
              </a:rPr>
              <a:t>Weight </a:t>
            </a:r>
            <a:r>
              <a:rPr lang="it-IT" sz="2400" dirty="0" err="1">
                <a:sym typeface="Wingdings" panose="05000000000000000000" pitchFamily="2" charset="2"/>
              </a:rPr>
              <a:t>decay</a:t>
            </a:r>
            <a:r>
              <a:rPr lang="it-IT" sz="2400" dirty="0">
                <a:sym typeface="Wingdings" panose="05000000000000000000" pitchFamily="2" charset="2"/>
              </a:rPr>
              <a:t> </a:t>
            </a:r>
            <a:r>
              <a:rPr lang="it-IT" sz="2400" dirty="0" err="1">
                <a:sym typeface="Wingdings" panose="05000000000000000000" pitchFamily="2" charset="2"/>
              </a:rPr>
              <a:t>is</a:t>
            </a:r>
            <a:r>
              <a:rPr lang="it-IT" sz="2400" dirty="0">
                <a:sym typeface="Wingdings" panose="05000000000000000000" pitchFamily="2" charset="2"/>
              </a:rPr>
              <a:t> </a:t>
            </a:r>
            <a:r>
              <a:rPr lang="it-IT" sz="2400" dirty="0" err="1">
                <a:sym typeface="Wingdings" panose="05000000000000000000" pitchFamily="2" charset="2"/>
              </a:rPr>
              <a:t>applied</a:t>
            </a:r>
            <a:r>
              <a:rPr lang="it-IT" sz="2400" dirty="0">
                <a:sym typeface="Wingdings" panose="05000000000000000000" pitchFamily="2" charset="2"/>
              </a:rPr>
              <a:t> </a:t>
            </a:r>
            <a:r>
              <a:rPr lang="it-IT" sz="2400" dirty="0" err="1">
                <a:sym typeface="Wingdings" panose="05000000000000000000" pitchFamily="2" charset="2"/>
              </a:rPr>
              <a:t>at</a:t>
            </a:r>
            <a:r>
              <a:rPr lang="it-IT" sz="2400" dirty="0">
                <a:sym typeface="Wingdings" panose="05000000000000000000" pitchFamily="2" charset="2"/>
              </a:rPr>
              <a:t> </a:t>
            </a:r>
            <a:r>
              <a:rPr lang="it-IT" sz="2400" dirty="0" err="1">
                <a:sym typeface="Wingdings" panose="05000000000000000000" pitchFamily="2" charset="2"/>
              </a:rPr>
              <a:t>every</a:t>
            </a:r>
            <a:r>
              <a:rPr lang="it-IT" sz="2400" dirty="0">
                <a:sym typeface="Wingdings" panose="05000000000000000000" pitchFamily="2" charset="2"/>
              </a:rPr>
              <a:t> step </a:t>
            </a:r>
            <a:r>
              <a:rPr lang="it-IT" sz="2400" dirty="0" err="1">
                <a:sym typeface="Wingdings" panose="05000000000000000000" pitchFamily="2" charset="2"/>
              </a:rPr>
              <a:t>slightly</a:t>
            </a:r>
            <a:r>
              <a:rPr lang="it-IT" sz="2400" dirty="0">
                <a:sym typeface="Wingdings" panose="05000000000000000000" pitchFamily="2" charset="2"/>
              </a:rPr>
              <a:t> </a:t>
            </a:r>
            <a:r>
              <a:rPr lang="it-IT" sz="2400" b="1" dirty="0" err="1">
                <a:sym typeface="Wingdings" panose="05000000000000000000" pitchFamily="2" charset="2"/>
              </a:rPr>
              <a:t>reducing</a:t>
            </a:r>
            <a:r>
              <a:rPr lang="it-IT" sz="2400" dirty="0">
                <a:sym typeface="Wingdings" panose="05000000000000000000" pitchFamily="2" charset="2"/>
              </a:rPr>
              <a:t> the weights.</a:t>
            </a:r>
            <a:endParaRPr lang="it-IT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84726401-A544-DC55-47BD-B159783048B0}"/>
                  </a:ext>
                </a:extLst>
              </p:cNvPr>
              <p:cNvSpPr txBox="1"/>
              <p:nvPr/>
            </p:nvSpPr>
            <p:spPr>
              <a:xfrm>
                <a:off x="2832100" y="4944534"/>
                <a:ext cx="6527800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it-IT" i="1" smtClean="0">
                          <a:latin typeface="Cambria Math" panose="02040503050406030204" pitchFamily="18" charset="0"/>
                        </a:rPr>
                        <m:t>←</m:t>
                      </m:r>
                      <m:d>
                        <m:d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it-IT" i="1" smtClean="0">
                              <a:latin typeface="Cambria Math" panose="02040503050406030204" pitchFamily="18" charset="0"/>
                            </a:rPr>
                            <m:t>𝜂𝜆</m:t>
                          </m:r>
                        </m:e>
                      </m:d>
                      <m:r>
                        <a:rPr lang="it-IT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it-IT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it-IT" i="0" smtClean="0">
                          <a:latin typeface="Cambria Math" panose="02040503050406030204" pitchFamily="18" charset="0"/>
                        </a:rPr>
                        <m:t>AdamUpdate</m:t>
                      </m:r>
                    </m:oMath>
                  </m:oMathPara>
                </a14:m>
                <a:endParaRPr lang="it-IT" dirty="0"/>
              </a:p>
              <a:p>
                <a:endParaRPr lang="it-IT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it-IT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t-IT" b="0" i="1" smtClean="0">
                          <a:latin typeface="Cambria Math" panose="02040503050406030204" pitchFamily="18" charset="0"/>
                        </a:rPr>
                        <m:t>learning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t-IT" b="0" i="1" smtClean="0">
                          <a:latin typeface="Cambria Math" panose="02040503050406030204" pitchFamily="18" charset="0"/>
                        </a:rPr>
                        <m:t>rate</m:t>
                      </m:r>
                    </m:oMath>
                    <m:oMath>
                      <m:r>
                        <a:rPr lang="it-IT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t-IT" b="0" i="1" smtClean="0">
                          <a:latin typeface="Cambria Math" panose="02040503050406030204" pitchFamily="18" charset="0"/>
                        </a:rPr>
                        <m:t>decay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t-IT" b="0" i="1" smtClean="0">
                          <a:latin typeface="Cambria Math" panose="02040503050406030204" pitchFamily="18" charset="0"/>
                        </a:rPr>
                        <m:t>coefficient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84726401-A544-DC55-47BD-B15978304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100" y="4944534"/>
                <a:ext cx="6527800" cy="1107996"/>
              </a:xfrm>
              <a:prstGeom prst="rect">
                <a:avLst/>
              </a:prstGeom>
              <a:blipFill>
                <a:blip r:embed="rId2"/>
                <a:stretch>
                  <a:fillRect t="-549" b="-769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96462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_copertina.potx" id="{8C29E7C1-C87C-4FCC-9C43-2E1E8B45E1B1}" vid="{6BDFA3AF-07A8-429C-8068-1599AA0DCFB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8E22F0C18BE694F9A6F049DABEFCD7C" ma:contentTypeVersion="4" ma:contentTypeDescription="Creare un nuovo documento." ma:contentTypeScope="" ma:versionID="dce68e141b67c6d9b4c964b8378f1eb1">
  <xsd:schema xmlns:xsd="http://www.w3.org/2001/XMLSchema" xmlns:xs="http://www.w3.org/2001/XMLSchema" xmlns:p="http://schemas.microsoft.com/office/2006/metadata/properties" xmlns:ns3="37ecbbd9-98ea-4079-b9d0-073c8187d570" targetNamespace="http://schemas.microsoft.com/office/2006/metadata/properties" ma:root="true" ma:fieldsID="bf62c017784fc34694fbcbe1d5ab5593" ns3:_="">
    <xsd:import namespace="37ecbbd9-98ea-4079-b9d0-073c8187d57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ecbbd9-98ea-4079-b9d0-073c8187d5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7ecbbd9-98ea-4079-b9d0-073c8187d57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0E9518-3AF1-490F-93BD-D764607E52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ecbbd9-98ea-4079-b9d0-073c8187d5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31B592-B9D5-464F-9324-9C66B04A4E57}">
  <ds:schemaRefs>
    <ds:schemaRef ds:uri="http://purl.org/dc/elements/1.1/"/>
    <ds:schemaRef ds:uri="http://www.w3.org/XML/1998/namespace"/>
    <ds:schemaRef ds:uri="http://schemas.microsoft.com/office/2006/documentManagement/types"/>
    <ds:schemaRef ds:uri="37ecbbd9-98ea-4079-b9d0-073c8187d570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6BA88D82-AD70-4BDD-B8B0-9BB4958AC8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3933</TotalTime>
  <Words>2616</Words>
  <Application>Microsoft Office PowerPoint</Application>
  <PresentationFormat>Widescreen</PresentationFormat>
  <Paragraphs>839</Paragraphs>
  <Slides>31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Optima</vt:lpstr>
      <vt:lpstr>Wingdings</vt:lpstr>
      <vt:lpstr>Tema di Office</vt:lpstr>
      <vt:lpstr>Presentazione standard di PowerPoint</vt:lpstr>
      <vt:lpstr>Project Goal</vt:lpstr>
      <vt:lpstr>Dataset (1)</vt:lpstr>
      <vt:lpstr>Dataset (2)</vt:lpstr>
      <vt:lpstr>Experimental protocol</vt:lpstr>
      <vt:lpstr>Considered Models</vt:lpstr>
      <vt:lpstr>3 Input Representations</vt:lpstr>
      <vt:lpstr>SVM</vt:lpstr>
      <vt:lpstr>SVM – Confusion Matrices</vt:lpstr>
      <vt:lpstr>XGBoost</vt:lpstr>
      <vt:lpstr>XGBoost – Confusion Matrices</vt:lpstr>
      <vt:lpstr>MLP</vt:lpstr>
      <vt:lpstr>MLP – Confusion Matrices</vt:lpstr>
      <vt:lpstr>CNN Spatial Head - Architecture</vt:lpstr>
      <vt:lpstr>CNN Spatial Head</vt:lpstr>
      <vt:lpstr>CNN Spatial Head</vt:lpstr>
      <vt:lpstr>CNN Spatial Head</vt:lpstr>
      <vt:lpstr>CNN Spatial Head</vt:lpstr>
      <vt:lpstr>CNN Spatial Head</vt:lpstr>
      <vt:lpstr>CNN Spatial Head - Training       7</vt:lpstr>
      <vt:lpstr>CNN Spatial Head - Results       8</vt:lpstr>
      <vt:lpstr>CNN Spatial Head – Confusion Matrices    9</vt:lpstr>
      <vt:lpstr>ConvNeXt - Architecture</vt:lpstr>
      <vt:lpstr>ConvNeXt – Training</vt:lpstr>
      <vt:lpstr>ConvNeXt – Training Results</vt:lpstr>
      <vt:lpstr>ConvNeXt – Confusion Matrices</vt:lpstr>
      <vt:lpstr>Ensemble - Architecture</vt:lpstr>
      <vt:lpstr>Ensemble – Comparison Results</vt:lpstr>
      <vt:lpstr>Conclusions</vt:lpstr>
      <vt:lpstr>GELU activation function (Gaussian Error Linear Unit)</vt:lpstr>
      <vt:lpstr>AdamW optimizer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Majuri Anna</dc:creator>
  <cp:lastModifiedBy>LEONARDO BURRONI</cp:lastModifiedBy>
  <cp:revision>69</cp:revision>
  <dcterms:created xsi:type="dcterms:W3CDTF">2021-03-18T08:28:47Z</dcterms:created>
  <dcterms:modified xsi:type="dcterms:W3CDTF">2026-10-01T11:05:12Z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0x01010088E22F0C18BE694F9A6F049DABEFCD7C</vt:lpwstr>
  </property>
</Properties>
</file>